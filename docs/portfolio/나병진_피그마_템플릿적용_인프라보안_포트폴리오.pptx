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75" r:id="rId4"/>
    <p:sldId id="267" r:id="rId5"/>
    <p:sldId id="278" r:id="rId6"/>
    <p:sldId id="269" r:id="rId7"/>
    <p:sldId id="270" r:id="rId8"/>
    <p:sldId id="268" r:id="rId9"/>
    <p:sldId id="276" r:id="rId10"/>
    <p:sldId id="264" r:id="rId11"/>
    <p:sldId id="263" r:id="rId12"/>
    <p:sldId id="293" r:id="rId13"/>
  </p:sldIdLst>
  <p:sldSz cx="9144000" cy="5143500" type="screen16x9"/>
  <p:notesSz cx="51435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0000101010101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24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2648" y="18288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000000"/>
                </a:solidFill>
                <a:latin typeface="Inter"/>
                <a:ea typeface="Inter"/>
              </a:rPr>
              <a:t>Infrastructure Security</a:t>
            </a:r>
            <a:endParaRPr lang="en-US" sz="342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Inter"/>
                <a:ea typeface="Inter"/>
              </a:rPr>
              <a:t>&amp; Operations</a:t>
            </a:r>
          </a:p>
        </p:txBody>
      </p:sp>
      <p:sp>
        <p:nvSpPr>
          <p:cNvPr id="4" name="Text 2"/>
          <p:cNvSpPr/>
          <p:nvPr/>
        </p:nvSpPr>
        <p:spPr>
          <a:xfrm>
            <a:off x="612648" y="2834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0" b="0">
                <a:solidFill>
                  <a:srgbClr val="000000"/>
                </a:solidFill>
                <a:latin typeface="Noto Sans KR"/>
                <a:ea typeface="Noto Sans KR"/>
              </a:rPr>
              <a:t>금융권의 신뢰를 지키고, 장애를 데이터로 예방하는 인프라 보안 전문가</a:t>
            </a:r>
            <a:endParaRPr lang="en-US" sz="1283" dirty="0"/>
          </a:p>
        </p:txBody>
      </p:sp>
      <p:sp>
        <p:nvSpPr>
          <p:cNvPr id="5" name="TextBox 4"/>
          <p:cNvSpPr txBox="1"/>
          <p:nvPr/>
        </p:nvSpPr>
        <p:spPr>
          <a:xfrm>
            <a:off x="612648" y="603504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000000"/>
                </a:solidFill>
                <a:latin typeface="Inter"/>
                <a:ea typeface="Inter"/>
              </a:rPr>
              <a:t>BITHUMB INFRA SECURITY ·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3251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000000"/>
                </a:solidFill>
                <a:latin typeface="Noto Sans KR"/>
                <a:ea typeface="Noto Sans KR"/>
              </a:rPr>
              <a:t>나병진  ·  20년 8개월  ·  Infrastructure Security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432511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77777"/>
                </a:solidFill>
                <a:latin typeface="Noto Sans KR"/>
                <a:ea typeface="Noto Sans KR"/>
              </a:rPr>
              <a:t>nbj0101@naver.com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77777"/>
                </a:solidFill>
                <a:latin typeface="Noto Sans KR"/>
                <a:ea typeface="Noto Sans KR"/>
              </a:rPr>
              <a:t>010-9090-1596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24028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  <a:latin typeface="Inter"/>
                <a:ea typeface="Inter"/>
              </a:rPr>
              <a:t>Positioning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297680" y="1307592"/>
            <a:ext cx="4363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20년의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현장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경험을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
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반복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가능한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통제·모니터링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체계로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850" b="1" dirty="0" err="1">
                <a:solidFill>
                  <a:srgbClr val="000000"/>
                </a:solidFill>
                <a:latin typeface="Noto Sans KR"/>
                <a:ea typeface="Noto Sans KR"/>
              </a:rPr>
              <a:t>바꿉니다</a:t>
            </a:r>
            <a:r>
              <a:rPr sz="1850" b="1" dirty="0">
                <a:solidFill>
                  <a:srgbClr val="000000"/>
                </a:solidFill>
                <a:latin typeface="Noto Sans KR"/>
                <a:ea typeface="Noto Sans KR"/>
              </a:rPr>
              <a:t>.</a:t>
            </a:r>
            <a:endParaRPr lang="en-US" sz="1283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금융권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규제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대응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,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신규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법인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Zero-to-One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구축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,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서버·네트워크·보안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운영에</a:t>
            </a:r>
            <a:br>
              <a:rPr lang="en-US" sz="1019" b="0" dirty="0">
                <a:solidFill>
                  <a:srgbClr val="222222"/>
                </a:solidFill>
                <a:latin typeface="Noto Sans KR"/>
                <a:ea typeface="Noto Sans KR"/>
              </a:rPr>
            </a:b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최근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AI Agent QA &amp; Monitoring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경험을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1019" b="0" dirty="0" err="1">
                <a:solidFill>
                  <a:srgbClr val="222222"/>
                </a:solidFill>
                <a:latin typeface="Noto Sans KR"/>
                <a:ea typeface="Noto Sans KR"/>
              </a:rPr>
              <a:t>더했습니다</a:t>
            </a:r>
            <a:r>
              <a:rPr sz="1019" b="0" dirty="0">
                <a:solidFill>
                  <a:srgbClr val="222222"/>
                </a:solidFill>
                <a:latin typeface="Noto Sans KR"/>
                <a:ea typeface="Noto Sans KR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원칙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·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절차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·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증적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·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복구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가능성을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기준으로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신뢰를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 </a:t>
            </a:r>
            <a:r>
              <a:rPr sz="919" b="1" dirty="0" err="1">
                <a:solidFill>
                  <a:srgbClr val="777777"/>
                </a:solidFill>
                <a:latin typeface="Noto Sans KR"/>
                <a:ea typeface="Noto Sans KR"/>
              </a:rPr>
              <a:t>설계합니다</a:t>
            </a:r>
            <a:r>
              <a:rPr sz="919" b="1" dirty="0">
                <a:solidFill>
                  <a:srgbClr val="777777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240280"/>
            <a:ext cx="29260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000000"/>
                </a:solidFill>
                <a:latin typeface="Inter"/>
                <a:ea typeface="Inter"/>
              </a:rPr>
              <a:t>Career Snapshot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543550" y="1547813"/>
            <a:ext cx="2990850" cy="4191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50992" y="1545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1">
                <a:solidFill>
                  <a:srgbClr val="000000"/>
                </a:solidFill>
                <a:latin typeface="Inter"/>
                <a:ea typeface="Inter"/>
              </a:rPr>
              <a:t>IT Infra &amp; Security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5650992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0">
                <a:solidFill>
                  <a:srgbClr val="222222"/>
                </a:solidFill>
                <a:latin typeface="Noto Sans KR"/>
                <a:ea typeface="Noto Sans KR"/>
              </a:rPr>
              <a:t>대기업·유통·금융 환경에서의 전체 경력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5543550" y="2357438"/>
            <a:ext cx="2990850" cy="4191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650992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1">
                <a:solidFill>
                  <a:srgbClr val="000000"/>
                </a:solidFill>
                <a:latin typeface="Inter"/>
                <a:ea typeface="Inter"/>
              </a:rPr>
              <a:t>Financial Infrastructure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5650992" y="2624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0">
                <a:solidFill>
                  <a:srgbClr val="222222"/>
                </a:solidFill>
                <a:latin typeface="Noto Sans KR"/>
                <a:ea typeface="Noto Sans KR"/>
              </a:rPr>
              <a:t>금융기관 서버·네트워크 장비 운영 규모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5543550" y="3167063"/>
            <a:ext cx="2990850" cy="4191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650992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1">
                <a:solidFill>
                  <a:srgbClr val="000000"/>
                </a:solidFill>
                <a:latin typeface="Inter"/>
                <a:ea typeface="Inter"/>
              </a:rPr>
              <a:t>Multi-OS &amp; Contracts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5650992" y="3438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0">
                <a:solidFill>
                  <a:srgbClr val="222222"/>
                </a:solidFill>
                <a:latin typeface="Noto Sans KR"/>
                <a:ea typeface="Noto Sans KR"/>
              </a:rPr>
              <a:t>Windows·UNIX·Linux / IT 운영 계약 관리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4315968" y="15453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000000"/>
                </a:solidFill>
                <a:latin typeface="Noto Sans KR"/>
                <a:ea typeface="Noto Sans KR"/>
              </a:rPr>
              <a:t>20년 8개월</a:t>
            </a:r>
            <a:endParaRPr lang="en-US" sz="2138" dirty="0"/>
          </a:p>
        </p:txBody>
      </p:sp>
      <p:sp>
        <p:nvSpPr>
          <p:cNvPr id="13" name="Text 11"/>
          <p:cNvSpPr/>
          <p:nvPr/>
        </p:nvSpPr>
        <p:spPr>
          <a:xfrm>
            <a:off x="4315968" y="23591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0" b="1">
                <a:solidFill>
                  <a:srgbClr val="000000"/>
                </a:solidFill>
                <a:latin typeface="Noto Sans KR"/>
                <a:ea typeface="Noto Sans KR"/>
              </a:rPr>
              <a:t>100+ / 140+</a:t>
            </a:r>
            <a:endParaRPr lang="en-US" sz="2138" dirty="0"/>
          </a:p>
        </p:txBody>
      </p:sp>
      <p:sp>
        <p:nvSpPr>
          <p:cNvPr id="14" name="Text 12"/>
          <p:cNvSpPr/>
          <p:nvPr/>
        </p:nvSpPr>
        <p:spPr>
          <a:xfrm>
            <a:off x="4315968" y="31729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0" b="1">
                <a:solidFill>
                  <a:srgbClr val="000000"/>
                </a:solidFill>
                <a:latin typeface="Noto Sans KR"/>
                <a:ea typeface="Noto Sans KR"/>
              </a:rPr>
              <a:t>54대 / 30+</a:t>
            </a:r>
            <a:endParaRPr lang="en-US" sz="2138" dirty="0"/>
          </a:p>
        </p:txBody>
      </p:sp>
      <p:sp>
        <p:nvSpPr>
          <p:cNvPr id="15" name="TextBox 14"/>
          <p:cNvSpPr txBox="1"/>
          <p:nvPr/>
        </p:nvSpPr>
        <p:spPr>
          <a:xfrm>
            <a:off x="612648" y="279806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22222"/>
                </a:solidFill>
                <a:latin typeface="Noto Sans KR"/>
                <a:ea typeface="Noto Sans KR"/>
              </a:rPr>
              <a:t>대기업 · 글로벌 유통 · 금융기관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22222"/>
                </a:solidFill>
                <a:latin typeface="Noto Sans KR"/>
                <a:ea typeface="Noto Sans KR"/>
              </a:rPr>
              <a:t>구축 → 운영 → 보안 →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133087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777777"/>
                </a:solidFill>
                <a:latin typeface="Noto Sans KR"/>
                <a:ea typeface="Noto Sans KR"/>
              </a:rPr>
              <a:t>정보처리기사 · 컴퓨터활용능력 1급 · 전자계산학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0" b="1">
                <a:solidFill>
                  <a:srgbClr val="000000"/>
                </a:solidFill>
                <a:latin typeface="Noto Sans KR"/>
                <a:ea typeface="Noto Sans KR"/>
              </a:rPr>
              <a:t>운영 원칙  |  Operating Principles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1304925"/>
            <a:ext cx="2438400" cy="3228975"/>
          </a:xfrm>
          <a:prstGeom prst="roundRect">
            <a:avLst>
              <a:gd name="adj" fmla="val 6000"/>
            </a:avLst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382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000000"/>
                </a:solidFill>
                <a:latin typeface="Inter"/>
                <a:ea typeface="Inter"/>
              </a:rPr>
              <a:t>01 · PREVENT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8382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1">
                <a:solidFill>
                  <a:srgbClr val="000000"/>
                </a:solidFill>
                <a:latin typeface="Noto Sans KR"/>
                <a:ea typeface="Noto Sans KR"/>
              </a:rPr>
              <a:t>규정·정책·복구계획을</a:t>
            </a:r>
            <a:endParaRPr lang="en-US" sz="171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000000"/>
                </a:solidFill>
                <a:latin typeface="Noto Sans KR"/>
                <a:ea typeface="Noto Sans KR"/>
              </a:rPr>
              <a:t>먼저 설계합니다.</a:t>
            </a:r>
          </a:p>
        </p:txBody>
      </p:sp>
      <p:sp>
        <p:nvSpPr>
          <p:cNvPr id="6" name="Shape 4"/>
          <p:cNvSpPr/>
          <p:nvPr/>
        </p:nvSpPr>
        <p:spPr>
          <a:xfrm>
            <a:off x="3352800" y="1304925"/>
            <a:ext cx="2438400" cy="3228975"/>
          </a:xfrm>
          <a:prstGeom prst="roundRect">
            <a:avLst>
              <a:gd name="adj" fmla="val 6000"/>
            </a:avLst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5814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000000"/>
                </a:solidFill>
                <a:latin typeface="Inter"/>
                <a:ea typeface="Inter"/>
              </a:rPr>
              <a:t>02 · DETECT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5814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1">
                <a:solidFill>
                  <a:srgbClr val="000000"/>
                </a:solidFill>
                <a:latin typeface="Noto Sans KR"/>
                <a:ea typeface="Noto Sans KR"/>
              </a:rPr>
              <a:t>로그·트래픽·메트릭으로</a:t>
            </a:r>
            <a:endParaRPr lang="en-US" sz="171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000000"/>
                </a:solidFill>
                <a:latin typeface="Noto Sans KR"/>
                <a:ea typeface="Noto Sans KR"/>
              </a:rPr>
              <a:t>이상 징후를 판단합니다.</a:t>
            </a:r>
          </a:p>
        </p:txBody>
      </p:sp>
      <p:sp>
        <p:nvSpPr>
          <p:cNvPr id="9" name="Shape 7"/>
          <p:cNvSpPr/>
          <p:nvPr/>
        </p:nvSpPr>
        <p:spPr>
          <a:xfrm>
            <a:off x="6096000" y="1304925"/>
            <a:ext cx="2438400" cy="3228975"/>
          </a:xfrm>
          <a:prstGeom prst="roundRect">
            <a:avLst>
              <a:gd name="adj" fmla="val 6000"/>
            </a:avLst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3246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000000"/>
                </a:solidFill>
                <a:latin typeface="Inter"/>
                <a:ea typeface="Inter"/>
              </a:rPr>
              <a:t>03 · IMPROVE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3246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1" dirty="0" err="1">
                <a:solidFill>
                  <a:srgbClr val="000000"/>
                </a:solidFill>
                <a:latin typeface="Noto Sans KR"/>
                <a:ea typeface="Noto Sans KR"/>
              </a:rPr>
              <a:t>RCA·재시험·자동화로</a:t>
            </a:r>
            <a:endParaRPr lang="en-US" sz="1710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dirty="0" err="1">
                <a:solidFill>
                  <a:srgbClr val="000000"/>
                </a:solidFill>
                <a:latin typeface="Noto Sans KR"/>
                <a:ea typeface="Noto Sans KR"/>
              </a:rPr>
              <a:t>재발</a:t>
            </a:r>
            <a:r>
              <a:rPr sz="147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470" b="1" dirty="0" err="1">
                <a:solidFill>
                  <a:srgbClr val="000000"/>
                </a:solidFill>
                <a:latin typeface="Noto Sans KR"/>
                <a:ea typeface="Noto Sans KR"/>
              </a:rPr>
              <a:t>가능성을</a:t>
            </a:r>
            <a:r>
              <a:rPr sz="147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470" b="1" dirty="0" err="1">
                <a:solidFill>
                  <a:srgbClr val="000000"/>
                </a:solidFill>
                <a:latin typeface="Noto Sans KR"/>
                <a:ea typeface="Noto Sans KR"/>
              </a:rPr>
              <a:t>낮춥니다</a:t>
            </a:r>
            <a:r>
              <a:rPr sz="1470" b="1" dirty="0">
                <a:solidFill>
                  <a:srgbClr val="000000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0" y="1452563"/>
            <a:ext cx="1600200" cy="11811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190750" y="1709739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>
                <a:solidFill>
                  <a:srgbClr val="000000"/>
                </a:solidFill>
                <a:latin typeface="Inter"/>
                <a:ea typeface="Inter"/>
              </a:rPr>
              <a:t>2016–2021</a:t>
            </a:r>
            <a:endParaRPr lang="en-US" sz="1033" dirty="0"/>
          </a:p>
        </p:txBody>
      </p:sp>
      <p:sp>
        <p:nvSpPr>
          <p:cNvPr id="4" name="Text 2"/>
          <p:cNvSpPr/>
          <p:nvPr/>
        </p:nvSpPr>
        <p:spPr>
          <a:xfrm>
            <a:off x="2190750" y="1957389"/>
            <a:ext cx="1600200" cy="380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스케쳐스코리아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독립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법인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IT Zero-to-One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구축</a:t>
            </a:r>
            <a:endParaRPr sz="750" b="0" dirty="0">
              <a:solidFill>
                <a:srgbClr val="222222"/>
              </a:solidFill>
              <a:latin typeface="Noto Sans KR"/>
              <a:ea typeface="Noto Sans KR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90750" y="2366963"/>
            <a:ext cx="9525" cy="2762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53050" y="1604963"/>
            <a:ext cx="1600200" cy="10287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353050" y="1724027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>
                <a:solidFill>
                  <a:srgbClr val="000000"/>
                </a:solidFill>
                <a:latin typeface="Inter"/>
                <a:ea typeface="Inter"/>
              </a:rPr>
              <a:t>2026.07</a:t>
            </a:r>
            <a:endParaRPr lang="en-US" sz="1033" dirty="0"/>
          </a:p>
        </p:txBody>
      </p:sp>
      <p:sp>
        <p:nvSpPr>
          <p:cNvPr id="8" name="Text 5"/>
          <p:cNvSpPr/>
          <p:nvPr/>
        </p:nvSpPr>
        <p:spPr>
          <a:xfrm>
            <a:off x="5353050" y="1971676"/>
            <a:ext cx="1600200" cy="380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AI Agent QA &amp; Monitoring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k6 · Prometheus · Grafana</a:t>
            </a:r>
            <a:r>
              <a:rPr lang="ko-KR" altLang="en-US" sz="75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lang="en-US" altLang="ko-KR" sz="750" b="0" dirty="0">
                <a:solidFill>
                  <a:srgbClr val="222222"/>
                </a:solidFill>
                <a:latin typeface="Noto Sans KR"/>
                <a:ea typeface="Noto Sans KR"/>
              </a:rPr>
              <a:t>· </a:t>
            </a:r>
            <a:r>
              <a:rPr lang="en-US" altLang="ko-KR"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aws</a:t>
            </a:r>
            <a:endParaRPr sz="750" b="0" dirty="0">
              <a:solidFill>
                <a:srgbClr val="222222"/>
              </a:solidFill>
              <a:latin typeface="Noto Sans KR"/>
              <a:ea typeface="Noto Sans KR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3050" y="2366963"/>
            <a:ext cx="9525" cy="2762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71900" y="2633663"/>
            <a:ext cx="1600200" cy="13335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1900" y="2633663"/>
            <a:ext cx="9525" cy="2762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>
                <a:solidFill>
                  <a:srgbClr val="000000"/>
                </a:solidFill>
                <a:latin typeface="Inter"/>
                <a:ea typeface="Inter"/>
              </a:rPr>
              <a:t>2023–2024</a:t>
            </a:r>
            <a:endParaRPr lang="en-US" sz="1033" dirty="0"/>
          </a:p>
        </p:txBody>
      </p:sp>
      <p:sp>
        <p:nvSpPr>
          <p:cNvPr id="13" name="Text 8"/>
          <p:cNvSpPr/>
          <p:nvPr/>
        </p:nvSpPr>
        <p:spPr>
          <a:xfrm>
            <a:off x="3771900" y="3205163"/>
            <a:ext cx="160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JT친애저축은행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금융권 인프라 · 감사·규제 대응</a:t>
            </a:r>
          </a:p>
        </p:txBody>
      </p:sp>
      <p:sp>
        <p:nvSpPr>
          <p:cNvPr id="14" name="Shape 9"/>
          <p:cNvSpPr/>
          <p:nvPr/>
        </p:nvSpPr>
        <p:spPr>
          <a:xfrm>
            <a:off x="6934200" y="2633663"/>
            <a:ext cx="1600200" cy="8763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34200" y="2633663"/>
            <a:ext cx="9525" cy="2762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342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>
                <a:solidFill>
                  <a:srgbClr val="000000"/>
                </a:solidFill>
                <a:latin typeface="Inter"/>
                <a:ea typeface="Inter"/>
              </a:rPr>
              <a:t>NEXT</a:t>
            </a:r>
            <a:endParaRPr lang="en-US" sz="1033" dirty="0"/>
          </a:p>
        </p:txBody>
      </p:sp>
      <p:sp>
        <p:nvSpPr>
          <p:cNvPr id="17" name="Text 11"/>
          <p:cNvSpPr/>
          <p:nvPr/>
        </p:nvSpPr>
        <p:spPr>
          <a:xfrm>
            <a:off x="6934200" y="320516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BITHUMB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Financial Infra Security</a:t>
            </a:r>
          </a:p>
        </p:txBody>
      </p:sp>
      <p:sp>
        <p:nvSpPr>
          <p:cNvPr id="18" name="Shape 12"/>
          <p:cNvSpPr/>
          <p:nvPr/>
        </p:nvSpPr>
        <p:spPr>
          <a:xfrm>
            <a:off x="609600" y="2633663"/>
            <a:ext cx="1600200" cy="10287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633663"/>
            <a:ext cx="9525" cy="2762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6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>
                <a:solidFill>
                  <a:srgbClr val="000000"/>
                </a:solidFill>
                <a:latin typeface="Inter"/>
                <a:ea typeface="Inter"/>
              </a:rPr>
              <a:t>2002–2016</a:t>
            </a:r>
            <a:endParaRPr lang="en-US" sz="1033" dirty="0"/>
          </a:p>
        </p:txBody>
      </p:sp>
      <p:sp>
        <p:nvSpPr>
          <p:cNvPr id="21" name="Text 14"/>
          <p:cNvSpPr/>
          <p:nvPr/>
        </p:nvSpPr>
        <p:spPr>
          <a:xfrm>
            <a:off x="609600" y="320516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LS네트웍스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Enterprise Infra · Security · SAP</a:t>
            </a:r>
          </a:p>
        </p:txBody>
      </p:sp>
      <p:sp>
        <p:nvSpPr>
          <p:cNvPr id="22" name="Text 15"/>
          <p:cNvSpPr/>
          <p:nvPr/>
        </p:nvSpPr>
        <p:spPr>
          <a:xfrm>
            <a:off x="609600" y="6096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1">
                <a:solidFill>
                  <a:srgbClr val="000000"/>
                </a:solidFill>
                <a:latin typeface="Inter"/>
                <a:ea typeface="Inter"/>
              </a:rPr>
              <a:t>Career Timeline</a:t>
            </a:r>
            <a:endParaRPr lang="en-US" sz="1283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363" y="2633662"/>
            <a:ext cx="7939087" cy="190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3375"/>
            <a:ext cx="3922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규정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준수와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빠른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복구가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함께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작동하도록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br>
              <a:rPr lang="en-US" sz="910" b="0" dirty="0">
                <a:solidFill>
                  <a:srgbClr val="222222"/>
                </a:solidFill>
                <a:latin typeface="Noto Sans KR"/>
                <a:ea typeface="Noto Sans KR"/>
              </a:rPr>
            </a:b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운영체계·정책·증</a:t>
            </a:r>
            <a:r>
              <a:rPr lang="ko-KR" altLang="en-US" sz="910" dirty="0">
                <a:solidFill>
                  <a:srgbClr val="222222"/>
                </a:solidFill>
                <a:latin typeface="Noto Sans KR"/>
                <a:ea typeface="Noto Sans KR"/>
              </a:rPr>
              <a:t>적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을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정비했습니다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 b="1">
                <a:solidFill>
                  <a:srgbClr val="000000"/>
                </a:solidFill>
                <a:latin typeface="Inter"/>
                <a:ea typeface="Inter"/>
              </a:rPr>
              <a:t>CASE 01 · FINANCIAL INFRA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499"/>
            <a:ext cx="3381375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err="1">
                <a:solidFill>
                  <a:srgbClr val="000000"/>
                </a:solidFill>
                <a:latin typeface="Noto Sans KR"/>
                <a:ea typeface="Noto Sans KR"/>
              </a:rPr>
              <a:t>JT친애저축은행</a:t>
            </a:r>
            <a:r>
              <a:rPr sz="1800" b="1" dirty="0">
                <a:solidFill>
                  <a:srgbClr val="000000"/>
                </a:solidFill>
                <a:latin typeface="Noto Sans KR"/>
                <a:ea typeface="Noto Sans KR"/>
              </a:rPr>
              <a:t> |</a:t>
            </a:r>
            <a:endParaRPr lang="en-US" sz="2138" dirty="0"/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000000"/>
                </a:solidFill>
                <a:latin typeface="Noto Sans KR"/>
                <a:ea typeface="Noto Sans KR"/>
              </a:rPr>
              <a:t>규제</a:t>
            </a:r>
            <a:r>
              <a:rPr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b="1" dirty="0" err="1">
                <a:solidFill>
                  <a:srgbClr val="000000"/>
                </a:solidFill>
                <a:latin typeface="Noto Sans KR"/>
                <a:ea typeface="Noto Sans KR"/>
              </a:rPr>
              <a:t>대응과</a:t>
            </a:r>
            <a:r>
              <a:rPr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b="1" dirty="0" err="1">
                <a:solidFill>
                  <a:srgbClr val="000000"/>
                </a:solidFill>
                <a:latin typeface="Noto Sans KR"/>
                <a:ea typeface="Noto Sans KR"/>
              </a:rPr>
              <a:t>안정성</a:t>
            </a:r>
            <a:r>
              <a:rPr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b="1" dirty="0" err="1">
                <a:solidFill>
                  <a:srgbClr val="000000"/>
                </a:solidFill>
                <a:latin typeface="Noto Sans KR"/>
                <a:ea typeface="Noto Sans KR"/>
              </a:rPr>
              <a:t>운영</a:t>
            </a:r>
            <a:endParaRPr b="1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162763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000000"/>
                </a:solidFill>
                <a:latin typeface="Noto Sans KR"/>
                <a:ea typeface="Noto Sans KR"/>
              </a:rPr>
              <a:t>운영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627632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Noto Sans KR"/>
                <a:ea typeface="Noto Sans KR"/>
              </a:rPr>
              <a:t>서버 100+ · 네트워크 140+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03120"/>
            <a:ext cx="3364991" cy="0"/>
          </a:xfrm>
          <a:prstGeom prst="line">
            <a:avLst/>
          </a:prstGeom>
          <a:ln w="762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286000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000000"/>
                </a:solidFill>
                <a:latin typeface="Noto Sans KR"/>
                <a:ea typeface="Noto Sans KR"/>
              </a:rPr>
              <a:t>감사·규제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286000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Noto Sans KR"/>
                <a:ea typeface="Noto Sans KR"/>
              </a:rPr>
              <a:t>금융감독원 · 금융보안원 기준 대응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2761488"/>
            <a:ext cx="3364991" cy="0"/>
          </a:xfrm>
          <a:prstGeom prst="line">
            <a:avLst/>
          </a:prstGeom>
          <a:ln w="762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944368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000000"/>
                </a:solidFill>
                <a:latin typeface="Noto Sans KR"/>
                <a:ea typeface="Noto Sans KR"/>
              </a:rPr>
              <a:t>운영 개선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944368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Noto Sans KR"/>
                <a:ea typeface="Noto Sans KR"/>
              </a:rPr>
              <a:t>백업 · 이중화 · 가상화 · 모니터링 · 콜 인프라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612648"/>
            <a:ext cx="3922776" cy="3922776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5490972" y="1289304"/>
            <a:ext cx="1074420" cy="1271016"/>
          </a:xfrm>
          <a:prstGeom prst="line">
            <a:avLst/>
          </a:prstGeom>
          <a:ln w="13970">
            <a:solidFill>
              <a:srgbClr val="B9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65392" y="1289304"/>
            <a:ext cx="1037844" cy="1271016"/>
          </a:xfrm>
          <a:prstGeom prst="line">
            <a:avLst/>
          </a:prstGeom>
          <a:ln w="13970">
            <a:solidFill>
              <a:srgbClr val="B9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490972" y="2560320"/>
            <a:ext cx="1074420" cy="1188719"/>
          </a:xfrm>
          <a:prstGeom prst="line">
            <a:avLst/>
          </a:prstGeom>
          <a:ln w="13970">
            <a:solidFill>
              <a:srgbClr val="B9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65392" y="2560320"/>
            <a:ext cx="1037844" cy="1188719"/>
          </a:xfrm>
          <a:prstGeom prst="line">
            <a:avLst/>
          </a:prstGeom>
          <a:ln w="13970">
            <a:solidFill>
              <a:srgbClr val="B9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879592" y="1847088"/>
            <a:ext cx="1371600" cy="1371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0000"/>
                </a:solidFill>
                <a:latin typeface="Inter"/>
                <a:ea typeface="Inter"/>
              </a:rPr>
              <a:t>FINANCE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0000"/>
                </a:solidFill>
                <a:latin typeface="Inter"/>
                <a:ea typeface="Inter"/>
              </a:rPr>
              <a:t>INFRA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9472" y="932688"/>
            <a:ext cx="11430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100+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Servers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1736" y="932688"/>
            <a:ext cx="11430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140+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3392424"/>
            <a:ext cx="11430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Audit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1736" y="3392424"/>
            <a:ext cx="11430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Backup · HA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0992" y="4160520"/>
            <a:ext cx="1956816" cy="25603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2222"/>
                </a:solidFill>
                <a:latin typeface="Noto Sans KR"/>
                <a:ea typeface="Noto Sans KR"/>
              </a:rPr>
              <a:t>Policy · DBMS ·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3375"/>
            <a:ext cx="38290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사업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개시를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위한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기반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구축부터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보안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운영·안정화까지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전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과정을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10" b="0" dirty="0" err="1">
                <a:solidFill>
                  <a:srgbClr val="222222"/>
                </a:solidFill>
                <a:latin typeface="Noto Sans KR"/>
                <a:ea typeface="Noto Sans KR"/>
              </a:rPr>
              <a:t>총괄했습니다</a:t>
            </a:r>
            <a:r>
              <a:rPr sz="910" b="0" dirty="0">
                <a:solidFill>
                  <a:srgbClr val="222222"/>
                </a:solidFill>
                <a:latin typeface="Noto Sans KR"/>
                <a:ea typeface="Noto Sans KR"/>
              </a:rPr>
              <a:t>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 b="1">
                <a:solidFill>
                  <a:srgbClr val="000000"/>
                </a:solidFill>
                <a:latin typeface="Inter"/>
                <a:ea typeface="Inter"/>
              </a:rPr>
              <a:t>CASE 02 · ZERO TO ONE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스케쳐스코리아 |</a:t>
            </a:r>
            <a:endParaRPr lang="en-US" sz="2138" dirty="0"/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독립 법인 IT 환경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77777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08760"/>
            <a:ext cx="2072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Server · Network · Security · IDC/Backup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1226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77777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12264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BUSINESS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12264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ERP · Groupware · Mail · E-commerce · CRM · WMS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715768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77777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1576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SECURITY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71576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취약점 점검 · 보안관제 · 침해사고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31927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77777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19272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Inter"/>
                <a:ea typeface="Inter"/>
              </a:rPr>
              <a:t>STABILIZE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319272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기술·비용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검토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·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계약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·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운영</a:t>
            </a:r>
            <a:r>
              <a:rPr sz="75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750" b="0" dirty="0" err="1">
                <a:solidFill>
                  <a:srgbClr val="222222"/>
                </a:solidFill>
                <a:latin typeface="Noto Sans KR"/>
                <a:ea typeface="Noto Sans KR"/>
              </a:rPr>
              <a:t>표준화</a:t>
            </a:r>
            <a:endParaRPr sz="750" b="0" dirty="0">
              <a:solidFill>
                <a:srgbClr val="222222"/>
              </a:solidFill>
              <a:latin typeface="Noto Sans KR"/>
              <a:ea typeface="Noto Sans K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08576" y="0"/>
            <a:ext cx="4535424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56692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Inter"/>
                <a:ea typeface="Inter"/>
              </a:rPr>
              <a:t>ZERO  →  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07592"/>
            <a:ext cx="3611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1417319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01 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1399032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Inter"/>
                <a:ea typeface="Inter"/>
              </a:rPr>
              <a:t>Server · Network · Security · IDC ·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901952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7777"/>
                </a:solidFill>
                <a:latin typeface="Inter"/>
                <a:ea typeface="Inte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2075688"/>
            <a:ext cx="3611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2185416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02  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167128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Inter"/>
                <a:ea typeface="Inter"/>
              </a:rPr>
              <a:t>ERP · Groupware · Mail · E-commerce · CRM · WMS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2670048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7777"/>
                </a:solidFill>
                <a:latin typeface="Inter"/>
                <a:ea typeface="Inter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2843784"/>
            <a:ext cx="3611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0" y="2953512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03 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935224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Inter"/>
                <a:ea typeface="Inter"/>
              </a:rPr>
              <a:t>Vulnerability · Monitoring · Incident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438144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77777"/>
                </a:solidFill>
                <a:latin typeface="Inter"/>
                <a:ea typeface="Inter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611880"/>
            <a:ext cx="3611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0" y="3721608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04 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703320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Inter"/>
                <a:ea typeface="Inter"/>
              </a:rPr>
              <a:t>Contract · Cost · Standardization · Stabilization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81225"/>
            <a:ext cx="3238500" cy="78105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2648" y="13990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 dirty="0" err="1">
                <a:solidFill>
                  <a:srgbClr val="000000"/>
                </a:solidFill>
                <a:latin typeface="Noto Sans KR"/>
                <a:ea typeface="Noto Sans KR"/>
              </a:rPr>
              <a:t>LS네트웍스</a:t>
            </a:r>
            <a:r>
              <a:rPr sz="1620" b="1" dirty="0">
                <a:solidFill>
                  <a:srgbClr val="000000"/>
                </a:solidFill>
                <a:latin typeface="Noto Sans KR"/>
                <a:ea typeface="Noto Sans KR"/>
              </a:rPr>
              <a:t> | </a:t>
            </a:r>
            <a:endParaRPr lang="en-US" sz="1620" b="1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 dirty="0" err="1">
                <a:solidFill>
                  <a:srgbClr val="000000"/>
                </a:solidFill>
                <a:latin typeface="Noto Sans KR"/>
                <a:ea typeface="Noto Sans KR"/>
              </a:rPr>
              <a:t>엔터프라이즈</a:t>
            </a:r>
            <a:r>
              <a:rPr sz="162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620" b="1" dirty="0" err="1">
                <a:solidFill>
                  <a:srgbClr val="000000"/>
                </a:solidFill>
                <a:latin typeface="Noto Sans KR"/>
                <a:ea typeface="Noto Sans KR"/>
              </a:rPr>
              <a:t>인프라</a:t>
            </a:r>
            <a:r>
              <a:rPr sz="1620" b="1" dirty="0">
                <a:solidFill>
                  <a:srgbClr val="000000"/>
                </a:solidFill>
                <a:latin typeface="Noto Sans KR"/>
                <a:ea typeface="Noto Sans KR"/>
              </a:rPr>
              <a:t> 전 </a:t>
            </a:r>
            <a:r>
              <a:rPr sz="1620" b="1" dirty="0" err="1">
                <a:solidFill>
                  <a:srgbClr val="000000"/>
                </a:solidFill>
                <a:latin typeface="Noto Sans KR"/>
                <a:ea typeface="Noto Sans KR"/>
              </a:rPr>
              <a:t>영역</a:t>
            </a:r>
            <a:r>
              <a:rPr sz="162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620" b="1" dirty="0" err="1">
                <a:solidFill>
                  <a:srgbClr val="000000"/>
                </a:solidFill>
                <a:latin typeface="Noto Sans KR"/>
                <a:ea typeface="Noto Sans KR"/>
              </a:rPr>
              <a:t>운영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752347" y="4274820"/>
            <a:ext cx="378307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0" dirty="0">
                <a:solidFill>
                  <a:srgbClr val="222222"/>
                </a:solidFill>
                <a:latin typeface="Noto Sans KR"/>
                <a:ea typeface="Noto Sans KR"/>
              </a:rPr>
              <a:t>14년 10개월 </a:t>
            </a:r>
            <a:r>
              <a:rPr sz="930" b="0" dirty="0" err="1">
                <a:solidFill>
                  <a:srgbClr val="222222"/>
                </a:solidFill>
                <a:latin typeface="Noto Sans KR"/>
                <a:ea typeface="Noto Sans KR"/>
              </a:rPr>
              <a:t>동안</a:t>
            </a:r>
            <a:r>
              <a:rPr sz="93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oto Sans KR"/>
                <a:ea typeface="Noto Sans KR"/>
              </a:rPr>
              <a:t>서버·네트워크·보안·SAP·IT기획을</a:t>
            </a:r>
            <a:r>
              <a:rPr sz="93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oto Sans KR"/>
                <a:ea typeface="Noto Sans KR"/>
              </a:rPr>
              <a:t>연결해</a:t>
            </a:r>
            <a:r>
              <a:rPr sz="930" b="0" dirty="0">
                <a:solidFill>
                  <a:srgbClr val="222222"/>
                </a:solidFill>
                <a:latin typeface="Noto Sans KR"/>
                <a:ea typeface="Noto Sans KR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oto Sans KR"/>
                <a:ea typeface="Noto Sans KR"/>
              </a:rPr>
              <a:t>운영했습니다</a:t>
            </a:r>
            <a:r>
              <a:rPr sz="930" b="0" dirty="0">
                <a:solidFill>
                  <a:srgbClr val="222222"/>
                </a:solidFill>
                <a:latin typeface="Noto Sans KR"/>
                <a:ea typeface="Noto Sans KR"/>
              </a:rPr>
              <a:t>.</a:t>
            </a:r>
            <a:endParaRPr lang="en-US" sz="1069" dirty="0"/>
          </a:p>
        </p:txBody>
      </p:sp>
      <p:sp>
        <p:nvSpPr>
          <p:cNvPr id="5" name="TextBox 4"/>
          <p:cNvSpPr txBox="1"/>
          <p:nvPr/>
        </p:nvSpPr>
        <p:spPr>
          <a:xfrm>
            <a:off x="612648" y="6126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00000"/>
                </a:solidFill>
                <a:latin typeface="Inter"/>
                <a:ea typeface="Inter"/>
              </a:rPr>
              <a:t>CASE 03 · ENTERPRISE INFRA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14016"/>
            <a:ext cx="1152144" cy="25603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2222"/>
                </a:solidFill>
                <a:latin typeface="Noto Sans KR"/>
                <a:ea typeface="Noto Sans KR"/>
              </a:rPr>
              <a:t>54대 Multi-OS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231" y="2414016"/>
            <a:ext cx="1078992" cy="25603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2222"/>
                </a:solidFill>
                <a:latin typeface="Noto Sans KR"/>
                <a:ea typeface="Noto Sans KR"/>
              </a:rPr>
              <a:t>FW · WAF · VPN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2414016"/>
            <a:ext cx="960120" cy="25603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2222"/>
                </a:solidFill>
                <a:latin typeface="Noto Sans KR"/>
                <a:ea typeface="Noto Sans KR"/>
              </a:rPr>
              <a:t>30+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612648"/>
            <a:ext cx="3922776" cy="392277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10912" y="1005840"/>
            <a:ext cx="313639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0368" y="111556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Inter"/>
                <a:ea typeface="Inter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106424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Noto Sans KR"/>
                <a:ea typeface="Noto Sans KR"/>
              </a:rPr>
              <a:t>Windows 25 · UNIX 20 · Linux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810512"/>
            <a:ext cx="3136392" cy="603504"/>
          </a:xfrm>
          <a:prstGeom prst="roundRect">
            <a:avLst/>
          </a:prstGeom>
          <a:solidFill>
            <a:srgbClr val="E7E7E7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192024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Inter"/>
                <a:ea typeface="Inter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911095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Noto Sans KR"/>
                <a:ea typeface="Noto Sans KR"/>
              </a:rPr>
              <a:t>Backbone · L3 · L4 · LAN · 전용회선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2615184"/>
            <a:ext cx="313639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272491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Inter"/>
                <a:ea typeface="Inter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715768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Noto Sans KR"/>
                <a:ea typeface="Noto Sans KR"/>
              </a:rPr>
              <a:t>Firewall · WAF · SSL VPN ·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3419856"/>
            <a:ext cx="3136392" cy="603504"/>
          </a:xfrm>
          <a:prstGeom prst="roundRect">
            <a:avLst/>
          </a:prstGeom>
          <a:solidFill>
            <a:srgbClr val="E7E7E7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0368" y="352958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Inter"/>
                <a:ea typeface="Inter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3520440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Noto Sans KR"/>
                <a:ea typeface="Noto Sans KR"/>
              </a:rPr>
              <a:t>SAP Basis · Budget · Contract · Vendor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4215384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77777"/>
                </a:solidFill>
                <a:latin typeface="Noto Sans KR"/>
                <a:ea typeface="Noto Sans KR"/>
              </a:rPr>
              <a:t>장기 운영 경험을 표준화·개선·사업기획으로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0" b="1">
                <a:solidFill>
                  <a:srgbClr val="000000"/>
                </a:solidFill>
                <a:latin typeface="Inter"/>
                <a:ea typeface="Inter"/>
              </a:rPr>
              <a:t>AI Agent QA &amp; Monitoring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95313" y="2024062"/>
            <a:ext cx="2443163" cy="1004887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5313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1">
                <a:solidFill>
                  <a:srgbClr val="000000"/>
                </a:solidFill>
                <a:latin typeface="Inter"/>
                <a:ea typeface="Inter"/>
              </a:rPr>
              <a:t>30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95313" y="2443163"/>
            <a:ext cx="24431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총 테스트</a:t>
            </a:r>
            <a:endParaRPr lang="en-US" sz="1069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PASS 27 · FAIL 3</a:t>
            </a:r>
          </a:p>
        </p:txBody>
      </p:sp>
      <p:sp>
        <p:nvSpPr>
          <p:cNvPr id="6" name="Shape 4"/>
          <p:cNvSpPr/>
          <p:nvPr/>
        </p:nvSpPr>
        <p:spPr>
          <a:xfrm>
            <a:off x="3343275" y="2024062"/>
            <a:ext cx="2443163" cy="1004887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343275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Inter"/>
                <a:ea typeface="Inter"/>
              </a:rPr>
              <a:t>1,200 → 845ms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3343275" y="2443163"/>
            <a:ext cx="24431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p95 응답시간</a:t>
            </a:r>
            <a:endParaRPr lang="en-US" sz="1069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개선 후 동일 조건 재시험</a:t>
            </a:r>
          </a:p>
        </p:txBody>
      </p:sp>
      <p:sp>
        <p:nvSpPr>
          <p:cNvPr id="9" name="Shape 7"/>
          <p:cNvSpPr/>
          <p:nvPr/>
        </p:nvSpPr>
        <p:spPr>
          <a:xfrm>
            <a:off x="6091238" y="2024062"/>
            <a:ext cx="2443163" cy="809625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091238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Inter"/>
                <a:ea typeface="Inter"/>
              </a:rPr>
              <a:t>6.3 → 2.0%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6091238" y="2443163"/>
            <a:ext cx="24431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오류율</a:t>
            </a:r>
            <a:endParaRPr lang="en-US" sz="1069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Timeout·예외·수집 설정 보완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87782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777777"/>
                </a:solidFill>
                <a:latin typeface="Noto Sans KR"/>
                <a:ea typeface="Noto Sans KR"/>
              </a:rPr>
              <a:t>2026.07 · 교육용 시범 프로젝트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041648"/>
            <a:ext cx="1115568" cy="438912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C5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AI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200144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77777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22576" y="4041648"/>
            <a:ext cx="1115568" cy="438912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C5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k6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3" y="420014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77777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85032" y="4041648"/>
            <a:ext cx="1389888" cy="438912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C5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200144"/>
            <a:ext cx="28346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77777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4041648"/>
            <a:ext cx="1115568" cy="438912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C5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20014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77777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9712" y="4041648"/>
            <a:ext cx="1417320" cy="438912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C5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</a:rPr>
              <a:t>Improve &amp; Retest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286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0" b="1">
                <a:solidFill>
                  <a:srgbClr val="000000"/>
                </a:solidFill>
                <a:latin typeface="Inter"/>
                <a:ea typeface="Inter"/>
              </a:rPr>
              <a:t>Why Bithumb / Role Fit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3390900" y="1724025"/>
            <a:ext cx="23241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3909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Noto Sans KR"/>
                <a:ea typeface="Noto Sans KR"/>
              </a:rPr>
              <a:t>금융권 통제·감사 대응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3909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금융감독원·금융보안원 기준에 맞춘 운영·증적·장애 대응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3390900" y="2800350"/>
            <a:ext cx="23241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3909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Noto Sans KR"/>
                <a:ea typeface="Noto Sans KR"/>
              </a:rPr>
              <a:t>네트워크·보안 운영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90900" y="31051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Backbone·L3/L4·전용회선과 Firewall·WAF·SSL VPN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210300" y="1724025"/>
            <a:ext cx="23241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03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Noto Sans KR"/>
                <a:ea typeface="Noto Sans KR"/>
              </a:rPr>
              <a:t>AWS 네트워크 보안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2103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온프레미스 기반을 클라우드 보안 구조로 확장하는 학습·실습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210300" y="2800350"/>
            <a:ext cx="23241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2103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Noto Sans KR"/>
                <a:ea typeface="Noto Sans KR"/>
              </a:rPr>
              <a:t>IaC·자동화·Observability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210300" y="31051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222222"/>
                </a:solidFill>
                <a:latin typeface="Noto Sans KR"/>
                <a:ea typeface="Noto Sans KR"/>
              </a:rPr>
              <a:t>정책 검토·증적 수집·변경 전후 검증을 자동화하는 방향</a:t>
            </a:r>
            <a:endParaRPr lang="en-US" sz="855" dirty="0"/>
          </a:p>
        </p:txBody>
      </p:sp>
      <p:sp>
        <p:nvSpPr>
          <p:cNvPr id="15" name="TextBox 14"/>
          <p:cNvSpPr txBox="1"/>
          <p:nvPr/>
        </p:nvSpPr>
        <p:spPr>
          <a:xfrm>
            <a:off x="3401568" y="12984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Noto Sans KR"/>
                <a:ea typeface="Noto Sans KR"/>
              </a:rPr>
              <a:t>즉시 기여  |  IMMEDIATE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984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Noto Sans KR"/>
                <a:ea typeface="Noto Sans KR"/>
              </a:rPr>
              <a:t>역량 확장  | 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Inter"/>
                <a:ea typeface="Inter"/>
              </a:rPr>
              <a:t>First 90 Days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9" b="1">
                <a:solidFill>
                  <a:srgbClr val="000000"/>
                </a:solidFill>
                <a:latin typeface="Noto Sans KR"/>
                <a:ea typeface="Noto Sans KR"/>
              </a:rPr>
              <a:t>0–30 DAY  |  현황·기준선 확보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토폴로지·방화벽/ACL/VPN·로그·변경·장애 대응 흐름 파악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Deliverable: Current-State Map</a:t>
            </a:r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9" b="1">
                <a:solidFill>
                  <a:srgbClr val="000000"/>
                </a:solidFill>
                <a:latin typeface="Noto Sans KR"/>
                <a:ea typeface="Noto Sans KR"/>
              </a:rPr>
              <a:t>31–60 DAY  |  표준화·Quick Wins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고위험·중복 정책 후보, Runbook, Alert 누락과 증적 기준 개선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Deliverable: Standard &amp; Dashboard</a:t>
            </a:r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9" b="1">
                <a:solidFill>
                  <a:srgbClr val="000000"/>
                </a:solidFill>
                <a:latin typeface="Noto Sans KR"/>
                <a:ea typeface="Noto Sans KR"/>
              </a:rPr>
              <a:t>61–90 DAY  |  자동화 파일럿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점검·증적 수집·변경 전후 검증을 작은 범위부터 PoC</a:t>
            </a:r>
            <a:endParaRPr lang="en-US" sz="855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Noto Sans KR"/>
                <a:ea typeface="Noto Sans KR"/>
              </a:rPr>
              <a:t>Deliverable: Automation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70632"/>
            <a:ext cx="29718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222222"/>
                </a:solidFill>
                <a:latin typeface="Noto Sans KR"/>
                <a:ea typeface="Noto Sans KR"/>
              </a:rPr>
              <a:t>Observe → Standardize → Automate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222222"/>
                </a:solidFill>
                <a:latin typeface="Noto Sans KR"/>
                <a:ea typeface="Noto Sans KR"/>
              </a:rPr>
              <a:t>새로운 조직의 방식은 배우고, 기존 경험은 초기 성과로 연결합니다.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95550" y="1866900"/>
            <a:ext cx="4152900" cy="14097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828800" y="2377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“장애를 사후 처리하는 데서 그치지 않고,</a:t>
            </a:r>
            <a:endParaRPr lang="en-US" sz="1283" dirty="0"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신뢰를 사전에 설계하겠습니다.”</a:t>
            </a:r>
          </a:p>
        </p:txBody>
      </p:sp>
      <p:sp>
        <p:nvSpPr>
          <p:cNvPr id="5" name="Text 2"/>
          <p:cNvSpPr/>
          <p:nvPr/>
        </p:nvSpPr>
        <p:spPr>
          <a:xfrm>
            <a:off x="1828800" y="32461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>
                <a:solidFill>
                  <a:srgbClr val="777777"/>
                </a:solidFill>
                <a:latin typeface="Noto Sans KR"/>
                <a:ea typeface="Noto Sans KR"/>
              </a:rPr>
              <a:t>나병진 · Infrastructure Security &amp; Operations</a:t>
            </a:r>
            <a:endParaRPr lang="en-US" sz="855" dirty="0"/>
          </a:p>
        </p:txBody>
      </p:sp>
      <p:sp>
        <p:nvSpPr>
          <p:cNvPr id="6" name="Oval 5"/>
          <p:cNvSpPr/>
          <p:nvPr/>
        </p:nvSpPr>
        <p:spPr>
          <a:xfrm>
            <a:off x="4261104" y="1517904"/>
            <a:ext cx="621792" cy="62179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Inter"/>
                <a:ea typeface="Inter"/>
              </a:rPr>
              <a:t>NBJ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05072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Noto Sans KR"/>
                <a:ea typeface="Noto Sans KR"/>
              </a:rPr>
              <a:t>nbj0101@naver.com  ·  010-9090-1596  ·  서울특별시 노원구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45312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777777"/>
                </a:solidFill>
                <a:latin typeface="Noto Sans KR"/>
                <a:ea typeface="Noto Sans KR"/>
              </a:rPr>
              <a:t>금융권 규제 대응 · 서버/네트워크/보안 · Monitoring ·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482803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A0A0A0"/>
                </a:solidFill>
                <a:latin typeface="Inter"/>
                <a:ea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809</Words>
  <Application>Microsoft Office PowerPoint</Application>
  <PresentationFormat>화면 슬라이드 쇼(16:9)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Calibri</vt:lpstr>
      <vt:lpstr>Inter</vt:lpstr>
      <vt:lpstr>맑은 고딕</vt:lpstr>
      <vt:lpstr>Arial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나병진 인프라 보안 포트폴리오</dc:title>
  <dc:subject>Bithumb Infrastructure Security &amp; Operations Portfolio</dc:subject>
  <dc:creator>나병진</dc:creator>
  <cp:keywords>인프라 보안, 금융권, 서버, 네트워크, 모니터링, AI Agent QA</cp:keywords>
  <cp:lastModifiedBy>DWIT</cp:lastModifiedBy>
  <cp:revision>2</cp:revision>
  <dcterms:created xsi:type="dcterms:W3CDTF">2026-08-05T01:13:42Z</dcterms:created>
  <dcterms:modified xsi:type="dcterms:W3CDTF">2026-08-05T02:06:50Z</dcterms:modified>
</cp:coreProperties>
</file>