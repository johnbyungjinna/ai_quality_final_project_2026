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6473952"/>
            <a:ext cx="11365992" cy="0"/>
          </a:xfrm>
          <a:prstGeom prst="line">
            <a:avLst/>
          </a:prstGeom>
          <a:noFill/>
          <a:ln w="10160">
            <a:solidFill>
              <a:srgbClr val="D7DE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8793A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NA BYUNGJIN · INFRASTRUCTURE SECURITY &amp; OPERATIONS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8793A5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8793A5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3152" cy="1051560"/>
          </a:xfrm>
          <a:prstGeom prst="rect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42062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F8A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RESUME &amp; COVER LETTER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49808" y="777240"/>
            <a:ext cx="67665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92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금융권의 신뢰를 지키고,</a:t>
            </a:r>
            <a:endParaRPr lang="en-US" sz="29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장애를 데이터로 예방하는</a:t>
            </a:r>
            <a:endParaRPr lang="en-US" sz="29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인프라 보안 전문가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768096" y="30175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나병진  |  Infrastructure Security &amp; Operations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68096" y="3584448"/>
            <a:ext cx="1143000" cy="310896"/>
          </a:xfrm>
          <a:prstGeom prst="roundRect">
            <a:avLst/>
          </a:prstGeom>
          <a:solidFill>
            <a:srgbClr val="2A3546"/>
          </a:solidFill>
          <a:ln w="7620">
            <a:solidFill>
              <a:srgbClr val="37475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634740"/>
            <a:ext cx="1033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금융권 보안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2011680" y="3584448"/>
            <a:ext cx="1143000" cy="310896"/>
          </a:xfrm>
          <a:prstGeom prst="roundRect">
            <a:avLst/>
          </a:prstGeom>
          <a:solidFill>
            <a:srgbClr val="2A3546"/>
          </a:solidFill>
          <a:ln w="7620">
            <a:solidFill>
              <a:srgbClr val="37475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66544" y="3634740"/>
            <a:ext cx="1033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인프라 운영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3255264" y="3584448"/>
            <a:ext cx="1143000" cy="310896"/>
          </a:xfrm>
          <a:prstGeom prst="roundRect">
            <a:avLst/>
          </a:prstGeom>
          <a:solidFill>
            <a:srgbClr val="2A3546"/>
          </a:solidFill>
          <a:ln w="7620">
            <a:solidFill>
              <a:srgbClr val="37475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0128" y="3634740"/>
            <a:ext cx="1033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장애 대응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4498848" y="3584448"/>
            <a:ext cx="1234440" cy="310896"/>
          </a:xfrm>
          <a:prstGeom prst="roundRect">
            <a:avLst/>
          </a:prstGeom>
          <a:solidFill>
            <a:srgbClr val="2A3546"/>
          </a:solidFill>
          <a:ln w="7620">
            <a:solidFill>
              <a:srgbClr val="3747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53712" y="3634740"/>
            <a:ext cx="1124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Monitoring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7315200" y="502920"/>
            <a:ext cx="4343400" cy="4343400"/>
          </a:xfrm>
          <a:prstGeom prst="ellipse">
            <a:avLst/>
          </a:prstGeom>
          <a:solidFill>
            <a:srgbClr val="151F2D">
              <a:alpha val="95000"/>
            </a:srgbClr>
          </a:solidFill>
          <a:ln w="12700">
            <a:solidFill>
              <a:srgbClr val="2B3A4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85632" y="1627632"/>
            <a:ext cx="2011680" cy="2011680"/>
          </a:xfrm>
          <a:prstGeom prst="ellipse">
            <a:avLst/>
          </a:prstGeom>
          <a:solidFill>
            <a:srgbClr val="1B2738"/>
          </a:solidFill>
          <a:ln w="12700">
            <a:solidFill>
              <a:srgbClr val="3144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997696" y="2139696"/>
            <a:ext cx="987552" cy="987552"/>
          </a:xfrm>
          <a:prstGeom prst="ellipse">
            <a:avLst/>
          </a:prstGeom>
          <a:solidFill>
            <a:srgbClr val="222E40"/>
          </a:solidFill>
          <a:ln w="16510">
            <a:solidFill>
              <a:srgbClr val="FF8A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25712" y="244144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8A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SEC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491472" y="2633472"/>
            <a:ext cx="-1527048" cy="-1344168"/>
          </a:xfrm>
          <a:prstGeom prst="line">
            <a:avLst/>
          </a:prstGeom>
          <a:noFill/>
          <a:ln w="10160">
            <a:solidFill>
              <a:srgbClr val="3B4B6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818120" y="1143000"/>
            <a:ext cx="310896" cy="310896"/>
          </a:xfrm>
          <a:prstGeom prst="ellipse">
            <a:avLst/>
          </a:prstGeom>
          <a:solidFill>
            <a:srgbClr val="2F6BFF"/>
          </a:solidFill>
          <a:ln w="7620">
            <a:solidFill>
              <a:srgbClr val="5365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80960" y="1536192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8998A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OPS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9491472" y="2633472"/>
            <a:ext cx="1280160" cy="-1243584"/>
          </a:xfrm>
          <a:prstGeom prst="line">
            <a:avLst/>
          </a:prstGeom>
          <a:noFill/>
          <a:ln w="10160">
            <a:solidFill>
              <a:srgbClr val="3B4B6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625328" y="1243584"/>
            <a:ext cx="310896" cy="310896"/>
          </a:xfrm>
          <a:prstGeom prst="ellipse">
            <a:avLst/>
          </a:prstGeom>
          <a:solidFill>
            <a:srgbClr val="14A673"/>
          </a:solidFill>
          <a:ln w="7620">
            <a:solidFill>
              <a:srgbClr val="5365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488168" y="1636776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8998A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NET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9491472" y="2633472"/>
            <a:ext cx="1673352" cy="667512"/>
          </a:xfrm>
          <a:prstGeom prst="line">
            <a:avLst/>
          </a:prstGeom>
          <a:noFill/>
          <a:ln w="10160">
            <a:solidFill>
              <a:srgbClr val="3B4B6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018520" y="3154680"/>
            <a:ext cx="310896" cy="310896"/>
          </a:xfrm>
          <a:prstGeom prst="ellipse">
            <a:avLst/>
          </a:prstGeom>
          <a:solidFill>
            <a:srgbClr val="FF8A00"/>
          </a:solidFill>
          <a:ln w="7620">
            <a:solidFill>
              <a:srgbClr val="53657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881360" y="3547872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8998A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QA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9491472" y="2633472"/>
            <a:ext cx="-1645920" cy="1399032"/>
          </a:xfrm>
          <a:prstGeom prst="line">
            <a:avLst/>
          </a:prstGeom>
          <a:noFill/>
          <a:ln w="10160">
            <a:solidFill>
              <a:srgbClr val="3B4B6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99248" y="3886200"/>
            <a:ext cx="310896" cy="310896"/>
          </a:xfrm>
          <a:prstGeom prst="ellipse">
            <a:avLst/>
          </a:prstGeom>
          <a:solidFill>
            <a:srgbClr val="7A55E8"/>
          </a:solidFill>
          <a:ln w="7620">
            <a:solidFill>
              <a:srgbClr val="53657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62088" y="4279392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8998A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MON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9491472" y="2633472"/>
            <a:ext cx="164592" cy="2267712"/>
          </a:xfrm>
          <a:prstGeom prst="line">
            <a:avLst/>
          </a:prstGeom>
          <a:noFill/>
          <a:ln w="10160">
            <a:solidFill>
              <a:srgbClr val="3B4B6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509760" y="4754880"/>
            <a:ext cx="310896" cy="310896"/>
          </a:xfrm>
          <a:prstGeom prst="ellipse">
            <a:avLst/>
          </a:prstGeom>
          <a:solidFill>
            <a:srgbClr val="56657A"/>
          </a:solidFill>
          <a:ln w="7620">
            <a:solidFill>
              <a:srgbClr val="53657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372600" y="5148072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8998A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IT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768096" y="4663440"/>
            <a:ext cx="1965960" cy="868680"/>
          </a:xfrm>
          <a:prstGeom prst="roundRect">
            <a:avLst/>
          </a:prstGeom>
          <a:solidFill>
            <a:srgbClr val="182333"/>
          </a:solidFill>
          <a:ln w="10160">
            <a:solidFill>
              <a:srgbClr val="2E3B4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05256" y="4809744"/>
            <a:ext cx="109728" cy="548640"/>
          </a:xfrm>
          <a:prstGeom prst="roundRect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52144" y="48006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20년 8개월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1152144" y="514807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9AA8B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IT 인프라 경력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2880360" y="4663440"/>
            <a:ext cx="1965960" cy="868680"/>
          </a:xfrm>
          <a:prstGeom prst="roundRect">
            <a:avLst/>
          </a:prstGeom>
          <a:solidFill>
            <a:srgbClr val="182333"/>
          </a:solidFill>
          <a:ln w="10160">
            <a:solidFill>
              <a:srgbClr val="2E3B4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017520" y="4809744"/>
            <a:ext cx="109728" cy="548640"/>
          </a:xfrm>
          <a:prstGeom prst="round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64408" y="48006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100여대</a:t>
            </a:r>
            <a:endParaRPr lang="en-US" sz="1450" dirty="0"/>
          </a:p>
        </p:txBody>
      </p:sp>
      <p:sp>
        <p:nvSpPr>
          <p:cNvPr id="40" name="Text 38"/>
          <p:cNvSpPr/>
          <p:nvPr/>
        </p:nvSpPr>
        <p:spPr>
          <a:xfrm>
            <a:off x="3264408" y="514807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9AA8B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금융기관 서버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4992624" y="4663440"/>
            <a:ext cx="1965960" cy="868680"/>
          </a:xfrm>
          <a:prstGeom prst="roundRect">
            <a:avLst/>
          </a:prstGeom>
          <a:solidFill>
            <a:srgbClr val="182333"/>
          </a:solidFill>
          <a:ln w="10160">
            <a:solidFill>
              <a:srgbClr val="2E3B4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129784" y="4809744"/>
            <a:ext cx="109728" cy="548640"/>
          </a:xfrm>
          <a:prstGeom prst="roundRect">
            <a:avLst/>
          </a:prstGeom>
          <a:solidFill>
            <a:srgbClr val="14A673"/>
          </a:solidFill>
          <a:ln w="12700">
            <a:solidFill>
              <a:srgbClr val="14A67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76672" y="48006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140여대</a:t>
            </a:r>
            <a:endParaRPr lang="en-US" sz="1450" dirty="0"/>
          </a:p>
        </p:txBody>
      </p:sp>
      <p:sp>
        <p:nvSpPr>
          <p:cNvPr id="44" name="Text 42"/>
          <p:cNvSpPr/>
          <p:nvPr/>
        </p:nvSpPr>
        <p:spPr>
          <a:xfrm>
            <a:off x="5376672" y="514807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9AA8B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네트워크 장비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7104888" y="4663440"/>
            <a:ext cx="1965960" cy="868680"/>
          </a:xfrm>
          <a:prstGeom prst="roundRect">
            <a:avLst/>
          </a:prstGeom>
          <a:solidFill>
            <a:srgbClr val="182333"/>
          </a:solidFill>
          <a:ln w="10160">
            <a:solidFill>
              <a:srgbClr val="2E3B4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242048" y="4809744"/>
            <a:ext cx="109728" cy="548640"/>
          </a:xfrm>
          <a:prstGeom prst="roundRect">
            <a:avLst/>
          </a:prstGeom>
          <a:solidFill>
            <a:srgbClr val="7A55E8"/>
          </a:solidFill>
          <a:ln w="12700">
            <a:solidFill>
              <a:srgbClr val="7A55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88936" y="48006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FW·WAF·VPN</a:t>
            </a:r>
            <a:endParaRPr lang="en-US" sz="1450" dirty="0"/>
          </a:p>
        </p:txBody>
      </p:sp>
      <p:sp>
        <p:nvSpPr>
          <p:cNvPr id="48" name="Text 46"/>
          <p:cNvSpPr/>
          <p:nvPr/>
        </p:nvSpPr>
        <p:spPr>
          <a:xfrm>
            <a:off x="7488936" y="514807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9AA8B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보안 장비 운영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768096" y="6062472"/>
            <a:ext cx="6309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B5C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010-9090-1596  ·  nbj0101@naver.com  ·  서울특별시 노원구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7406640" y="606247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60" b="1" dirty="0">
                <a:solidFill>
                  <a:srgbClr val="FF8A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BITHUMB · INFRA / DEVOPS · INFRASTRUCTURE SECURITY</a:t>
            </a:r>
            <a:endParaRPr lang="en-US" sz="7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F8A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CAREER SNAPSHOT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6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한눈에 보는 경력 요약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6400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8793A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경력 20년 8개월 · 구축 → 운영 → 보안 → 개선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4160520" cy="2029968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10160">
            <a:solidFill>
              <a:srgbClr val="DFE6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2646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8A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PROFILE SUMMARY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49808" y="1755648"/>
            <a:ext cx="363931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6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대기업·글로벌 유통기업·금융기관에서 서버·네트워크·보안 인프라를 직접 구축하고 운영했습니다. 금융권 감사·규제 대응과 신규 법인 Zero-to-One 구축을 경험했으며, 최근에는 AI Agent QA &amp; Monitoring을 통해 관측 가능성과 데이터 기반 개선 역량을 확장했습니다.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3456432"/>
            <a:ext cx="3977640" cy="777240"/>
          </a:xfrm>
          <a:prstGeom prst="roundRect">
            <a:avLst>
              <a:gd name="adj" fmla="val 9412"/>
            </a:avLst>
          </a:prstGeom>
          <a:solidFill>
            <a:srgbClr val="FFF3E4"/>
          </a:solidFill>
          <a:ln w="10160">
            <a:solidFill>
              <a:srgbClr val="FFF3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3456432"/>
            <a:ext cx="73152" cy="777240"/>
          </a:xfrm>
          <a:prstGeom prst="rect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5256" y="3566160"/>
            <a:ext cx="363016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6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“운영 경험을 개인의 감각이 아닌 반복 가능한 기준과 절차로 바꾸는 것”이 저의 업무 방식입니다.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919472" y="1188720"/>
            <a:ext cx="6766560" cy="3044952"/>
          </a:xfrm>
          <a:prstGeom prst="roundRect">
            <a:avLst>
              <a:gd name="adj" fmla="val 2402"/>
            </a:avLst>
          </a:prstGeom>
          <a:solidFill>
            <a:srgbClr val="FFFFFF"/>
          </a:solidFill>
          <a:ln w="10160">
            <a:solidFill>
              <a:srgbClr val="DFE6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3792" y="142646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2F6B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CAREER TIMELINE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559552" y="1856232"/>
            <a:ext cx="0" cy="1810512"/>
          </a:xfrm>
          <a:prstGeom prst="line">
            <a:avLst/>
          </a:prstGeom>
          <a:noFill/>
          <a:ln w="17780">
            <a:solidFill>
              <a:srgbClr val="C7D0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31536" y="1828800"/>
            <a:ext cx="256032" cy="256032"/>
          </a:xfrm>
          <a:prstGeom prst="ellipse">
            <a:avLst/>
          </a:prstGeom>
          <a:solidFill>
            <a:srgbClr val="2F6BF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33872" y="181051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8793A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2002.01–2016.10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269480" y="181051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LS네트웍스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887968" y="181051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0708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대규모 엔터프라이즈 인프라·보안·SAP·IT기획</a:t>
            </a:r>
            <a:endParaRPr lang="en-US" sz="840" dirty="0"/>
          </a:p>
        </p:txBody>
      </p:sp>
      <p:sp>
        <p:nvSpPr>
          <p:cNvPr id="18" name="Shape 16"/>
          <p:cNvSpPr/>
          <p:nvPr/>
        </p:nvSpPr>
        <p:spPr>
          <a:xfrm>
            <a:off x="5431536" y="2414016"/>
            <a:ext cx="256032" cy="256032"/>
          </a:xfrm>
          <a:prstGeom prst="ellipse">
            <a:avLst/>
          </a:prstGeom>
          <a:solidFill>
            <a:srgbClr val="FF8A0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33872" y="239572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8793A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2016.10–2021.07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269480" y="239572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스케쳐스코리아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887968" y="23957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0708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신규 법인 전체 IT 인프라 Zero-to-One 구축</a:t>
            </a:r>
            <a:endParaRPr lang="en-US" sz="840" dirty="0"/>
          </a:p>
        </p:txBody>
      </p:sp>
      <p:sp>
        <p:nvSpPr>
          <p:cNvPr id="22" name="Shape 20"/>
          <p:cNvSpPr/>
          <p:nvPr/>
        </p:nvSpPr>
        <p:spPr>
          <a:xfrm>
            <a:off x="5431536" y="2999232"/>
            <a:ext cx="256032" cy="256032"/>
          </a:xfrm>
          <a:prstGeom prst="ellipse">
            <a:avLst/>
          </a:prstGeom>
          <a:solidFill>
            <a:srgbClr val="14A673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33872" y="2980944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8793A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2023.01–2024.01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269480" y="298094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JT친애저축은행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887968" y="298094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0708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금융권 인프라 운영·감사·규제 대응</a:t>
            </a:r>
            <a:endParaRPr lang="en-US" sz="840" dirty="0"/>
          </a:p>
        </p:txBody>
      </p:sp>
      <p:sp>
        <p:nvSpPr>
          <p:cNvPr id="26" name="Shape 24"/>
          <p:cNvSpPr/>
          <p:nvPr/>
        </p:nvSpPr>
        <p:spPr>
          <a:xfrm>
            <a:off x="5431536" y="3584448"/>
            <a:ext cx="256032" cy="256032"/>
          </a:xfrm>
          <a:prstGeom prst="ellipse">
            <a:avLst/>
          </a:prstGeom>
          <a:solidFill>
            <a:srgbClr val="7A55E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33872" y="356616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8793A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2026.07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269480" y="356616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Agent QA &amp; Monitoring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887968" y="35661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0708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k6·Prometheus·Grafana 기반 교육 프로젝트</a:t>
            </a:r>
            <a:endParaRPr lang="en-US" sz="840" dirty="0"/>
          </a:p>
        </p:txBody>
      </p:sp>
      <p:sp>
        <p:nvSpPr>
          <p:cNvPr id="30" name="Text 28"/>
          <p:cNvSpPr/>
          <p:nvPr/>
        </p:nvSpPr>
        <p:spPr>
          <a:xfrm>
            <a:off x="566928" y="462686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8A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경력에서 반복해 온 4가지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02920" y="4956048"/>
            <a:ext cx="2615184" cy="1115568"/>
          </a:xfrm>
          <a:prstGeom prst="roundRect">
            <a:avLst>
              <a:gd name="adj" fmla="val 6557"/>
            </a:avLst>
          </a:prstGeom>
          <a:solidFill>
            <a:srgbClr val="EAF0FF"/>
          </a:solidFill>
          <a:ln w="10160">
            <a:solidFill>
              <a:srgbClr val="DFE6E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67512" y="5129784"/>
            <a:ext cx="347472" cy="347472"/>
          </a:xfrm>
          <a:prstGeom prst="round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7512" y="5198364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143000" y="512064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6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BUILD</a:t>
            </a:r>
            <a:endParaRPr lang="en-US" sz="1220" dirty="0"/>
          </a:p>
        </p:txBody>
      </p:sp>
      <p:sp>
        <p:nvSpPr>
          <p:cNvPr id="35" name="Text 33"/>
          <p:cNvSpPr/>
          <p:nvPr/>
        </p:nvSpPr>
        <p:spPr>
          <a:xfrm>
            <a:off x="685800" y="5550408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0708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새로운 환경을 처음부터 설계·구축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319272" y="4956048"/>
            <a:ext cx="2615184" cy="1115568"/>
          </a:xfrm>
          <a:prstGeom prst="roundRect">
            <a:avLst>
              <a:gd name="adj" fmla="val 6557"/>
            </a:avLst>
          </a:prstGeom>
          <a:solidFill>
            <a:srgbClr val="E8F8F1"/>
          </a:solidFill>
          <a:ln w="10160">
            <a:solidFill>
              <a:srgbClr val="DFE6E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483864" y="5129784"/>
            <a:ext cx="347472" cy="347472"/>
          </a:xfrm>
          <a:prstGeom prst="roundRect">
            <a:avLst/>
          </a:prstGeom>
          <a:solidFill>
            <a:srgbClr val="14A673"/>
          </a:solidFill>
          <a:ln w="12700">
            <a:solidFill>
              <a:srgbClr val="14A67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83864" y="5198364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3959352" y="512064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6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OPERATE</a:t>
            </a:r>
            <a:endParaRPr lang="en-US" sz="1220" dirty="0"/>
          </a:p>
        </p:txBody>
      </p:sp>
      <p:sp>
        <p:nvSpPr>
          <p:cNvPr id="40" name="Text 38"/>
          <p:cNvSpPr/>
          <p:nvPr/>
        </p:nvSpPr>
        <p:spPr>
          <a:xfrm>
            <a:off x="3502152" y="5550408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0708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장애·변경·백업·모니터링을 안정적으로 운영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135624" y="4956048"/>
            <a:ext cx="2615184" cy="1115568"/>
          </a:xfrm>
          <a:prstGeom prst="roundRect">
            <a:avLst>
              <a:gd name="adj" fmla="val 6557"/>
            </a:avLst>
          </a:prstGeom>
          <a:solidFill>
            <a:srgbClr val="F0ECFF"/>
          </a:solidFill>
          <a:ln w="10160">
            <a:solidFill>
              <a:srgbClr val="DFE6E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00216" y="5129784"/>
            <a:ext cx="347472" cy="347472"/>
          </a:xfrm>
          <a:prstGeom prst="roundRect">
            <a:avLst/>
          </a:prstGeom>
          <a:solidFill>
            <a:srgbClr val="7A55E8"/>
          </a:solidFill>
          <a:ln w="12700">
            <a:solidFill>
              <a:srgbClr val="7A55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00216" y="5198364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6775704" y="512064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6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SECURE</a:t>
            </a:r>
            <a:endParaRPr lang="en-US" sz="1220" dirty="0"/>
          </a:p>
        </p:txBody>
      </p:sp>
      <p:sp>
        <p:nvSpPr>
          <p:cNvPr id="45" name="Text 43"/>
          <p:cNvSpPr/>
          <p:nvPr/>
        </p:nvSpPr>
        <p:spPr>
          <a:xfrm>
            <a:off x="6318504" y="5550408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0708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취약점·감사·규제·보안장비를 통제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8951976" y="4956048"/>
            <a:ext cx="2615184" cy="1115568"/>
          </a:xfrm>
          <a:prstGeom prst="roundRect">
            <a:avLst>
              <a:gd name="adj" fmla="val 6557"/>
            </a:avLst>
          </a:prstGeom>
          <a:solidFill>
            <a:srgbClr val="FFF1DF"/>
          </a:solidFill>
          <a:ln w="10160">
            <a:solidFill>
              <a:srgbClr val="DFE6E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116568" y="5129784"/>
            <a:ext cx="347472" cy="347472"/>
          </a:xfrm>
          <a:prstGeom prst="roundRect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116568" y="5198364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9592056" y="512064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6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IMPROVE</a:t>
            </a:r>
            <a:endParaRPr lang="en-US" sz="1220" dirty="0"/>
          </a:p>
        </p:txBody>
      </p:sp>
      <p:sp>
        <p:nvSpPr>
          <p:cNvPr id="50" name="Text 48"/>
          <p:cNvSpPr/>
          <p:nvPr/>
        </p:nvSpPr>
        <p:spPr>
          <a:xfrm>
            <a:off x="9134856" y="5550408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0708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원인을 분석하고 절차·정책·도구를 개선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8793A5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F8A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CORE COMPETENCIES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6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역량과 기술 경험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6400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8793A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지원 직무와 직접 연결되는 실무 중심 역량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1261872"/>
            <a:ext cx="3255264" cy="1645920"/>
          </a:xfrm>
          <a:prstGeom prst="roundRect">
            <a:avLst>
              <a:gd name="adj" fmla="val 4444"/>
            </a:avLst>
          </a:prstGeom>
          <a:solidFill>
            <a:srgbClr val="E8F8F1"/>
          </a:solidFill>
          <a:ln w="10160">
            <a:solidFill>
              <a:srgbClr val="DFE6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512" y="1435608"/>
            <a:ext cx="347472" cy="347472"/>
          </a:xfrm>
          <a:prstGeom prst="roundRect">
            <a:avLst/>
          </a:prstGeom>
          <a:solidFill>
            <a:srgbClr val="14A673"/>
          </a:solidFill>
          <a:ln w="12700">
            <a:solidFill>
              <a:srgbClr val="14A67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504188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43000" y="1426464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6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금융권 규제·감사 대응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685800" y="1856232"/>
            <a:ext cx="288950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0708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금융감독원·금융보안원 기준에 맞춰 구성·정책·운영 절차를 점검하고 보완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4087368" y="1261872"/>
            <a:ext cx="3255264" cy="1645920"/>
          </a:xfrm>
          <a:prstGeom prst="roundRect">
            <a:avLst>
              <a:gd name="adj" fmla="val 4444"/>
            </a:avLst>
          </a:prstGeom>
          <a:solidFill>
            <a:srgbClr val="EAF0FF"/>
          </a:solidFill>
          <a:ln w="10160">
            <a:solidFill>
              <a:srgbClr val="DFE6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51960" y="1435608"/>
            <a:ext cx="347472" cy="347472"/>
          </a:xfrm>
          <a:prstGeom prst="round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51960" y="1504188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727448" y="1426464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6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서버·OS 통합 운영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4270248" y="1856232"/>
            <a:ext cx="288950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0708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Windows Server·UNIX·Linux 도입, 구성, 백업, 이중화, 가상화, 장애 대응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7671816" y="1261872"/>
            <a:ext cx="3255264" cy="1645920"/>
          </a:xfrm>
          <a:prstGeom prst="roundRect">
            <a:avLst>
              <a:gd name="adj" fmla="val 4444"/>
            </a:avLst>
          </a:prstGeom>
          <a:solidFill>
            <a:srgbClr val="F0ECFF"/>
          </a:solidFill>
          <a:ln w="10160">
            <a:solidFill>
              <a:srgbClr val="DFE6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36408" y="1435608"/>
            <a:ext cx="347472" cy="347472"/>
          </a:xfrm>
          <a:prstGeom prst="roundRect">
            <a:avLst/>
          </a:prstGeom>
          <a:solidFill>
            <a:srgbClr val="7A55E8"/>
          </a:solidFill>
          <a:ln w="12700">
            <a:solidFill>
              <a:srgbClr val="7A55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36408" y="1504188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8311896" y="1426464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6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네트워크·보안 장비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7854696" y="1856232"/>
            <a:ext cx="288950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0708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Backbone·L3·L4·LAN·전용회선과 Firewall·WAF·SSL VPN 구성·운영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502920" y="3328416"/>
            <a:ext cx="3255264" cy="1645920"/>
          </a:xfrm>
          <a:prstGeom prst="roundRect">
            <a:avLst>
              <a:gd name="adj" fmla="val 4444"/>
            </a:avLst>
          </a:prstGeom>
          <a:solidFill>
            <a:srgbClr val="FFF1DF"/>
          </a:solidFill>
          <a:ln w="10160">
            <a:solidFill>
              <a:srgbClr val="DFE6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7512" y="3502152"/>
            <a:ext cx="347472" cy="347472"/>
          </a:xfrm>
          <a:prstGeom prst="roundRect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" y="3570732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43000" y="349300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6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신규 법인 인프라 구축</a:t>
            </a:r>
            <a:endParaRPr lang="en-US" sz="1220" dirty="0"/>
          </a:p>
        </p:txBody>
      </p:sp>
      <p:sp>
        <p:nvSpPr>
          <p:cNvPr id="24" name="Text 22"/>
          <p:cNvSpPr/>
          <p:nvPr/>
        </p:nvSpPr>
        <p:spPr>
          <a:xfrm>
            <a:off x="685800" y="3922776"/>
            <a:ext cx="288950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0708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Server·Network·Security·IDC·Backup과 ERP·CRM·WMS 업무환경 Zero-to-One 구축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4087368" y="3328416"/>
            <a:ext cx="3255264" cy="1645920"/>
          </a:xfrm>
          <a:prstGeom prst="roundRect">
            <a:avLst>
              <a:gd name="adj" fmla="val 4444"/>
            </a:avLst>
          </a:prstGeom>
          <a:solidFill>
            <a:srgbClr val="FFF7D9"/>
          </a:solidFill>
          <a:ln w="10160">
            <a:solidFill>
              <a:srgbClr val="DFE6E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51960" y="3502152"/>
            <a:ext cx="347472" cy="347472"/>
          </a:xfrm>
          <a:prstGeom prst="roundRect">
            <a:avLst/>
          </a:prstGeom>
          <a:solidFill>
            <a:srgbClr val="E0A31A"/>
          </a:solidFill>
          <a:ln w="12700">
            <a:solidFill>
              <a:srgbClr val="E0A3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51960" y="3570732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727448" y="349300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6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IT 기획·예산·계약</a:t>
            </a:r>
            <a:endParaRPr lang="en-US" sz="1220" dirty="0"/>
          </a:p>
        </p:txBody>
      </p:sp>
      <p:sp>
        <p:nvSpPr>
          <p:cNvPr id="29" name="Text 27"/>
          <p:cNvSpPr/>
          <p:nvPr/>
        </p:nvSpPr>
        <p:spPr>
          <a:xfrm>
            <a:off x="4270248" y="3922776"/>
            <a:ext cx="288950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0708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중장기 프로젝트·예산 수립, 기술과 비용 검토, 약 30개 운영 계약 관리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7671816" y="3328416"/>
            <a:ext cx="3255264" cy="1645920"/>
          </a:xfrm>
          <a:prstGeom prst="roundRect">
            <a:avLst>
              <a:gd name="adj" fmla="val 4444"/>
            </a:avLst>
          </a:prstGeom>
          <a:solidFill>
            <a:srgbClr val="FDECEC"/>
          </a:solidFill>
          <a:ln w="10160">
            <a:solidFill>
              <a:srgbClr val="DFE6E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836408" y="3502152"/>
            <a:ext cx="347472" cy="347472"/>
          </a:xfrm>
          <a:prstGeom prst="roundRect">
            <a:avLst/>
          </a:prstGeom>
          <a:solidFill>
            <a:srgbClr val="E55353"/>
          </a:solidFill>
          <a:ln w="12700">
            <a:solidFill>
              <a:srgbClr val="E5535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836408" y="3570732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06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8311896" y="349300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6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Monitoring·AI QA</a:t>
            </a:r>
            <a:endParaRPr lang="en-US" sz="1220" dirty="0"/>
          </a:p>
        </p:txBody>
      </p:sp>
      <p:sp>
        <p:nvSpPr>
          <p:cNvPr id="34" name="Text 32"/>
          <p:cNvSpPr/>
          <p:nvPr/>
        </p:nvSpPr>
        <p:spPr>
          <a:xfrm>
            <a:off x="7854696" y="3922776"/>
            <a:ext cx="288950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0708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k6·Prometheus·Grafana를 통한 부하 재현, 지표 분석, 개선·재시험 경험</a:t>
            </a:r>
            <a:endParaRPr lang="en-US" sz="880" dirty="0"/>
          </a:p>
        </p:txBody>
      </p:sp>
      <p:sp>
        <p:nvSpPr>
          <p:cNvPr id="35" name="Text 33"/>
          <p:cNvSpPr/>
          <p:nvPr/>
        </p:nvSpPr>
        <p:spPr>
          <a:xfrm>
            <a:off x="566928" y="532180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8A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TECH STACK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02920" y="5641848"/>
            <a:ext cx="1104595" cy="31089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DD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7784" y="5692140"/>
            <a:ext cx="99486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60708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Windows Server</a:t>
            </a:r>
            <a:endParaRPr lang="en-US" sz="720" dirty="0"/>
          </a:p>
        </p:txBody>
      </p:sp>
      <p:sp>
        <p:nvSpPr>
          <p:cNvPr id="38" name="Shape 36"/>
          <p:cNvSpPr/>
          <p:nvPr/>
        </p:nvSpPr>
        <p:spPr>
          <a:xfrm>
            <a:off x="1698955" y="5641848"/>
            <a:ext cx="658368" cy="31089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DD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753819" y="569214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60708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UNIX</a:t>
            </a:r>
            <a:endParaRPr lang="en-US" sz="720" dirty="0"/>
          </a:p>
        </p:txBody>
      </p:sp>
      <p:sp>
        <p:nvSpPr>
          <p:cNvPr id="40" name="Shape 38"/>
          <p:cNvSpPr/>
          <p:nvPr/>
        </p:nvSpPr>
        <p:spPr>
          <a:xfrm>
            <a:off x="2448763" y="5641848"/>
            <a:ext cx="676656" cy="31089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DD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503627" y="5692140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60708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Linux</a:t>
            </a:r>
            <a:endParaRPr lang="en-US" sz="720" dirty="0"/>
          </a:p>
        </p:txBody>
      </p:sp>
      <p:sp>
        <p:nvSpPr>
          <p:cNvPr id="42" name="Shape 40"/>
          <p:cNvSpPr/>
          <p:nvPr/>
        </p:nvSpPr>
        <p:spPr>
          <a:xfrm>
            <a:off x="3216859" y="5641848"/>
            <a:ext cx="819302" cy="31089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DD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71723" y="5692140"/>
            <a:ext cx="7095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60708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Backbone</a:t>
            </a:r>
            <a:endParaRPr lang="en-US" sz="720" dirty="0"/>
          </a:p>
        </p:txBody>
      </p:sp>
      <p:sp>
        <p:nvSpPr>
          <p:cNvPr id="44" name="Shape 42"/>
          <p:cNvSpPr/>
          <p:nvPr/>
        </p:nvSpPr>
        <p:spPr>
          <a:xfrm>
            <a:off x="4127602" y="5641848"/>
            <a:ext cx="771754" cy="31089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DD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82466" y="5692140"/>
            <a:ext cx="66202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60708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L3 / L4</a:t>
            </a:r>
            <a:endParaRPr lang="en-US" sz="720" dirty="0"/>
          </a:p>
        </p:txBody>
      </p:sp>
      <p:sp>
        <p:nvSpPr>
          <p:cNvPr id="46" name="Shape 44"/>
          <p:cNvSpPr/>
          <p:nvPr/>
        </p:nvSpPr>
        <p:spPr>
          <a:xfrm>
            <a:off x="4990795" y="5641848"/>
            <a:ext cx="819302" cy="31089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DD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45659" y="5692140"/>
            <a:ext cx="7095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60708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Firewall</a:t>
            </a:r>
            <a:endParaRPr lang="en-US" sz="720" dirty="0"/>
          </a:p>
        </p:txBody>
      </p:sp>
      <p:sp>
        <p:nvSpPr>
          <p:cNvPr id="48" name="Shape 46"/>
          <p:cNvSpPr/>
          <p:nvPr/>
        </p:nvSpPr>
        <p:spPr>
          <a:xfrm>
            <a:off x="5901538" y="5641848"/>
            <a:ext cx="658368" cy="31089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DD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956402" y="569214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60708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WAF</a:t>
            </a:r>
            <a:endParaRPr lang="en-US" sz="720" dirty="0"/>
          </a:p>
        </p:txBody>
      </p:sp>
      <p:sp>
        <p:nvSpPr>
          <p:cNvPr id="50" name="Shape 48"/>
          <p:cNvSpPr/>
          <p:nvPr/>
        </p:nvSpPr>
        <p:spPr>
          <a:xfrm>
            <a:off x="6651346" y="5641848"/>
            <a:ext cx="771754" cy="31089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DD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706210" y="5692140"/>
            <a:ext cx="66202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60708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SSL VPN</a:t>
            </a:r>
            <a:endParaRPr lang="en-US" sz="720" dirty="0"/>
          </a:p>
        </p:txBody>
      </p:sp>
      <p:sp>
        <p:nvSpPr>
          <p:cNvPr id="52" name="Shape 50"/>
          <p:cNvSpPr/>
          <p:nvPr/>
        </p:nvSpPr>
        <p:spPr>
          <a:xfrm>
            <a:off x="7514539" y="5641848"/>
            <a:ext cx="1009498" cy="31089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DD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569403" y="5692140"/>
            <a:ext cx="8997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60708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IDC / Backup</a:t>
            </a:r>
            <a:endParaRPr lang="en-US" sz="720" dirty="0"/>
          </a:p>
        </p:txBody>
      </p:sp>
      <p:sp>
        <p:nvSpPr>
          <p:cNvPr id="54" name="Shape 52"/>
          <p:cNvSpPr/>
          <p:nvPr/>
        </p:nvSpPr>
        <p:spPr>
          <a:xfrm>
            <a:off x="8615477" y="5641848"/>
            <a:ext cx="866851" cy="31089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DDE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670341" y="5692140"/>
            <a:ext cx="7571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60708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SAP Basis</a:t>
            </a:r>
            <a:endParaRPr lang="en-US" sz="720" dirty="0"/>
          </a:p>
        </p:txBody>
      </p:sp>
      <p:sp>
        <p:nvSpPr>
          <p:cNvPr id="56" name="Shape 54"/>
          <p:cNvSpPr/>
          <p:nvPr/>
        </p:nvSpPr>
        <p:spPr>
          <a:xfrm>
            <a:off x="9573768" y="5641848"/>
            <a:ext cx="658368" cy="31089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DDE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628632" y="569214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60708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k6</a:t>
            </a:r>
            <a:endParaRPr lang="en-US" sz="720" dirty="0"/>
          </a:p>
        </p:txBody>
      </p:sp>
      <p:sp>
        <p:nvSpPr>
          <p:cNvPr id="58" name="Shape 56"/>
          <p:cNvSpPr/>
          <p:nvPr/>
        </p:nvSpPr>
        <p:spPr>
          <a:xfrm>
            <a:off x="10323576" y="5641848"/>
            <a:ext cx="914400" cy="31089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DDE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378440" y="5692140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60708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Prometheus</a:t>
            </a:r>
            <a:endParaRPr lang="en-US" sz="720" dirty="0"/>
          </a:p>
        </p:txBody>
      </p:sp>
      <p:sp>
        <p:nvSpPr>
          <p:cNvPr id="60" name="Shape 58"/>
          <p:cNvSpPr/>
          <p:nvPr/>
        </p:nvSpPr>
        <p:spPr>
          <a:xfrm>
            <a:off x="502920" y="6035040"/>
            <a:ext cx="771754" cy="31089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DDE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57784" y="6085332"/>
            <a:ext cx="66202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60708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Grafana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8793A5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F8A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CASE 01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6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JT친애저축은행 | 금융권 인프라 운영과 규제 대응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6400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8793A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2023.01–2024.01 · 전산부 인프라 운영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2761488" cy="4526280"/>
          </a:xfrm>
          <a:prstGeom prst="roundRect">
            <a:avLst>
              <a:gd name="adj" fmla="val 2649"/>
            </a:avLst>
          </a:prstGeom>
          <a:solidFill>
            <a:srgbClr val="101722"/>
          </a:solidFill>
          <a:ln w="10160">
            <a:solidFill>
              <a:srgbClr val="2633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51790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8A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FINANCIAL INFRA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49808" y="1847088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엄격한 규제 환경에서도</a:t>
            </a:r>
            <a:endParaRPr lang="en-US" sz="1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장애를 빠르게 복구하고</a:t>
            </a:r>
            <a:endParaRPr lang="en-US" sz="1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운영 품질을 유지하는 체계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49808" y="3154680"/>
            <a:ext cx="1051560" cy="804672"/>
          </a:xfrm>
          <a:prstGeom prst="roundRect">
            <a:avLst>
              <a:gd name="adj" fmla="val 9091"/>
            </a:avLst>
          </a:prstGeom>
          <a:solidFill>
            <a:srgbClr val="1B2636"/>
          </a:solidFill>
          <a:ln w="10160">
            <a:solidFill>
              <a:srgbClr val="E0E6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7824" y="3319272"/>
            <a:ext cx="329184" cy="329184"/>
          </a:xfrm>
          <a:prstGeom prst="round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16736" y="3282696"/>
            <a:ext cx="374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6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100+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316736" y="3611880"/>
            <a:ext cx="374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0708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서버</a:t>
            </a:r>
            <a:endParaRPr lang="en-US" sz="740" dirty="0"/>
          </a:p>
        </p:txBody>
      </p:sp>
      <p:sp>
        <p:nvSpPr>
          <p:cNvPr id="12" name="Shape 10"/>
          <p:cNvSpPr/>
          <p:nvPr/>
        </p:nvSpPr>
        <p:spPr>
          <a:xfrm>
            <a:off x="1901952" y="3154680"/>
            <a:ext cx="1051560" cy="804672"/>
          </a:xfrm>
          <a:prstGeom prst="roundRect">
            <a:avLst>
              <a:gd name="adj" fmla="val 9091"/>
            </a:avLst>
          </a:prstGeom>
          <a:solidFill>
            <a:srgbClr val="1B2636"/>
          </a:solidFill>
          <a:ln w="10160">
            <a:solidFill>
              <a:srgbClr val="E0E6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29968" y="3319272"/>
            <a:ext cx="329184" cy="329184"/>
          </a:xfrm>
          <a:prstGeom prst="roundRect">
            <a:avLst/>
          </a:prstGeom>
          <a:solidFill>
            <a:srgbClr val="14A673"/>
          </a:solidFill>
          <a:ln w="12700">
            <a:solidFill>
              <a:srgbClr val="14A67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68880" y="3282696"/>
            <a:ext cx="374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6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140+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468880" y="3611880"/>
            <a:ext cx="374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0708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네트워크</a:t>
            </a:r>
            <a:endParaRPr lang="en-US" sz="740" dirty="0"/>
          </a:p>
        </p:txBody>
      </p:sp>
      <p:sp>
        <p:nvSpPr>
          <p:cNvPr id="16" name="Shape 14"/>
          <p:cNvSpPr/>
          <p:nvPr/>
        </p:nvSpPr>
        <p:spPr>
          <a:xfrm>
            <a:off x="749808" y="4206240"/>
            <a:ext cx="987552" cy="310896"/>
          </a:xfrm>
          <a:prstGeom prst="roundRect">
            <a:avLst/>
          </a:prstGeom>
          <a:solidFill>
            <a:srgbClr val="28364A"/>
          </a:solidFill>
          <a:ln w="7620">
            <a:solidFill>
              <a:srgbClr val="3B4B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4256532"/>
            <a:ext cx="877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E7ED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금융감독원</a:t>
            </a:r>
            <a:endParaRPr lang="en-US" sz="720" dirty="0"/>
          </a:p>
        </p:txBody>
      </p:sp>
      <p:sp>
        <p:nvSpPr>
          <p:cNvPr id="18" name="Shape 16"/>
          <p:cNvSpPr/>
          <p:nvPr/>
        </p:nvSpPr>
        <p:spPr>
          <a:xfrm>
            <a:off x="1828800" y="4206240"/>
            <a:ext cx="987552" cy="310896"/>
          </a:xfrm>
          <a:prstGeom prst="roundRect">
            <a:avLst/>
          </a:prstGeom>
          <a:solidFill>
            <a:srgbClr val="28364A"/>
          </a:solidFill>
          <a:ln w="7620">
            <a:solidFill>
              <a:srgbClr val="3B4B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83664" y="4256532"/>
            <a:ext cx="877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E7ED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금융보안원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749808" y="48006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8A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관점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49808" y="510235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DDE6F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장애 대응을 개인의 경험이 아닌</a:t>
            </a:r>
            <a:endParaRPr lang="en-US" sz="1030" dirty="0"/>
          </a:p>
          <a:p>
            <a:pPr indent="0" marL="0">
              <a:buNone/>
            </a:pPr>
            <a:r>
              <a:rPr lang="en-US" sz="1030" b="1" dirty="0">
                <a:solidFill>
                  <a:srgbClr val="DDE6F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표준화된 절차와 증적으로 전환</a:t>
            </a:r>
            <a:endParaRPr lang="en-US" sz="1030" dirty="0"/>
          </a:p>
        </p:txBody>
      </p:sp>
      <p:sp>
        <p:nvSpPr>
          <p:cNvPr id="22" name="Shape 20"/>
          <p:cNvSpPr/>
          <p:nvPr/>
        </p:nvSpPr>
        <p:spPr>
          <a:xfrm>
            <a:off x="3547872" y="1234440"/>
            <a:ext cx="3703320" cy="1700784"/>
          </a:xfrm>
          <a:prstGeom prst="roundRect">
            <a:avLst>
              <a:gd name="adj" fmla="val 4301"/>
            </a:avLst>
          </a:prstGeom>
          <a:solidFill>
            <a:srgbClr val="EAF0FF"/>
          </a:solidFill>
          <a:ln w="10160">
            <a:solidFill>
              <a:srgbClr val="DFE6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12464" y="1408176"/>
            <a:ext cx="347472" cy="347472"/>
          </a:xfrm>
          <a:prstGeom prst="round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12464" y="1476756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187952" y="1399032"/>
            <a:ext cx="2898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6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안정성 운영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3730752" y="1828800"/>
            <a:ext cx="33375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백업·보안·이중화·가상화·모니터링 솔루션을 운영해 시스템 성능과 가용성을 관리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562088" y="1234440"/>
            <a:ext cx="3703320" cy="1700784"/>
          </a:xfrm>
          <a:prstGeom prst="roundRect">
            <a:avLst>
              <a:gd name="adj" fmla="val 4301"/>
            </a:avLst>
          </a:prstGeom>
          <a:solidFill>
            <a:srgbClr val="E8F8F1"/>
          </a:solidFill>
          <a:ln w="10160">
            <a:solidFill>
              <a:srgbClr val="DFE6E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26680" y="1408176"/>
            <a:ext cx="347472" cy="347472"/>
          </a:xfrm>
          <a:prstGeom prst="roundRect">
            <a:avLst/>
          </a:prstGeom>
          <a:solidFill>
            <a:srgbClr val="14A673"/>
          </a:solidFill>
          <a:ln w="12700">
            <a:solidFill>
              <a:srgbClr val="14A67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26680" y="1476756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8202168" y="1399032"/>
            <a:ext cx="2898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6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감사·규제 대응</a:t>
            </a:r>
            <a:endParaRPr lang="en-US" sz="1220" dirty="0"/>
          </a:p>
        </p:txBody>
      </p:sp>
      <p:sp>
        <p:nvSpPr>
          <p:cNvPr id="31" name="Text 29"/>
          <p:cNvSpPr/>
          <p:nvPr/>
        </p:nvSpPr>
        <p:spPr>
          <a:xfrm>
            <a:off x="7744968" y="1828800"/>
            <a:ext cx="33375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구성과 관리 기준을 점검하고 장애·오류에 즉시 대응할 수 있도록 운영체계와 절차를 정비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547872" y="3227832"/>
            <a:ext cx="3703320" cy="1700784"/>
          </a:xfrm>
          <a:prstGeom prst="roundRect">
            <a:avLst>
              <a:gd name="adj" fmla="val 4301"/>
            </a:avLst>
          </a:prstGeom>
          <a:solidFill>
            <a:srgbClr val="FFF1DF"/>
          </a:solidFill>
          <a:ln w="10160">
            <a:solidFill>
              <a:srgbClr val="DFE6E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712464" y="3401568"/>
            <a:ext cx="347472" cy="347472"/>
          </a:xfrm>
          <a:prstGeom prst="roundRect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12464" y="3470148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187952" y="3392424"/>
            <a:ext cx="2898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6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현업 프로세스 개선</a:t>
            </a:r>
            <a:endParaRPr lang="en-US" sz="1220" dirty="0"/>
          </a:p>
        </p:txBody>
      </p:sp>
      <p:sp>
        <p:nvSpPr>
          <p:cNvPr id="36" name="Text 34"/>
          <p:cNvSpPr/>
          <p:nvPr/>
        </p:nvSpPr>
        <p:spPr>
          <a:xfrm>
            <a:off x="3730752" y="3822192"/>
            <a:ext cx="33375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콜 인프라를 직접 운영하며 부족한 기능과 업무 흐름을 보완해 사용자 지원 수준을 향상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562088" y="3227832"/>
            <a:ext cx="3703320" cy="1700784"/>
          </a:xfrm>
          <a:prstGeom prst="roundRect">
            <a:avLst>
              <a:gd name="adj" fmla="val 4301"/>
            </a:avLst>
          </a:prstGeom>
          <a:solidFill>
            <a:srgbClr val="F0ECFF"/>
          </a:solidFill>
          <a:ln w="10160">
            <a:solidFill>
              <a:srgbClr val="DFE6E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726680" y="3401568"/>
            <a:ext cx="347472" cy="347472"/>
          </a:xfrm>
          <a:prstGeom prst="roundRect">
            <a:avLst/>
          </a:prstGeom>
          <a:solidFill>
            <a:srgbClr val="7A55E8"/>
          </a:solidFill>
          <a:ln w="12700">
            <a:solidFill>
              <a:srgbClr val="7A55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26680" y="3470148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8202168" y="3392424"/>
            <a:ext cx="2898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6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표준화·기획</a:t>
            </a:r>
            <a:endParaRPr lang="en-US" sz="1220" dirty="0"/>
          </a:p>
        </p:txBody>
      </p:sp>
      <p:sp>
        <p:nvSpPr>
          <p:cNvPr id="41" name="Text 39"/>
          <p:cNvSpPr/>
          <p:nvPr/>
        </p:nvSpPr>
        <p:spPr>
          <a:xfrm>
            <a:off x="7744968" y="3822192"/>
            <a:ext cx="33375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금융기반시설 안정성 사업과 신기술 도입 시 정책·규정·기술·비용을 함께 검토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547872" y="5376672"/>
            <a:ext cx="7717536" cy="603504"/>
          </a:xfrm>
          <a:prstGeom prst="roundRect">
            <a:avLst>
              <a:gd name="adj" fmla="val 12121"/>
            </a:avLst>
          </a:prstGeom>
          <a:solidFill>
            <a:srgbClr val="FFF2E1"/>
          </a:solidFill>
          <a:ln w="10160">
            <a:solidFill>
              <a:srgbClr val="FFF2E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547872" y="5376672"/>
            <a:ext cx="73152" cy="603504"/>
          </a:xfrm>
          <a:prstGeom prst="rect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767328" y="5486400"/>
            <a:ext cx="7370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6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성과의 핵심: “문제가 생기면 누가 해결할지”가 아니라, 누구나 같은 기준으로 대응할 수 있는 운영체계를 만드는 것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8793A5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F8A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CASE 02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6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스케쳐스코리아 | 독립 법인 IT 인프라 Zero-to-One 구축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6400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8793A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2016.10–2021.07 · IT 인프라 총괄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11183112" cy="621792"/>
          </a:xfrm>
          <a:prstGeom prst="roundRect">
            <a:avLst>
              <a:gd name="adj" fmla="val 11765"/>
            </a:avLst>
          </a:prstGeom>
          <a:solidFill>
            <a:srgbClr val="101722"/>
          </a:solidFill>
          <a:ln w="10160">
            <a:solidFill>
              <a:srgbClr val="1017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26464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법인 출범에 필요한 기반 환경을 처음부터 설계하고, 구축 이후 안정화와 고도화까지 책임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084832"/>
            <a:ext cx="2587752" cy="3264408"/>
          </a:xfrm>
          <a:prstGeom prst="roundRect">
            <a:avLst>
              <a:gd name="adj" fmla="val 2827"/>
            </a:avLst>
          </a:prstGeom>
          <a:solidFill>
            <a:srgbClr val="FFFFFF"/>
          </a:solidFill>
          <a:ln w="10160">
            <a:solidFill>
              <a:srgbClr val="DFE6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7512" y="2286000"/>
            <a:ext cx="420624" cy="420624"/>
          </a:xfrm>
          <a:prstGeom prst="round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2386584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207008" y="230428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F6B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IT FOUNDATION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67512" y="2871216"/>
            <a:ext cx="2249424" cy="0"/>
          </a:xfrm>
          <a:prstGeom prst="line">
            <a:avLst/>
          </a:prstGeom>
          <a:noFill/>
          <a:ln w="10160">
            <a:solidFill>
              <a:srgbClr val="DCE3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172968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090672"/>
            <a:ext cx="2029968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0708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Server · Network · Security 장비 도입·구성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85800" y="3697224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614928"/>
            <a:ext cx="2029968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0708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IDC·백업 정책과 운영환경 구축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85800" y="4221480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139184"/>
            <a:ext cx="2029968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0708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PC·NAS·Software 사용자 환경 구성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67512" y="4901184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793A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구축 기반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319272" y="2084832"/>
            <a:ext cx="2587752" cy="3264408"/>
          </a:xfrm>
          <a:prstGeom prst="roundRect">
            <a:avLst>
              <a:gd name="adj" fmla="val 2827"/>
            </a:avLst>
          </a:prstGeom>
          <a:solidFill>
            <a:srgbClr val="FFFFFF"/>
          </a:solidFill>
          <a:ln w="10160">
            <a:solidFill>
              <a:srgbClr val="DFE6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83864" y="2286000"/>
            <a:ext cx="420624" cy="420624"/>
          </a:xfrm>
          <a:prstGeom prst="roundRect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83864" y="2386584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023360" y="230428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8A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BUSINESS APPS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483864" y="2871216"/>
            <a:ext cx="2249424" cy="0"/>
          </a:xfrm>
          <a:prstGeom prst="line">
            <a:avLst/>
          </a:prstGeom>
          <a:noFill/>
          <a:ln w="10160">
            <a:solidFill>
              <a:srgbClr val="DCE3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02152" y="3172968"/>
            <a:ext cx="91440" cy="91440"/>
          </a:xfrm>
          <a:prstGeom prst="ellipse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85032" y="3090672"/>
            <a:ext cx="2029968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0708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ERP · 그룹웨어 · 메일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502152" y="3697224"/>
            <a:ext cx="91440" cy="91440"/>
          </a:xfrm>
          <a:prstGeom prst="ellipse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85032" y="3614928"/>
            <a:ext cx="2029968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0708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자사몰 · 홈페이지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502152" y="4221480"/>
            <a:ext cx="91440" cy="91440"/>
          </a:xfrm>
          <a:prstGeom prst="ellipse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85032" y="4139184"/>
            <a:ext cx="2029968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0708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CRM · WMS 등 핵심 업무시스템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483864" y="4901184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793A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업무 개시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135624" y="2084832"/>
            <a:ext cx="2587752" cy="3264408"/>
          </a:xfrm>
          <a:prstGeom prst="roundRect">
            <a:avLst>
              <a:gd name="adj" fmla="val 2827"/>
            </a:avLst>
          </a:prstGeom>
          <a:solidFill>
            <a:srgbClr val="FFFFFF"/>
          </a:solidFill>
          <a:ln w="10160">
            <a:solidFill>
              <a:srgbClr val="DFE6E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00216" y="2286000"/>
            <a:ext cx="420624" cy="420624"/>
          </a:xfrm>
          <a:prstGeom prst="roundRect">
            <a:avLst/>
          </a:prstGeom>
          <a:solidFill>
            <a:srgbClr val="14A673"/>
          </a:solidFill>
          <a:ln w="12700">
            <a:solidFill>
              <a:srgbClr val="14A67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0216" y="2386584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6839712" y="230428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4A6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SECURITY OPS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300216" y="2871216"/>
            <a:ext cx="2249424" cy="0"/>
          </a:xfrm>
          <a:prstGeom prst="line">
            <a:avLst/>
          </a:prstGeom>
          <a:noFill/>
          <a:ln w="10160">
            <a:solidFill>
              <a:srgbClr val="DCE3E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18504" y="3172968"/>
            <a:ext cx="91440" cy="91440"/>
          </a:xfrm>
          <a:prstGeom prst="ellipse">
            <a:avLst/>
          </a:prstGeom>
          <a:solidFill>
            <a:srgbClr val="14A673"/>
          </a:solidFill>
          <a:ln w="12700">
            <a:solidFill>
              <a:srgbClr val="14A67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01384" y="3090672"/>
            <a:ext cx="2029968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0708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서버·네트워크 취약점 점검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318504" y="3697224"/>
            <a:ext cx="91440" cy="91440"/>
          </a:xfrm>
          <a:prstGeom prst="ellipse">
            <a:avLst/>
          </a:prstGeom>
          <a:solidFill>
            <a:srgbClr val="14A673"/>
          </a:solidFill>
          <a:ln w="12700">
            <a:solidFill>
              <a:srgbClr val="14A67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01384" y="3614928"/>
            <a:ext cx="2029968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0708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보안관제 환경 구성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318504" y="4221480"/>
            <a:ext cx="91440" cy="91440"/>
          </a:xfrm>
          <a:prstGeom prst="ellipse">
            <a:avLst/>
          </a:prstGeom>
          <a:solidFill>
            <a:srgbClr val="14A673"/>
          </a:solidFill>
          <a:ln w="12700">
            <a:solidFill>
              <a:srgbClr val="14A67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01384" y="4139184"/>
            <a:ext cx="2029968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0708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장애·침해사고 대응 절차와 보안전략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300216" y="4901184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793A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운영 안정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8951976" y="2084832"/>
            <a:ext cx="2587752" cy="3264408"/>
          </a:xfrm>
          <a:prstGeom prst="roundRect">
            <a:avLst>
              <a:gd name="adj" fmla="val 2827"/>
            </a:avLst>
          </a:prstGeom>
          <a:solidFill>
            <a:srgbClr val="FFFFFF"/>
          </a:solidFill>
          <a:ln w="10160">
            <a:solidFill>
              <a:srgbClr val="DFE6E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116568" y="2286000"/>
            <a:ext cx="420624" cy="420624"/>
          </a:xfrm>
          <a:prstGeom prst="roundRect">
            <a:avLst/>
          </a:prstGeom>
          <a:solidFill>
            <a:srgbClr val="7A55E8"/>
          </a:solidFill>
          <a:ln w="12700">
            <a:solidFill>
              <a:srgbClr val="7A55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116568" y="2386584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9656064" y="230428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7A55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IT GOVERNANCE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9116568" y="2871216"/>
            <a:ext cx="2249424" cy="0"/>
          </a:xfrm>
          <a:prstGeom prst="line">
            <a:avLst/>
          </a:prstGeom>
          <a:noFill/>
          <a:ln w="10160">
            <a:solidFill>
              <a:srgbClr val="DCE3E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134856" y="3172968"/>
            <a:ext cx="91440" cy="91440"/>
          </a:xfrm>
          <a:prstGeom prst="ellipse">
            <a:avLst/>
          </a:prstGeom>
          <a:solidFill>
            <a:srgbClr val="7A55E8"/>
          </a:solidFill>
          <a:ln w="12700">
            <a:solidFill>
              <a:srgbClr val="7A55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317736" y="3090672"/>
            <a:ext cx="2029968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0708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신규 사업 기술 검토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9134856" y="3697224"/>
            <a:ext cx="91440" cy="91440"/>
          </a:xfrm>
          <a:prstGeom prst="ellipse">
            <a:avLst/>
          </a:prstGeom>
          <a:solidFill>
            <a:srgbClr val="7A55E8"/>
          </a:solidFill>
          <a:ln w="12700">
            <a:solidFill>
              <a:srgbClr val="7A55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317736" y="3614928"/>
            <a:ext cx="2029968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0708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IT 계약 적정성 검토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9134856" y="4221480"/>
            <a:ext cx="91440" cy="91440"/>
          </a:xfrm>
          <a:prstGeom prst="ellipse">
            <a:avLst/>
          </a:prstGeom>
          <a:solidFill>
            <a:srgbClr val="7A55E8"/>
          </a:solidFill>
          <a:ln w="12700">
            <a:solidFill>
              <a:srgbClr val="7A55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317736" y="4139184"/>
            <a:ext cx="2029968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0708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통합·분리 방안과 운영전략 수립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9116568" y="4901184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793A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지속 개선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502920" y="5605272"/>
            <a:ext cx="11183112" cy="539496"/>
          </a:xfrm>
          <a:prstGeom prst="roundRect">
            <a:avLst>
              <a:gd name="adj" fmla="val 13559"/>
            </a:avLst>
          </a:prstGeom>
          <a:solidFill>
            <a:srgbClr val="EAF8F2"/>
          </a:solidFill>
          <a:ln w="10160">
            <a:solidFill>
              <a:srgbClr val="EAF8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02920" y="5605272"/>
            <a:ext cx="73152" cy="539496"/>
          </a:xfrm>
          <a:prstGeom prst="rect">
            <a:avLst/>
          </a:prstGeom>
          <a:solidFill>
            <a:srgbClr val="14A673"/>
          </a:solidFill>
          <a:ln w="12700">
            <a:solidFill>
              <a:srgbClr val="14A67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22376" y="5715000"/>
            <a:ext cx="10835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6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결과: 신규 법인이 업무를 시작할 수 있는 전체 IT 환경을 구축하고, 취약점 보완과 운영 표준화를 통해 안정적인 성장 기반을 마련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8793A5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F8A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CASE 03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6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LS네트웍스 | 대기업 엔터프라이즈 인프라 전 영역 운영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6400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8793A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2002.01–2016.10 · 정보혁신팀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1207008"/>
            <a:ext cx="22402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160">
            <a:solidFill>
              <a:srgbClr val="E0E6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" y="1371600"/>
            <a:ext cx="329184" cy="329184"/>
          </a:xfrm>
          <a:prstGeom prst="round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9848" y="1335024"/>
            <a:ext cx="1563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6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14년 10개월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69848" y="1664208"/>
            <a:ext cx="1563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0708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장기 근속·조직 적응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862072" y="1207008"/>
            <a:ext cx="22402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160">
            <a:solidFill>
              <a:srgbClr val="E0E6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90088" y="1371600"/>
            <a:ext cx="329184" cy="329184"/>
          </a:xfrm>
          <a:prstGeom prst="roundRect">
            <a:avLst/>
          </a:prstGeom>
          <a:solidFill>
            <a:srgbClr val="14A673"/>
          </a:solidFill>
          <a:ln w="12700">
            <a:solidFill>
              <a:srgbClr val="14A6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1335024"/>
            <a:ext cx="1563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6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54대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429000" y="1664208"/>
            <a:ext cx="1563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0708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Windows·UNIX·Linux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5221224" y="1207008"/>
            <a:ext cx="22402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160">
            <a:solidFill>
              <a:srgbClr val="E0E6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49240" y="1371600"/>
            <a:ext cx="329184" cy="329184"/>
          </a:xfrm>
          <a:prstGeom prst="roundRect">
            <a:avLst/>
          </a:prstGeom>
          <a:solidFill>
            <a:srgbClr val="7A55E8"/>
          </a:solidFill>
          <a:ln w="12700">
            <a:solidFill>
              <a:srgbClr val="7A55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88152" y="1335024"/>
            <a:ext cx="1563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6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FW·WAF·VPN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788152" y="1664208"/>
            <a:ext cx="1563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0708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네트워크 보안 장비</a:t>
            </a:r>
            <a:endParaRPr lang="en-US" sz="740" dirty="0"/>
          </a:p>
        </p:txBody>
      </p:sp>
      <p:sp>
        <p:nvSpPr>
          <p:cNvPr id="17" name="Shape 15"/>
          <p:cNvSpPr/>
          <p:nvPr/>
        </p:nvSpPr>
        <p:spPr>
          <a:xfrm>
            <a:off x="7580376" y="1207008"/>
            <a:ext cx="22402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160">
            <a:solidFill>
              <a:srgbClr val="E0E6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08392" y="1371600"/>
            <a:ext cx="329184" cy="329184"/>
          </a:xfrm>
          <a:prstGeom prst="roundRect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47304" y="1335024"/>
            <a:ext cx="1563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6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30여건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147304" y="1664208"/>
            <a:ext cx="1563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0708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IT 운영 계약 관리</a:t>
            </a:r>
            <a:endParaRPr lang="en-US" sz="740" dirty="0"/>
          </a:p>
        </p:txBody>
      </p:sp>
      <p:sp>
        <p:nvSpPr>
          <p:cNvPr id="21" name="Shape 19"/>
          <p:cNvSpPr/>
          <p:nvPr/>
        </p:nvSpPr>
        <p:spPr>
          <a:xfrm>
            <a:off x="9939528" y="1207008"/>
            <a:ext cx="1746504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160">
            <a:solidFill>
              <a:srgbClr val="E0E6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067544" y="1371600"/>
            <a:ext cx="329184" cy="329184"/>
          </a:xfrm>
          <a:prstGeom prst="roundRect">
            <a:avLst/>
          </a:prstGeom>
          <a:solidFill>
            <a:srgbClr val="E0A31A"/>
          </a:solidFill>
          <a:ln w="12700">
            <a:solidFill>
              <a:srgbClr val="E0A3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06456" y="1335024"/>
            <a:ext cx="1069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6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SAP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0506456" y="1664208"/>
            <a:ext cx="1069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0708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Basis 운영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502920" y="2432304"/>
            <a:ext cx="11183112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0160">
            <a:solidFill>
              <a:srgbClr val="DFE6E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2523744"/>
            <a:ext cx="1024128" cy="310896"/>
          </a:xfrm>
          <a:prstGeom prst="roundRect">
            <a:avLst/>
          </a:prstGeom>
          <a:solidFill>
            <a:srgbClr val="EAF0FF"/>
          </a:solidFill>
          <a:ln w="7620">
            <a:solidFill>
              <a:srgbClr val="2F6B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4944" y="2596896"/>
            <a:ext cx="9509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F6B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SYSTEM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920240" y="2542032"/>
            <a:ext cx="9400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6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Windows 25대 · UNIX 20대 · Linux 9대 도입·구성·통합 운영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502920" y="3090672"/>
            <a:ext cx="11183112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0160">
            <a:solidFill>
              <a:srgbClr val="DFE6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8368" y="3182112"/>
            <a:ext cx="1024128" cy="310896"/>
          </a:xfrm>
          <a:prstGeom prst="roundRect">
            <a:avLst/>
          </a:prstGeom>
          <a:solidFill>
            <a:srgbClr val="FFF1DF"/>
          </a:solidFill>
          <a:ln w="7620">
            <a:solidFill>
              <a:srgbClr val="FF8A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4944" y="3255264"/>
            <a:ext cx="9509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8A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NETWORK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920240" y="3200400"/>
            <a:ext cx="9400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6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Backbone · L3 · L4 · LAN · 전용회선 구성 및 장애 대응</a:t>
            </a:r>
            <a:endParaRPr lang="en-US" sz="1020" dirty="0"/>
          </a:p>
        </p:txBody>
      </p:sp>
      <p:sp>
        <p:nvSpPr>
          <p:cNvPr id="33" name="Shape 31"/>
          <p:cNvSpPr/>
          <p:nvPr/>
        </p:nvSpPr>
        <p:spPr>
          <a:xfrm>
            <a:off x="502920" y="3749040"/>
            <a:ext cx="11183112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0160">
            <a:solidFill>
              <a:srgbClr val="DFE6E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8368" y="3840480"/>
            <a:ext cx="1024128" cy="310896"/>
          </a:xfrm>
          <a:prstGeom prst="roundRect">
            <a:avLst/>
          </a:prstGeom>
          <a:solidFill>
            <a:srgbClr val="E8F8F1"/>
          </a:solidFill>
          <a:ln w="7620">
            <a:solidFill>
              <a:srgbClr val="14A67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4944" y="3913632"/>
            <a:ext cx="9509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4A6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SECURITY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920240" y="3858768"/>
            <a:ext cx="9400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6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Firewall · WAF · SSL VPN 운영, IT 회계·보안 감사와 미비점 개선</a:t>
            </a:r>
            <a:endParaRPr lang="en-US" sz="1020" dirty="0"/>
          </a:p>
        </p:txBody>
      </p:sp>
      <p:sp>
        <p:nvSpPr>
          <p:cNvPr id="37" name="Shape 35"/>
          <p:cNvSpPr/>
          <p:nvPr/>
        </p:nvSpPr>
        <p:spPr>
          <a:xfrm>
            <a:off x="502920" y="4407408"/>
            <a:ext cx="11183112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0160">
            <a:solidFill>
              <a:srgbClr val="DFE6E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8368" y="4498848"/>
            <a:ext cx="1024128" cy="310896"/>
          </a:xfrm>
          <a:prstGeom prst="roundRect">
            <a:avLst/>
          </a:prstGeom>
          <a:solidFill>
            <a:srgbClr val="F0ECFF"/>
          </a:solidFill>
          <a:ln w="7620">
            <a:solidFill>
              <a:srgbClr val="7A55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4944" y="4572000"/>
            <a:ext cx="9509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A55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PLATFORM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1920240" y="4517136"/>
            <a:ext cx="9400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6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SAP Basis: User · CTS · Role · Menu · Backup · Tablespace 운영</a:t>
            </a:r>
            <a:endParaRPr lang="en-US" sz="1020" dirty="0"/>
          </a:p>
        </p:txBody>
      </p:sp>
      <p:sp>
        <p:nvSpPr>
          <p:cNvPr id="41" name="Shape 39"/>
          <p:cNvSpPr/>
          <p:nvPr/>
        </p:nvSpPr>
        <p:spPr>
          <a:xfrm>
            <a:off x="502920" y="5065776"/>
            <a:ext cx="11183112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0160">
            <a:solidFill>
              <a:srgbClr val="DFE6E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58368" y="5157216"/>
            <a:ext cx="1024128" cy="310896"/>
          </a:xfrm>
          <a:prstGeom prst="roundRect">
            <a:avLst/>
          </a:prstGeom>
          <a:solidFill>
            <a:srgbClr val="FFF7D9"/>
          </a:solidFill>
          <a:ln w="7620">
            <a:solidFill>
              <a:srgbClr val="E0A31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4944" y="5230368"/>
            <a:ext cx="9509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0A3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PLANNING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1920240" y="5175504"/>
            <a:ext cx="9400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6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중장기 프로젝트·예산 수립·집행, 약 30개의 IT 운영 계약 관리</a:t>
            </a:r>
            <a:endParaRPr lang="en-US" sz="1020" dirty="0"/>
          </a:p>
        </p:txBody>
      </p:sp>
      <p:sp>
        <p:nvSpPr>
          <p:cNvPr id="45" name="Shape 43"/>
          <p:cNvSpPr/>
          <p:nvPr/>
        </p:nvSpPr>
        <p:spPr>
          <a:xfrm>
            <a:off x="502920" y="5870448"/>
            <a:ext cx="11183112" cy="438912"/>
          </a:xfrm>
          <a:prstGeom prst="roundRect">
            <a:avLst>
              <a:gd name="adj" fmla="val 16667"/>
            </a:avLst>
          </a:prstGeom>
          <a:solidFill>
            <a:srgbClr val="EAF0FF"/>
          </a:solidFill>
          <a:ln w="10160">
            <a:solidFill>
              <a:srgbClr val="EAF0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02920" y="5870448"/>
            <a:ext cx="73152" cy="438912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22376" y="5980176"/>
            <a:ext cx="10835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6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장기간 대기업 환경에서 기술·운영·계약·현업을 연결하며, 변화가 큰 조직에서도 안정적인 서비스 기반을 유지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8793A5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F8A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MONITORING GROWTH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6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Agent QA &amp; Monitoring 교육 프로젝트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6400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8793A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2026.07 · 교육용 시범 프로젝트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9893808" y="292608"/>
            <a:ext cx="1783080" cy="310896"/>
          </a:xfrm>
          <a:prstGeom prst="roundRect">
            <a:avLst/>
          </a:prstGeom>
          <a:solidFill>
            <a:srgbClr val="F0ECFF"/>
          </a:solidFill>
          <a:ln w="7620">
            <a:solidFill>
              <a:srgbClr val="DCC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48672" y="342900"/>
            <a:ext cx="1673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7A55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교육 프로젝트</a:t>
            </a:r>
            <a:endParaRPr lang="en-US" sz="820" dirty="0"/>
          </a:p>
        </p:txBody>
      </p:sp>
      <p:sp>
        <p:nvSpPr>
          <p:cNvPr id="7" name="Shape 5"/>
          <p:cNvSpPr/>
          <p:nvPr/>
        </p:nvSpPr>
        <p:spPr>
          <a:xfrm>
            <a:off x="502920" y="1252728"/>
            <a:ext cx="1618488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2648" y="1399032"/>
            <a:ext cx="310896" cy="310896"/>
          </a:xfrm>
          <a:prstGeom prst="roundRect">
            <a:avLst/>
          </a:prstGeom>
          <a:solidFill>
            <a:srgbClr val="101722"/>
          </a:solidFill>
          <a:ln w="12700">
            <a:solidFill>
              <a:srgbClr val="1017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" y="1481328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987552" y="140817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6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Agent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2148840" y="1444752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793A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395728" y="1252728"/>
            <a:ext cx="1618488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05456" y="1399032"/>
            <a:ext cx="310896" cy="310896"/>
          </a:xfrm>
          <a:prstGeom prst="roundRect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05456" y="1481328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880360" y="140817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6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k6 Load Test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4041648" y="1444752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793A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288536" y="1252728"/>
            <a:ext cx="1618488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98264" y="1399032"/>
            <a:ext cx="310896" cy="310896"/>
          </a:xfrm>
          <a:prstGeom prst="round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98264" y="1481328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4773168" y="140817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6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Prometheus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5934456" y="1444752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793A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81344" y="1252728"/>
            <a:ext cx="1618488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91072" y="1399032"/>
            <a:ext cx="310896" cy="310896"/>
          </a:xfrm>
          <a:prstGeom prst="roundRect">
            <a:avLst/>
          </a:prstGeom>
          <a:solidFill>
            <a:srgbClr val="7A55E8"/>
          </a:solidFill>
          <a:ln w="12700">
            <a:solidFill>
              <a:srgbClr val="7A55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91072" y="1481328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6665976" y="140817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6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Grafana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7827264" y="1444752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793A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074152" y="1252728"/>
            <a:ext cx="1618488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1399032"/>
            <a:ext cx="310896" cy="310896"/>
          </a:xfrm>
          <a:prstGeom prst="roundRect">
            <a:avLst/>
          </a:prstGeom>
          <a:solidFill>
            <a:srgbClr val="14A673"/>
          </a:solidFill>
          <a:ln w="12700">
            <a:solidFill>
              <a:srgbClr val="14A67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83880" y="1481328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8558784" y="140817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6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Analyze</a:t>
            </a:r>
            <a:endParaRPr lang="en-US" sz="880" dirty="0"/>
          </a:p>
        </p:txBody>
      </p:sp>
      <p:sp>
        <p:nvSpPr>
          <p:cNvPr id="31" name="Text 29"/>
          <p:cNvSpPr/>
          <p:nvPr/>
        </p:nvSpPr>
        <p:spPr>
          <a:xfrm>
            <a:off x="9720072" y="1444752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793A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966960" y="1252728"/>
            <a:ext cx="1618488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076688" y="1399032"/>
            <a:ext cx="310896" cy="310896"/>
          </a:xfrm>
          <a:prstGeom prst="roundRect">
            <a:avLst/>
          </a:prstGeom>
          <a:solidFill>
            <a:srgbClr val="E55353"/>
          </a:solidFill>
          <a:ln w="12700">
            <a:solidFill>
              <a:srgbClr val="E5535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076688" y="1481328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06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10451592" y="140817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6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Improve &amp; Retest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502920" y="2331720"/>
            <a:ext cx="1965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0160">
            <a:solidFill>
              <a:srgbClr val="E0E6E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0936" y="2496312"/>
            <a:ext cx="329184" cy="329184"/>
          </a:xfrm>
          <a:prstGeom prst="round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69848" y="2459736"/>
            <a:ext cx="1289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6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30건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1069848" y="2788920"/>
            <a:ext cx="1289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0708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총 테스트</a:t>
            </a:r>
            <a:endParaRPr lang="en-US" sz="740" dirty="0"/>
          </a:p>
        </p:txBody>
      </p:sp>
      <p:sp>
        <p:nvSpPr>
          <p:cNvPr id="40" name="Shape 38"/>
          <p:cNvSpPr/>
          <p:nvPr/>
        </p:nvSpPr>
        <p:spPr>
          <a:xfrm>
            <a:off x="2633472" y="2331720"/>
            <a:ext cx="1965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0160">
            <a:solidFill>
              <a:srgbClr val="E0E6E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61488" y="2496312"/>
            <a:ext cx="329184" cy="329184"/>
          </a:xfrm>
          <a:prstGeom prst="roundRect">
            <a:avLst/>
          </a:prstGeom>
          <a:solidFill>
            <a:srgbClr val="14A673"/>
          </a:solidFill>
          <a:ln w="12700">
            <a:solidFill>
              <a:srgbClr val="14A67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0" y="2459736"/>
            <a:ext cx="1289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6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27 / 3</a:t>
            </a:r>
            <a:endParaRPr lang="en-US" sz="1700" dirty="0"/>
          </a:p>
        </p:txBody>
      </p:sp>
      <p:sp>
        <p:nvSpPr>
          <p:cNvPr id="43" name="Text 41"/>
          <p:cNvSpPr/>
          <p:nvPr/>
        </p:nvSpPr>
        <p:spPr>
          <a:xfrm>
            <a:off x="3200400" y="2788920"/>
            <a:ext cx="1289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0708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Pass / Fail</a:t>
            </a:r>
            <a:endParaRPr lang="en-US" sz="740" dirty="0"/>
          </a:p>
        </p:txBody>
      </p:sp>
      <p:sp>
        <p:nvSpPr>
          <p:cNvPr id="44" name="Shape 42"/>
          <p:cNvSpPr/>
          <p:nvPr/>
        </p:nvSpPr>
        <p:spPr>
          <a:xfrm>
            <a:off x="4764024" y="2331720"/>
            <a:ext cx="1965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0160">
            <a:solidFill>
              <a:srgbClr val="E0E6E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892040" y="2496312"/>
            <a:ext cx="329184" cy="329184"/>
          </a:xfrm>
          <a:prstGeom prst="roundRect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30952" y="2459736"/>
            <a:ext cx="1289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6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1,200 → 845ms</a:t>
            </a:r>
            <a:endParaRPr lang="en-US" sz="1700" dirty="0"/>
          </a:p>
        </p:txBody>
      </p:sp>
      <p:sp>
        <p:nvSpPr>
          <p:cNvPr id="47" name="Text 45"/>
          <p:cNvSpPr/>
          <p:nvPr/>
        </p:nvSpPr>
        <p:spPr>
          <a:xfrm>
            <a:off x="5330952" y="2788920"/>
            <a:ext cx="1289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0708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p95 응답시간</a:t>
            </a:r>
            <a:endParaRPr lang="en-US" sz="740" dirty="0"/>
          </a:p>
        </p:txBody>
      </p:sp>
      <p:sp>
        <p:nvSpPr>
          <p:cNvPr id="48" name="Shape 46"/>
          <p:cNvSpPr/>
          <p:nvPr/>
        </p:nvSpPr>
        <p:spPr>
          <a:xfrm>
            <a:off x="6894576" y="2331720"/>
            <a:ext cx="1965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0160">
            <a:solidFill>
              <a:srgbClr val="E0E6E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022592" y="2496312"/>
            <a:ext cx="329184" cy="329184"/>
          </a:xfrm>
          <a:prstGeom prst="roundRect">
            <a:avLst/>
          </a:prstGeom>
          <a:solidFill>
            <a:srgbClr val="7A55E8"/>
          </a:solidFill>
          <a:ln w="12700">
            <a:solidFill>
              <a:srgbClr val="7A55E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461504" y="2459736"/>
            <a:ext cx="1289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6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6.3 → 2.0%</a:t>
            </a:r>
            <a:endParaRPr lang="en-US" sz="1700" dirty="0"/>
          </a:p>
        </p:txBody>
      </p:sp>
      <p:sp>
        <p:nvSpPr>
          <p:cNvPr id="51" name="Text 49"/>
          <p:cNvSpPr/>
          <p:nvPr/>
        </p:nvSpPr>
        <p:spPr>
          <a:xfrm>
            <a:off x="7461504" y="2788920"/>
            <a:ext cx="1289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0708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오류율</a:t>
            </a:r>
            <a:endParaRPr lang="en-US" sz="740" dirty="0"/>
          </a:p>
        </p:txBody>
      </p:sp>
      <p:sp>
        <p:nvSpPr>
          <p:cNvPr id="52" name="Shape 50"/>
          <p:cNvSpPr/>
          <p:nvPr/>
        </p:nvSpPr>
        <p:spPr>
          <a:xfrm>
            <a:off x="9025128" y="2331720"/>
            <a:ext cx="2660904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0160">
            <a:solidFill>
              <a:srgbClr val="E0E6E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153144" y="2496312"/>
            <a:ext cx="329184" cy="329184"/>
          </a:xfrm>
          <a:prstGeom prst="roundRect">
            <a:avLst/>
          </a:prstGeom>
          <a:solidFill>
            <a:srgbClr val="E55353"/>
          </a:solidFill>
          <a:ln w="12700">
            <a:solidFill>
              <a:srgbClr val="E5535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592056" y="2459736"/>
            <a:ext cx="1984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6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50VU PASS</a:t>
            </a:r>
            <a:endParaRPr lang="en-US" sz="1700" dirty="0"/>
          </a:p>
        </p:txBody>
      </p:sp>
      <p:sp>
        <p:nvSpPr>
          <p:cNvPr id="55" name="Text 53"/>
          <p:cNvSpPr/>
          <p:nvPr/>
        </p:nvSpPr>
        <p:spPr>
          <a:xfrm>
            <a:off x="9592056" y="2788920"/>
            <a:ext cx="1984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0708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100VU 추가 개선</a:t>
            </a:r>
            <a:endParaRPr lang="en-US" sz="740" dirty="0"/>
          </a:p>
        </p:txBody>
      </p:sp>
      <p:sp>
        <p:nvSpPr>
          <p:cNvPr id="56" name="Shape 54"/>
          <p:cNvSpPr/>
          <p:nvPr/>
        </p:nvSpPr>
        <p:spPr>
          <a:xfrm>
            <a:off x="502920" y="3611880"/>
            <a:ext cx="5166360" cy="1993392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0160">
            <a:solidFill>
              <a:srgbClr val="DFE6E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49808" y="3840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8A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주요 결함과 개선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49808" y="4288536"/>
            <a:ext cx="91440" cy="91440"/>
          </a:xfrm>
          <a:prstGeom prst="ellipse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32688" y="420624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60708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응답 지연: 100 VU 구간 p95 1,200ms</a:t>
            </a:r>
            <a:endParaRPr lang="en-US" sz="880" dirty="0"/>
          </a:p>
        </p:txBody>
      </p:sp>
      <p:sp>
        <p:nvSpPr>
          <p:cNvPr id="60" name="Shape 58"/>
          <p:cNvSpPr/>
          <p:nvPr/>
        </p:nvSpPr>
        <p:spPr>
          <a:xfrm>
            <a:off x="749808" y="4562856"/>
            <a:ext cx="91440" cy="91440"/>
          </a:xfrm>
          <a:prstGeom prst="ellipse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32688" y="448056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60708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메트릭 누락: Grafana 일부 패널 공백</a:t>
            </a:r>
            <a:endParaRPr lang="en-US" sz="880" dirty="0"/>
          </a:p>
        </p:txBody>
      </p:sp>
      <p:sp>
        <p:nvSpPr>
          <p:cNvPr id="62" name="Shape 60"/>
          <p:cNvSpPr/>
          <p:nvPr/>
        </p:nvSpPr>
        <p:spPr>
          <a:xfrm>
            <a:off x="749808" y="4837176"/>
            <a:ext cx="91440" cy="91440"/>
          </a:xfrm>
          <a:prstGeom prst="ellipse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32688" y="475488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60708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500 오류: 외부 API timeout 시 내부 예외</a:t>
            </a:r>
            <a:endParaRPr lang="en-US" sz="880" dirty="0"/>
          </a:p>
        </p:txBody>
      </p:sp>
      <p:sp>
        <p:nvSpPr>
          <p:cNvPr id="64" name="Shape 62"/>
          <p:cNvSpPr/>
          <p:nvPr/>
        </p:nvSpPr>
        <p:spPr>
          <a:xfrm>
            <a:off x="749808" y="5111496"/>
            <a:ext cx="91440" cy="91440"/>
          </a:xfrm>
          <a:prstGeom prst="ellipse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32688" y="50292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60708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예외 처리·metrics scrape·cache/connection pool·로그 정비 후 재시험</a:t>
            </a:r>
            <a:endParaRPr lang="en-US" sz="880" dirty="0"/>
          </a:p>
        </p:txBody>
      </p:sp>
      <p:sp>
        <p:nvSpPr>
          <p:cNvPr id="66" name="Shape 64"/>
          <p:cNvSpPr/>
          <p:nvPr/>
        </p:nvSpPr>
        <p:spPr>
          <a:xfrm>
            <a:off x="5870448" y="3611880"/>
            <a:ext cx="5815584" cy="1993392"/>
          </a:xfrm>
          <a:prstGeom prst="roundRect">
            <a:avLst>
              <a:gd name="adj" fmla="val 3670"/>
            </a:avLst>
          </a:prstGeom>
          <a:solidFill>
            <a:srgbClr val="101722"/>
          </a:solidFill>
          <a:ln w="10160">
            <a:solidFill>
              <a:srgbClr val="26334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144768" y="3840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8A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WHAT I LEARNED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6144768" y="422452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2F6B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Observability</a:t>
            </a:r>
            <a:endParaRPr lang="en-US" sz="820" dirty="0"/>
          </a:p>
        </p:txBody>
      </p:sp>
      <p:sp>
        <p:nvSpPr>
          <p:cNvPr id="69" name="Text 67"/>
          <p:cNvSpPr/>
          <p:nvPr/>
        </p:nvSpPr>
        <p:spPr>
          <a:xfrm>
            <a:off x="7296912" y="4224528"/>
            <a:ext cx="3950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D4DD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응답시간·오류율·수집 상태를 함께 본다</a:t>
            </a:r>
            <a:endParaRPr lang="en-US" sz="820" dirty="0"/>
          </a:p>
        </p:txBody>
      </p:sp>
      <p:sp>
        <p:nvSpPr>
          <p:cNvPr id="70" name="Text 68"/>
          <p:cNvSpPr/>
          <p:nvPr/>
        </p:nvSpPr>
        <p:spPr>
          <a:xfrm>
            <a:off x="6144768" y="453542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4A6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Threshold</a:t>
            </a:r>
            <a:endParaRPr lang="en-US" sz="820" dirty="0"/>
          </a:p>
        </p:txBody>
      </p:sp>
      <p:sp>
        <p:nvSpPr>
          <p:cNvPr id="71" name="Text 69"/>
          <p:cNvSpPr/>
          <p:nvPr/>
        </p:nvSpPr>
        <p:spPr>
          <a:xfrm>
            <a:off x="7296912" y="4535424"/>
            <a:ext cx="3950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D4DD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측정 전에 합격 기준을 정의한다</a:t>
            </a:r>
            <a:endParaRPr lang="en-US" sz="820" dirty="0"/>
          </a:p>
        </p:txBody>
      </p:sp>
      <p:sp>
        <p:nvSpPr>
          <p:cNvPr id="72" name="Text 70"/>
          <p:cNvSpPr/>
          <p:nvPr/>
        </p:nvSpPr>
        <p:spPr>
          <a:xfrm>
            <a:off x="6144768" y="484632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7A55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Retest</a:t>
            </a:r>
            <a:endParaRPr lang="en-US" sz="820" dirty="0"/>
          </a:p>
        </p:txBody>
      </p:sp>
      <p:sp>
        <p:nvSpPr>
          <p:cNvPr id="73" name="Text 71"/>
          <p:cNvSpPr/>
          <p:nvPr/>
        </p:nvSpPr>
        <p:spPr>
          <a:xfrm>
            <a:off x="7296912" y="4846320"/>
            <a:ext cx="3950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D4DD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개선 전후를 동일 조건으로 비교한다</a:t>
            </a:r>
            <a:endParaRPr lang="en-US" sz="820" dirty="0"/>
          </a:p>
        </p:txBody>
      </p:sp>
      <p:sp>
        <p:nvSpPr>
          <p:cNvPr id="74" name="Text 72"/>
          <p:cNvSpPr/>
          <p:nvPr/>
        </p:nvSpPr>
        <p:spPr>
          <a:xfrm>
            <a:off x="6144768" y="515721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F8A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Automation</a:t>
            </a:r>
            <a:endParaRPr lang="en-US" sz="820" dirty="0"/>
          </a:p>
        </p:txBody>
      </p:sp>
      <p:sp>
        <p:nvSpPr>
          <p:cNvPr id="75" name="Text 73"/>
          <p:cNvSpPr/>
          <p:nvPr/>
        </p:nvSpPr>
        <p:spPr>
          <a:xfrm>
            <a:off x="7296912" y="5157216"/>
            <a:ext cx="3950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D4DD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반복 가능한 흐름으로 운영 품질을 높인다</a:t>
            </a:r>
            <a:endParaRPr lang="en-US" sz="820" dirty="0"/>
          </a:p>
        </p:txBody>
      </p:sp>
      <p:sp>
        <p:nvSpPr>
          <p:cNvPr id="76" name="Shape 74"/>
          <p:cNvSpPr/>
          <p:nvPr/>
        </p:nvSpPr>
        <p:spPr>
          <a:xfrm>
            <a:off x="502920" y="5824728"/>
            <a:ext cx="11183112" cy="429768"/>
          </a:xfrm>
          <a:prstGeom prst="roundRect">
            <a:avLst>
              <a:gd name="adj" fmla="val 17021"/>
            </a:avLst>
          </a:prstGeom>
          <a:solidFill>
            <a:srgbClr val="FDEEEE"/>
          </a:solidFill>
          <a:ln w="10160">
            <a:solidFill>
              <a:srgbClr val="FDEEEE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02920" y="5824728"/>
            <a:ext cx="73152" cy="429768"/>
          </a:xfrm>
          <a:prstGeom prst="rect">
            <a:avLst/>
          </a:prstGeom>
          <a:solidFill>
            <a:srgbClr val="E55353"/>
          </a:solidFill>
          <a:ln w="12700">
            <a:solidFill>
              <a:srgbClr val="E55353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22376" y="5934456"/>
            <a:ext cx="10835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6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상용 서비스 성과가 아닌 교육용 시범 프로젝트이며, 고부하 구간은 추가 개선이 필요하다고 조건부로 판단했습니다.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8793A5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F8A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COVER LETTER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6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지원동기와 직무 적합성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6400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8793A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경험을 과장하지 않고, 회사에서 바로 활용할 수 있는 근거 중심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1207008"/>
            <a:ext cx="3730752" cy="4498848"/>
          </a:xfrm>
          <a:prstGeom prst="roundRect">
            <a:avLst>
              <a:gd name="adj" fmla="val 1961"/>
            </a:avLst>
          </a:prstGeom>
          <a:solidFill>
            <a:srgbClr val="101722"/>
          </a:solidFill>
          <a:ln w="10160">
            <a:solidFill>
              <a:srgbClr val="2633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627632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94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“기술의 화려함보다</a:t>
            </a:r>
            <a:endParaRPr lang="en-US" sz="2200" dirty="0"/>
          </a:p>
          <a:p>
            <a:pPr indent="0" marL="0">
              <a:lnSpc>
                <a:spcPct val="94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통제의 일관성, 변경 이력,</a:t>
            </a:r>
            <a:endParaRPr lang="en-US" sz="2200" dirty="0"/>
          </a:p>
          <a:p>
            <a:pPr indent="0" marL="0">
              <a:lnSpc>
                <a:spcPct val="94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복구 가능성을 중시합니다.”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86384" y="3236976"/>
            <a:ext cx="2468880" cy="0"/>
          </a:xfrm>
          <a:prstGeom prst="line">
            <a:avLst/>
          </a:prstGeom>
          <a:noFill/>
          <a:ln w="20320">
            <a:solidFill>
              <a:srgbClr val="FF8A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3547872"/>
            <a:ext cx="290779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20" dirty="0">
                <a:solidFill>
                  <a:srgbClr val="D5DEE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대규모 거래와 금융정보를 다루는 서비스에서는 빠른 변화만큼이나 원칙·절차·증적·복구가 중요합니다. 금융권 규제 대응과 인프라 운영 경험을 바탕으로 신뢰할 수 있는 운영 환경을 만들고자 지원했습니다.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786384" y="5166360"/>
            <a:ext cx="841248" cy="310896"/>
          </a:xfrm>
          <a:prstGeom prst="roundRect">
            <a:avLst/>
          </a:prstGeom>
          <a:solidFill>
            <a:srgbClr val="28364A"/>
          </a:solidFill>
          <a:ln w="7620">
            <a:solidFill>
              <a:srgbClr val="3C4B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521665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8A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TRUST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1737360" y="5166360"/>
            <a:ext cx="1078992" cy="310896"/>
          </a:xfrm>
          <a:prstGeom prst="roundRect">
            <a:avLst/>
          </a:prstGeom>
          <a:solidFill>
            <a:srgbClr val="28364A"/>
          </a:solidFill>
          <a:ln w="7620">
            <a:solidFill>
              <a:srgbClr val="3C4B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92224" y="5216652"/>
            <a:ext cx="969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4A6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SECURITY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2926080" y="5166360"/>
            <a:ext cx="1024128" cy="310896"/>
          </a:xfrm>
          <a:prstGeom prst="roundRect">
            <a:avLst/>
          </a:prstGeom>
          <a:solidFill>
            <a:srgbClr val="28364A"/>
          </a:solidFill>
          <a:ln w="7620">
            <a:solidFill>
              <a:srgbClr val="3C4B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80944" y="52166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F6B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STABILITY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4498848" y="1207008"/>
            <a:ext cx="7187184" cy="1298448"/>
          </a:xfrm>
          <a:prstGeom prst="roundRect">
            <a:avLst>
              <a:gd name="adj" fmla="val 5634"/>
            </a:avLst>
          </a:prstGeom>
          <a:solidFill>
            <a:srgbClr val="E8F8F1"/>
          </a:solidFill>
          <a:ln w="10160">
            <a:solidFill>
              <a:srgbClr val="DFE6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1380744"/>
            <a:ext cx="347472" cy="347472"/>
          </a:xfrm>
          <a:prstGeom prst="roundRect">
            <a:avLst/>
          </a:prstGeom>
          <a:solidFill>
            <a:srgbClr val="14A673"/>
          </a:solidFill>
          <a:ln w="12700">
            <a:solidFill>
              <a:srgbClr val="14A67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1449324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138928" y="1371600"/>
            <a:ext cx="6382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6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금융권 규제 환경에서 신뢰할 수 있는 운영체계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4681728" y="1801368"/>
            <a:ext cx="6821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0708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JT친애저축은행에서 서버·네트워크를 운영하며 금융감독원·금융보안원 감사와 규제 기준에 대응했습니다. 장애가 발생한 뒤 개인 역량에 의존하기보다 운영 절차와 정책을 정비해 반복 가능한 대응체계를 만드는 데 집중했습니다.</a:t>
            </a:r>
            <a:endParaRPr lang="en-US" sz="870" dirty="0"/>
          </a:p>
        </p:txBody>
      </p:sp>
      <p:sp>
        <p:nvSpPr>
          <p:cNvPr id="20" name="Shape 18"/>
          <p:cNvSpPr/>
          <p:nvPr/>
        </p:nvSpPr>
        <p:spPr>
          <a:xfrm>
            <a:off x="4498848" y="2706624"/>
            <a:ext cx="7187184" cy="1298448"/>
          </a:xfrm>
          <a:prstGeom prst="roundRect">
            <a:avLst>
              <a:gd name="adj" fmla="val 5634"/>
            </a:avLst>
          </a:prstGeom>
          <a:solidFill>
            <a:srgbClr val="FFF1DF"/>
          </a:solidFill>
          <a:ln w="10160">
            <a:solidFill>
              <a:srgbClr val="DFE6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2880360"/>
            <a:ext cx="347472" cy="347472"/>
          </a:xfrm>
          <a:prstGeom prst="roundRect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2948940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138928" y="2871216"/>
            <a:ext cx="6382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6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구축부터 보안 정책 표준화까지 직접 책임</a:t>
            </a:r>
            <a:endParaRPr lang="en-US" sz="1220" dirty="0"/>
          </a:p>
        </p:txBody>
      </p:sp>
      <p:sp>
        <p:nvSpPr>
          <p:cNvPr id="24" name="Text 22"/>
          <p:cNvSpPr/>
          <p:nvPr/>
        </p:nvSpPr>
        <p:spPr>
          <a:xfrm>
            <a:off x="4681728" y="3300984"/>
            <a:ext cx="6821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0708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스케쳐스코리아 신규 법인의 전체 IT 환경을 구축하고, LS네트웍스에서 서버·네트워크·방화벽·WAF·SSL VPN·SAP·기획·계약까지 폭넓게 운영했습니다. 기술·비용·현업 요구를 함께 검토하여 실행 가능한 절차로 바꾸는 것이 강점입니다.</a:t>
            </a:r>
            <a:endParaRPr lang="en-US" sz="870" dirty="0"/>
          </a:p>
        </p:txBody>
      </p:sp>
      <p:sp>
        <p:nvSpPr>
          <p:cNvPr id="25" name="Shape 23"/>
          <p:cNvSpPr/>
          <p:nvPr/>
        </p:nvSpPr>
        <p:spPr>
          <a:xfrm>
            <a:off x="4498848" y="4206240"/>
            <a:ext cx="7187184" cy="1298448"/>
          </a:xfrm>
          <a:prstGeom prst="roundRect">
            <a:avLst>
              <a:gd name="adj" fmla="val 5634"/>
            </a:avLst>
          </a:prstGeom>
          <a:solidFill>
            <a:srgbClr val="F0ECFF"/>
          </a:solidFill>
          <a:ln w="10160">
            <a:solidFill>
              <a:srgbClr val="DFE6E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4379976"/>
            <a:ext cx="347472" cy="347472"/>
          </a:xfrm>
          <a:prstGeom prst="roundRect">
            <a:avLst/>
          </a:prstGeom>
          <a:solidFill>
            <a:srgbClr val="7A55E8"/>
          </a:solidFill>
          <a:ln w="12700">
            <a:solidFill>
              <a:srgbClr val="7A55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4448556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138928" y="4370832"/>
            <a:ext cx="6382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6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새로운 기술을 배우며 운영 방식 확장</a:t>
            </a:r>
            <a:endParaRPr lang="en-US" sz="1220" dirty="0"/>
          </a:p>
        </p:txBody>
      </p:sp>
      <p:sp>
        <p:nvSpPr>
          <p:cNvPr id="29" name="Text 27"/>
          <p:cNvSpPr/>
          <p:nvPr/>
        </p:nvSpPr>
        <p:spPr>
          <a:xfrm>
            <a:off x="4681728" y="4800600"/>
            <a:ext cx="6821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0708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최근 AI Agent QA &amp; Monitoring 교육을 통해 k6·Prometheus·Grafana 기반의 측정·분석·개선·재시험을 경험했습니다. 기존 온프레미스 경험에 클라우드 보안과 자동화 역량을 더해 장애와 보안 위험을 사전에 줄이겠습니다.</a:t>
            </a:r>
            <a:endParaRPr lang="en-US" sz="8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8793A5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10" kern="0" dirty="0">
                <a:solidFill>
                  <a:srgbClr val="FF8A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ONBOARDING &amp; GROWTH PLAN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76656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입사 후 90일 실행 계획과 성장 방향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543800" y="76809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AAB6C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새로운 조직의 방식은 배우는 자세로, 기존 경험은 초기 성과로 연결하겠습니다.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3538728" cy="3346704"/>
          </a:xfrm>
          <a:prstGeom prst="roundRect">
            <a:avLst/>
          </a:prstGeom>
          <a:solidFill>
            <a:srgbClr val="172333"/>
          </a:solidFill>
          <a:ln w="10160">
            <a:solidFill>
              <a:srgbClr val="2E3C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" y="1609344"/>
            <a:ext cx="502920" cy="502920"/>
          </a:xfrm>
          <a:prstGeom prst="round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" y="176479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344168" y="1645920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2F6B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0–30 DAY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344168" y="190195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현황 파악과 기준선 확보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22376" y="2487168"/>
            <a:ext cx="3081528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920" dirty="0">
                <a:solidFill>
                  <a:srgbClr val="CCD6E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AWS 네트워크 구조, 방화벽·ACL·VPN 정책, 보안 로그, 변경·장애 대응 절차를 정확히 이해</a:t>
            </a:r>
            <a:endParaRPr lang="en-US" sz="920" dirty="0"/>
          </a:p>
          <a:p>
            <a:pPr indent="0" marL="0">
              <a:lnSpc>
                <a:spcPct val="102000"/>
              </a:lnSpc>
              <a:buNone/>
            </a:pPr>
            <a:endParaRPr lang="en-US" sz="92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20" dirty="0">
                <a:solidFill>
                  <a:srgbClr val="CCD6E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주요 자산·트래픽·정책 흐름 파악</a:t>
            </a:r>
            <a:endParaRPr lang="en-US" sz="92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20" dirty="0">
                <a:solidFill>
                  <a:srgbClr val="CCD6E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감사·점검 기준과 증적 확인</a:t>
            </a:r>
            <a:endParaRPr lang="en-US" sz="92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20" dirty="0">
                <a:solidFill>
                  <a:srgbClr val="CCD6E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반복 장애와 운영 리스크 목록화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4389120" y="1371600"/>
            <a:ext cx="3538728" cy="3346704"/>
          </a:xfrm>
          <a:prstGeom prst="roundRect">
            <a:avLst/>
          </a:prstGeom>
          <a:solidFill>
            <a:srgbClr val="172333"/>
          </a:solidFill>
          <a:ln w="10160">
            <a:solidFill>
              <a:srgbClr val="2E3C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90288" y="1609344"/>
            <a:ext cx="502920" cy="502920"/>
          </a:xfrm>
          <a:prstGeom prst="roundRect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90288" y="176479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230368" y="1645920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8A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31–60 DAY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230368" y="190195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정책·운영 프로세스 정비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608576" y="2487168"/>
            <a:ext cx="3081528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920" dirty="0">
                <a:solidFill>
                  <a:srgbClr val="CCD6E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반복되는 정책 변경과 점검 업무의 흐름을 정리하고 위험도·우선순위·증적 기준을 표준화</a:t>
            </a:r>
            <a:endParaRPr lang="en-US" sz="920" dirty="0"/>
          </a:p>
          <a:p>
            <a:pPr indent="0" marL="0">
              <a:lnSpc>
                <a:spcPct val="102000"/>
              </a:lnSpc>
              <a:buNone/>
            </a:pPr>
            <a:endParaRPr lang="en-US" sz="92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20" dirty="0">
                <a:solidFill>
                  <a:srgbClr val="CCD6E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방화벽 정책 변경 절차 점검</a:t>
            </a:r>
            <a:endParaRPr lang="en-US" sz="92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20" dirty="0">
                <a:solidFill>
                  <a:srgbClr val="CCD6E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로그·알림 기준의 누락 확인</a:t>
            </a:r>
            <a:endParaRPr lang="en-US" sz="92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20" dirty="0">
                <a:solidFill>
                  <a:srgbClr val="CCD6E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Runbook·체크리스트 개선안 제시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8275320" y="1371600"/>
            <a:ext cx="3538728" cy="3346704"/>
          </a:xfrm>
          <a:prstGeom prst="roundRect">
            <a:avLst/>
          </a:prstGeom>
          <a:solidFill>
            <a:srgbClr val="172333"/>
          </a:solidFill>
          <a:ln w="10160">
            <a:solidFill>
              <a:srgbClr val="2E3C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76488" y="1609344"/>
            <a:ext cx="502920" cy="502920"/>
          </a:xfrm>
          <a:prstGeom prst="roundRect">
            <a:avLst/>
          </a:prstGeom>
          <a:solidFill>
            <a:srgbClr val="14A673"/>
          </a:solidFill>
          <a:ln w="12700">
            <a:solidFill>
              <a:srgbClr val="14A67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76488" y="176479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116568" y="1645920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4A6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61–90 DAY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9116568" y="190195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모니터링·자동화 파일럿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494776" y="2487168"/>
            <a:ext cx="3081528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920" dirty="0">
                <a:solidFill>
                  <a:srgbClr val="CCD6E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트래픽·로그·메트릭 기반 모니터링과 자동화 개선안을 제시하고 작은 범위부터 검증</a:t>
            </a:r>
            <a:endParaRPr lang="en-US" sz="920" dirty="0"/>
          </a:p>
          <a:p>
            <a:pPr indent="0" marL="0">
              <a:lnSpc>
                <a:spcPct val="102000"/>
              </a:lnSpc>
              <a:buNone/>
            </a:pPr>
            <a:endParaRPr lang="en-US" sz="92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20" dirty="0">
                <a:solidFill>
                  <a:srgbClr val="CCD6E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이상 징후 조기 탐지 기준</a:t>
            </a:r>
            <a:endParaRPr lang="en-US" sz="92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20" dirty="0">
                <a:solidFill>
                  <a:srgbClr val="CCD6E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반복 점검 자동화 후보 선정</a:t>
            </a:r>
            <a:endParaRPr lang="en-US" sz="92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20" dirty="0">
                <a:solidFill>
                  <a:srgbClr val="CCD6E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적용 전후 지표와 재시험 체계 수립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502920" y="5029200"/>
            <a:ext cx="11311128" cy="859536"/>
          </a:xfrm>
          <a:prstGeom prst="roundRect">
            <a:avLst>
              <a:gd name="adj" fmla="val 8511"/>
            </a:avLst>
          </a:prstGeom>
          <a:solidFill>
            <a:srgbClr val="172333"/>
          </a:solidFill>
          <a:ln w="10160">
            <a:solidFill>
              <a:srgbClr val="2E3C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5266944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8A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GROWTH DIRECTION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331720" y="5184648"/>
            <a:ext cx="9098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온프레미스 인프라 운영 경험  +  AWS 네트워크 보안  +  IaC·자동화  +  Observability  →  보안 위험과 서비스 장애를 사전에 줄이는 실무형 전문가</a:t>
            </a:r>
            <a:endParaRPr lang="en-US" sz="1120" dirty="0"/>
          </a:p>
        </p:txBody>
      </p:sp>
      <p:sp>
        <p:nvSpPr>
          <p:cNvPr id="27" name="Text 25"/>
          <p:cNvSpPr/>
          <p:nvPr/>
        </p:nvSpPr>
        <p:spPr>
          <a:xfrm>
            <a:off x="502920" y="614476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나병진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572768" y="6163056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AAB6C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010-9090-1596  ·  nbj0101@naver.com  ·  서울특별시 노원구</a:t>
            </a:r>
            <a:endParaRPr lang="en-US" sz="830" dirty="0"/>
          </a:p>
        </p:txBody>
      </p:sp>
      <p:sp>
        <p:nvSpPr>
          <p:cNvPr id="29" name="Text 27"/>
          <p:cNvSpPr/>
          <p:nvPr/>
        </p:nvSpPr>
        <p:spPr>
          <a:xfrm>
            <a:off x="6629400" y="6089904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8A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신뢰는 규정 준수, 안정성, 그리고 개선의 반복으로 증명됩니다.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Personal Portfolio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나병진 인프라 보안 이력서 및 자기소개서</dc:title>
  <dc:subject>Figma Slides import-ready resume and cover letter</dc:subject>
  <dc:creator>OpenAI</dc:creator>
  <cp:lastModifiedBy>OpenAI</cp:lastModifiedBy>
  <cp:revision>1</cp:revision>
  <dcterms:created xsi:type="dcterms:W3CDTF">2026-08-05T00:31:44Z</dcterms:created>
  <dcterms:modified xsi:type="dcterms:W3CDTF">2026-08-05T00:31:44Z</dcterms:modified>
</cp:coreProperties>
</file>