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34684-072E-45C9-B35F-1348FAC7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407976-B95D-424B-9C60-6BC2EC6DE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75182-98C1-48B4-A054-E7389D70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FD80A8-A5EE-493F-8C6B-679C8E1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BDB51D-5F10-4A1F-9839-6A6D8624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77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A85CC-703B-4821-B938-22A3ECC2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D0AF0D-2462-40BD-A5A2-1E16D1680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307956-8E5B-4F71-A498-547E0985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694C61-11F2-4608-B55F-DC52964AD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ED4FF-34E4-4AF3-95E6-2D83015E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87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9968C-2BDC-4AA7-A5B2-D54C9BAAC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364B3-FF76-446F-87FB-7FA1AB752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0BBBE7-0AAD-4248-A3E6-4E26482BD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BBFC9A-A8BC-4E1C-9476-0475A293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ED2486-7CE9-4C68-981E-90BE5AA3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6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5BB04-D7EA-430E-8D39-D2AB7D43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BE5CB7-21DF-40AA-8D60-264CD6A50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639F48-713D-40D6-86C6-323DC05FF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77D08-51F0-42C6-9253-D04EF73F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FB3C8F-DEE4-470C-A460-F20657A3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4A3287-87AC-4DB1-9FDE-5B378391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EA7A9-9372-4A25-B4C0-C0FD2A82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B7CAA3-C12D-472C-A4FB-4834D8A19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C3F8FA-4C2D-407C-8005-DDDBB6E76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F2398A-959B-4FED-8A3B-617847EE25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093C1B-CE2C-4D55-8C3B-E4742E413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58F1BB-DFD1-4915-8C48-45ADE8F6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AF6C14-7A55-4790-8C98-46B0CEDF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331F7A-F29E-4711-BBA6-0AEE2956A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93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BD0E3-FC54-472C-BCDE-E4AED214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2E8DE4-D28E-41C8-A82F-115818A80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C7A32B-5B95-48D6-8634-9385F694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8476C1-1927-47EE-AC48-92E95C96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93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0B48CE-7BE2-48F7-993E-7F96E3A8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7D5758-4110-4527-9E80-7645383E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01ED4-63A2-4C56-B45D-40EA5F86C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2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A1BC5F-250D-43BE-A261-FC522523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5DD6C-B0EA-4F42-9D8D-159CC91D6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31FA8B-FAFD-4230-9020-C612F2037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A24892-DE6C-4FBD-9F14-C79F2E5A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BFB37D-5F67-4032-9296-FAA6470A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F6697E-38AC-491E-A3DD-193B60E6D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63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EE3FB-4D7F-424F-A709-C59F5AF4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C83675A-EFCC-4DA4-981D-FDD784290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B0C749-80D7-4A33-A6A3-3AE028096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764407-EDDF-4FF0-BD1C-A048366F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002AB3-91A5-4B2F-842E-A585A3E1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E385F2-2CD2-4703-A593-B1D023B9B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46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A105C-4B10-4D41-899A-57C14FD98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5B28B-0671-40C9-809C-0955D9892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738A15-0A5F-40A1-AD86-08C0D33D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8ECF21-7AE4-466E-BD86-68F07EB3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9E980A-2C68-4A5C-9B94-D0F9128D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390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5825F6-8A71-4C07-A7CF-99D3C0B2E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91FEA9-62D5-4497-BFE9-160092614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D70A42-9141-4E89-B1EB-66A0E30E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437E78-A6B8-455E-96A9-91879C0A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BDDD2C-754C-4DD0-926E-3D422297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21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498E0E-885A-4D4C-BFE5-3A7B5082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878F36-2C8A-42DB-AB4C-CFE1A8FB9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7C091E-0F8A-49BB-BF94-BFE588E59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175BF-BB8F-45DE-857B-4A2D6B9C12D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1BC014-43CA-4D82-BE84-F18D12C50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B25C53-DC8A-4171-AD25-E99F98D9D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A8BF7-5F76-4DB9-9E62-30E4D51D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45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43981E5-1380-4060-8DA4-72B0826062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0CA2BD8-4914-4BF4-BBE0-C14440DECBFB}"/>
              </a:ext>
            </a:extLst>
          </p:cNvPr>
          <p:cNvSpPr/>
          <p:nvPr/>
        </p:nvSpPr>
        <p:spPr>
          <a:xfrm>
            <a:off x="8890000" y="-1397000"/>
            <a:ext cx="4064000" cy="4064000"/>
          </a:xfrm>
          <a:prstGeom prst="ellipse">
            <a:avLst/>
          </a:prstGeom>
          <a:solidFill>
            <a:srgbClr val="1769E0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7CEB2F9-7CAD-4184-B036-73F2E060791E}"/>
              </a:ext>
            </a:extLst>
          </p:cNvPr>
          <p:cNvSpPr/>
          <p:nvPr/>
        </p:nvSpPr>
        <p:spPr>
          <a:xfrm>
            <a:off x="9969500" y="1016000"/>
            <a:ext cx="2921000" cy="2921000"/>
          </a:xfrm>
          <a:prstGeom prst="ellipse">
            <a:avLst/>
          </a:prstGeom>
          <a:solidFill>
            <a:srgbClr val="24B6D2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1F481E6-EC64-40B9-B3EF-8F0DF432E641}"/>
              </a:ext>
            </a:extLst>
          </p:cNvPr>
          <p:cNvSpPr/>
          <p:nvPr/>
        </p:nvSpPr>
        <p:spPr>
          <a:xfrm>
            <a:off x="-1270000" y="4635500"/>
            <a:ext cx="3302000" cy="3302000"/>
          </a:xfrm>
          <a:prstGeom prst="ellipse">
            <a:avLst/>
          </a:prstGeom>
          <a:solidFill>
            <a:srgbClr val="7C5CE7">
              <a:alpha val="2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54B5BE5-DAEC-436D-A24E-57D470693FEC}"/>
              </a:ext>
            </a:extLst>
          </p:cNvPr>
          <p:cNvSpPr/>
          <p:nvPr/>
        </p:nvSpPr>
        <p:spPr>
          <a:xfrm>
            <a:off x="736600" y="685800"/>
            <a:ext cx="3429000" cy="3048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altLang="ko-KR" sz="900" b="1">
                <a:solidFill>
                  <a:srgbClr val="B9D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QA · LLMOps · Operational Audit</a:t>
            </a:r>
            <a:endParaRPr lang="ko-KR" altLang="en-US" sz="900" b="1">
              <a:solidFill>
                <a:srgbClr val="B9D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3C3E9D-8EE5-48CB-AFB3-B5C0BEC3322F}"/>
              </a:ext>
            </a:extLst>
          </p:cNvPr>
          <p:cNvSpPr/>
          <p:nvPr/>
        </p:nvSpPr>
        <p:spPr>
          <a:xfrm>
            <a:off x="736600" y="1473200"/>
            <a:ext cx="9144000" cy="1803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</a:t>
            </a:r>
            <a:r>
              <a:rPr lang="ko-KR" altLang="en-US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</a:t>
            </a:r>
            <a:r>
              <a:rPr lang="en-US" altLang="ko-KR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멀티 에이전트
</a:t>
            </a:r>
            <a:r>
              <a:rPr lang="en-US" altLang="ko-KR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결과관리 및 운영감사 프로젝트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199614-2BD9-4BD9-BBA1-A33CAE45E3EC}"/>
              </a:ext>
            </a:extLst>
          </p:cNvPr>
          <p:cNvSpPr/>
          <p:nvPr/>
        </p:nvSpPr>
        <p:spPr>
          <a:xfrm>
            <a:off x="762000" y="3556000"/>
            <a:ext cx="80010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수집부터 독립 평가</a:t>
            </a:r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타당성 검증</a:t>
            </a:r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사람 승인과
</a:t>
            </a:r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S3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증적 보관까지 연결한 </a:t>
            </a:r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Evidence-first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품질관리 플랫폼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5AD37B9-94A8-4586-86F1-89E99AA13454}"/>
              </a:ext>
            </a:extLst>
          </p:cNvPr>
          <p:cNvSpPr/>
          <p:nvPr/>
        </p:nvSpPr>
        <p:spPr>
          <a:xfrm>
            <a:off x="762000" y="4851400"/>
            <a:ext cx="1879600" cy="5334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355A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2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A76ECA-8285-4B08-A6A4-D6B5BB89B7A2}"/>
              </a:ext>
            </a:extLst>
          </p:cNvPr>
          <p:cNvSpPr/>
          <p:nvPr/>
        </p:nvSpPr>
        <p:spPr>
          <a:xfrm>
            <a:off x="762000" y="5461000"/>
            <a:ext cx="1879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>
                <a:solidFill>
                  <a:srgbClr val="B7CB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gRPC Agent</a:t>
            </a:r>
            <a:endParaRPr lang="ko-KR" altLang="en-US" sz="900">
              <a:solidFill>
                <a:srgbClr val="B7CBE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86F73CD-8A53-4EB5-BEF3-FA70400C31AC}"/>
              </a:ext>
            </a:extLst>
          </p:cNvPr>
          <p:cNvSpPr/>
          <p:nvPr/>
        </p:nvSpPr>
        <p:spPr>
          <a:xfrm>
            <a:off x="2895600" y="4851400"/>
            <a:ext cx="1879600" cy="5334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355A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2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43B23C-9810-4A5F-A627-D1F9A0A4AA09}"/>
              </a:ext>
            </a:extLst>
          </p:cNvPr>
          <p:cNvSpPr/>
          <p:nvPr/>
        </p:nvSpPr>
        <p:spPr>
          <a:xfrm>
            <a:off x="2895600" y="5461000"/>
            <a:ext cx="1879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>
                <a:solidFill>
                  <a:srgbClr val="B7CB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Provider</a:t>
            </a:r>
            <a:endParaRPr lang="ko-KR" altLang="en-US" sz="900">
              <a:solidFill>
                <a:srgbClr val="B7CBE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6962B07-14E1-43E5-84B4-039490D543DA}"/>
              </a:ext>
            </a:extLst>
          </p:cNvPr>
          <p:cNvSpPr/>
          <p:nvPr/>
        </p:nvSpPr>
        <p:spPr>
          <a:xfrm>
            <a:off x="5029200" y="4851400"/>
            <a:ext cx="1879600" cy="5334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355A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2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F46FA8-6A20-43D0-BA22-611AB2927B96}"/>
              </a:ext>
            </a:extLst>
          </p:cNvPr>
          <p:cNvSpPr/>
          <p:nvPr/>
        </p:nvSpPr>
        <p:spPr>
          <a:xfrm>
            <a:off x="5029200" y="5461000"/>
            <a:ext cx="1879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>
                <a:solidFill>
                  <a:srgbClr val="B7CB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Validity Rubric</a:t>
            </a:r>
            <a:endParaRPr lang="ko-KR" altLang="en-US" sz="900">
              <a:solidFill>
                <a:srgbClr val="B7CBE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C775CF7-2967-4A23-B947-1901FE74D477}"/>
              </a:ext>
            </a:extLst>
          </p:cNvPr>
          <p:cNvSpPr/>
          <p:nvPr/>
        </p:nvSpPr>
        <p:spPr>
          <a:xfrm>
            <a:off x="7162800" y="4851400"/>
            <a:ext cx="1879600" cy="5334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355A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S3</a:t>
            </a:r>
            <a:endParaRPr lang="ko-KR" altLang="en-US" sz="2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A4EC3D-4CF3-4B8A-904B-D6F848D15036}"/>
              </a:ext>
            </a:extLst>
          </p:cNvPr>
          <p:cNvSpPr/>
          <p:nvPr/>
        </p:nvSpPr>
        <p:spPr>
          <a:xfrm>
            <a:off x="7162800" y="5461000"/>
            <a:ext cx="1879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>
                <a:solidFill>
                  <a:srgbClr val="B7CB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Audit Evidence</a:t>
            </a:r>
            <a:endParaRPr lang="ko-KR" altLang="en-US" sz="900">
              <a:solidFill>
                <a:srgbClr val="B7CBE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63D5E24-6BA7-4F65-9361-655D4B4F08CE}"/>
              </a:ext>
            </a:extLst>
          </p:cNvPr>
          <p:cNvSpPr/>
          <p:nvPr/>
        </p:nvSpPr>
        <p:spPr>
          <a:xfrm>
            <a:off x="762000" y="6223000"/>
            <a:ext cx="78740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최강</a:t>
            </a:r>
            <a:r>
              <a:rPr lang="en-US" altLang="ko-KR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 </a:t>
            </a:r>
            <a:r>
              <a:rPr lang="en-US" altLang="ko-KR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2026.07–08  ·  </a:t>
            </a:r>
            <a:r>
              <a:rPr lang="ko-KR" altLang="en-US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작성자 이름 입력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5004487-632C-45F3-BDA2-AB05D1F2FF31}"/>
              </a:ext>
            </a:extLst>
          </p:cNvPr>
          <p:cNvSpPr/>
          <p:nvPr/>
        </p:nvSpPr>
        <p:spPr>
          <a:xfrm>
            <a:off x="11201400" y="6273800"/>
            <a:ext cx="482600" cy="203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900" b="1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900" b="1">
              <a:solidFill>
                <a:srgbClr val="AFC3D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2122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1B9849E-8BAA-46BC-A46C-0A7099E9F9E1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25DEF0-CDB9-4730-A314-BDF6F88FB429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좋은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답변이 곧 실행 가능한 개선안은 아닙니다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436E1AB-03F6-4C3F-907C-487963586D19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39990D-7B61-4D81-9CB9-89593333642D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분석의 마지막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계획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위험과 책임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5CC062C-860B-48CF-8DEF-C6EC22E082EF}"/>
              </a:ext>
            </a:extLst>
          </p:cNvPr>
          <p:cNvSpPr/>
          <p:nvPr/>
        </p:nvSpPr>
        <p:spPr>
          <a:xfrm>
            <a:off x="609600" y="1803400"/>
            <a:ext cx="5207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85C1C7-1514-4AB0-BB85-3F785331F146}"/>
              </a:ext>
            </a:extLst>
          </p:cNvPr>
          <p:cNvSpPr/>
          <p:nvPr/>
        </p:nvSpPr>
        <p:spPr>
          <a:xfrm>
            <a:off x="609600" y="1803400"/>
            <a:ext cx="76200" cy="1600200"/>
          </a:xfrm>
          <a:prstGeom prst="rect">
            <a:avLst/>
          </a:prstGeom>
          <a:solidFill>
            <a:srgbClr val="DF4C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943F1C1-439C-45A6-A64C-4D1C6234505C}"/>
              </a:ext>
            </a:extLst>
          </p:cNvPr>
          <p:cNvSpPr/>
          <p:nvPr/>
        </p:nvSpPr>
        <p:spPr>
          <a:xfrm>
            <a:off x="889000" y="2108200"/>
            <a:ext cx="558800" cy="558800"/>
          </a:xfrm>
          <a:prstGeom prst="ellipse">
            <a:avLst/>
          </a:prstGeom>
          <a:solidFill>
            <a:srgbClr val="DF4C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C067F9-CAD6-4178-890E-AC57088BEF69}"/>
              </a:ext>
            </a:extLst>
          </p:cNvPr>
          <p:cNvSpPr/>
          <p:nvPr/>
        </p:nvSpPr>
        <p:spPr>
          <a:xfrm>
            <a:off x="1651000" y="20574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단절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9654B8-2985-493C-A9D1-8236FC8892A0}"/>
              </a:ext>
            </a:extLst>
          </p:cNvPr>
          <p:cNvSpPr/>
          <p:nvPr/>
        </p:nvSpPr>
        <p:spPr>
          <a:xfrm>
            <a:off x="1651000" y="2476500"/>
            <a:ext cx="37084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개선안이 어떤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원문과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Trace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나왔는지 재현하기 어렵습니다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C5D35A4-0451-4B1A-89F4-85D3D31BEC16}"/>
              </a:ext>
            </a:extLst>
          </p:cNvPr>
          <p:cNvSpPr/>
          <p:nvPr/>
        </p:nvSpPr>
        <p:spPr>
          <a:xfrm>
            <a:off x="6172200" y="1803400"/>
            <a:ext cx="5207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1411B1-1B63-4790-A4D9-C95E8226B9E7}"/>
              </a:ext>
            </a:extLst>
          </p:cNvPr>
          <p:cNvSpPr/>
          <p:nvPr/>
        </p:nvSpPr>
        <p:spPr>
          <a:xfrm>
            <a:off x="6172200" y="1803400"/>
            <a:ext cx="76200" cy="1600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F62B2BA-901A-4C28-A47B-839E3C30BFE4}"/>
              </a:ext>
            </a:extLst>
          </p:cNvPr>
          <p:cNvSpPr/>
          <p:nvPr/>
        </p:nvSpPr>
        <p:spPr>
          <a:xfrm>
            <a:off x="6451600" y="2108200"/>
            <a:ext cx="558800" cy="5588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35E39D-4680-41DD-BCA3-34E7197F8A33}"/>
              </a:ext>
            </a:extLst>
          </p:cNvPr>
          <p:cNvSpPr/>
          <p:nvPr/>
        </p:nvSpPr>
        <p:spPr>
          <a:xfrm>
            <a:off x="7213600" y="20574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자기평가 편향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7306AB9-3683-44B7-9825-F7BAE00DB015}"/>
              </a:ext>
            </a:extLst>
          </p:cNvPr>
          <p:cNvSpPr/>
          <p:nvPr/>
        </p:nvSpPr>
        <p:spPr>
          <a:xfrm>
            <a:off x="7213600" y="2476500"/>
            <a:ext cx="37084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생성과 평가를 같은 모델이 수행하면 높은 점수를 스스로 정당화할 수 있습니다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DEFB03D-07B4-4FED-8278-36EEBCE1AC79}"/>
              </a:ext>
            </a:extLst>
          </p:cNvPr>
          <p:cNvSpPr/>
          <p:nvPr/>
        </p:nvSpPr>
        <p:spPr>
          <a:xfrm>
            <a:off x="609600" y="3708400"/>
            <a:ext cx="5207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35ACE6-0383-4BF5-8311-EBAB5A0D8BFA}"/>
              </a:ext>
            </a:extLst>
          </p:cNvPr>
          <p:cNvSpPr/>
          <p:nvPr/>
        </p:nvSpPr>
        <p:spPr>
          <a:xfrm>
            <a:off x="609600" y="3708400"/>
            <a:ext cx="76200" cy="16002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4E68A71-83A2-4A45-886C-34561F2E84B1}"/>
              </a:ext>
            </a:extLst>
          </p:cNvPr>
          <p:cNvSpPr/>
          <p:nvPr/>
        </p:nvSpPr>
        <p:spPr>
          <a:xfrm>
            <a:off x="889000" y="4013200"/>
            <a:ext cx="558800" cy="5588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BC2B0C-B4D9-410E-B12C-1A967B61B844}"/>
              </a:ext>
            </a:extLst>
          </p:cNvPr>
          <p:cNvSpPr/>
          <p:nvPr/>
        </p:nvSpPr>
        <p:spPr>
          <a:xfrm>
            <a:off x="1651000" y="39624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정보 누락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6BD679A-79AE-42E3-A293-55C30FA467D1}"/>
              </a:ext>
            </a:extLst>
          </p:cNvPr>
          <p:cNvSpPr/>
          <p:nvPr/>
        </p:nvSpPr>
        <p:spPr>
          <a:xfrm>
            <a:off x="1651000" y="4381500"/>
            <a:ext cx="37084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·KPI·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범위가 없는 개선안도 자연스럽게 보입니다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3F3292B-7420-4F29-AA04-9310D03ED1F8}"/>
              </a:ext>
            </a:extLst>
          </p:cNvPr>
          <p:cNvSpPr/>
          <p:nvPr/>
        </p:nvSpPr>
        <p:spPr>
          <a:xfrm>
            <a:off x="6172200" y="3708400"/>
            <a:ext cx="5207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9326A0-3576-4307-AA85-9DC493048D15}"/>
              </a:ext>
            </a:extLst>
          </p:cNvPr>
          <p:cNvSpPr/>
          <p:nvPr/>
        </p:nvSpPr>
        <p:spPr>
          <a:xfrm>
            <a:off x="6172200" y="3708400"/>
            <a:ext cx="76200" cy="1600200"/>
          </a:xfrm>
          <a:prstGeom prst="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CC7D88E-6945-4698-BE05-05DB995682D7}"/>
              </a:ext>
            </a:extLst>
          </p:cNvPr>
          <p:cNvSpPr/>
          <p:nvPr/>
        </p:nvSpPr>
        <p:spPr>
          <a:xfrm>
            <a:off x="6451600" y="4013200"/>
            <a:ext cx="558800" cy="5588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E4AF40A-9658-4661-97C5-9E9692BABF2C}"/>
              </a:ext>
            </a:extLst>
          </p:cNvPr>
          <p:cNvSpPr/>
          <p:nvPr/>
        </p:nvSpPr>
        <p:spPr>
          <a:xfrm>
            <a:off x="7213600" y="39624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책임 불명확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9CE282B-BD77-4C51-9930-2FAB4CB7AAB4}"/>
              </a:ext>
            </a:extLst>
          </p:cNvPr>
          <p:cNvSpPr/>
          <p:nvPr/>
        </p:nvSpPr>
        <p:spPr>
          <a:xfrm>
            <a:off x="7213600" y="4381500"/>
            <a:ext cx="37084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PASS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실제 운영 승인이 섞이면 적용 책임과 감사 근거가 사라집니다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F14E8D1-4F39-452D-AF22-36AA7EF9111D}"/>
              </a:ext>
            </a:extLst>
          </p:cNvPr>
          <p:cNvSpPr/>
          <p:nvPr/>
        </p:nvSpPr>
        <p:spPr>
          <a:xfrm>
            <a:off x="635000" y="5715000"/>
            <a:ext cx="1092200" cy="30480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질문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B6D3B83-6894-45FE-81E9-FAD238745262}"/>
              </a:ext>
            </a:extLst>
          </p:cNvPr>
          <p:cNvSpPr/>
          <p:nvPr/>
        </p:nvSpPr>
        <p:spPr>
          <a:xfrm>
            <a:off x="1905000" y="5664200"/>
            <a:ext cx="88900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개선안을 실제 업무에 적용하고</a:t>
            </a:r>
            <a:r>
              <a:rPr lang="en-US" altLang="ko-KR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측정하고</a:t>
            </a:r>
            <a:r>
              <a:rPr lang="en-US" altLang="ko-KR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책임질 수 있는가</a:t>
            </a:r>
            <a:r>
              <a:rPr lang="en-US" altLang="ko-KR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9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2D07D6A-93CE-4804-B999-836A90E6F336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119E699-EBDB-4C44-B4D8-44F017F7927A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7B39271-2F0C-41BD-8E53-4744C5DC58FD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99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974FAEA-0885-4197-B7F4-2341C4DA8201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BFB815-AA24-4B1E-93C2-AB593535BF41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목표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602ACDE-C0A2-4F9E-953E-E05431785175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7E15E8-52EA-442E-BBD3-19B4718429A1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그럴듯한 개선안이 아니라 실행하고 측정하며 책임질 수 있는 개선안만 운영으로 연결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F060D3B-6E21-4C9F-8429-8C3C98C9F5EB}"/>
              </a:ext>
            </a:extLst>
          </p:cNvPr>
          <p:cNvSpPr/>
          <p:nvPr/>
        </p:nvSpPr>
        <p:spPr>
          <a:xfrm>
            <a:off x="609600" y="1879600"/>
            <a:ext cx="3429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CFAEC4-377B-4D97-BD87-B2AFD41C5110}"/>
              </a:ext>
            </a:extLst>
          </p:cNvPr>
          <p:cNvSpPr/>
          <p:nvPr/>
        </p:nvSpPr>
        <p:spPr>
          <a:xfrm>
            <a:off x="609600" y="1879600"/>
            <a:ext cx="76200" cy="3530600"/>
          </a:xfrm>
          <a:prstGeom prst="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455A499-A229-49D3-B52F-0DFD351322E6}"/>
              </a:ext>
            </a:extLst>
          </p:cNvPr>
          <p:cNvSpPr/>
          <p:nvPr/>
        </p:nvSpPr>
        <p:spPr>
          <a:xfrm>
            <a:off x="914400" y="2184400"/>
            <a:ext cx="609600" cy="6096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9472AC-9F38-44D6-A534-ACAB237FEC36}"/>
              </a:ext>
            </a:extLst>
          </p:cNvPr>
          <p:cNvSpPr/>
          <p:nvPr/>
        </p:nvSpPr>
        <p:spPr>
          <a:xfrm>
            <a:off x="914400" y="2971800"/>
            <a:ext cx="2794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연결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CDD1DD-AB4A-4A00-9E1A-399D82AB385B}"/>
              </a:ext>
            </a:extLst>
          </p:cNvPr>
          <p:cNvSpPr/>
          <p:nvPr/>
        </p:nvSpPr>
        <p:spPr>
          <a:xfrm>
            <a:off x="914400" y="3632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13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66F626-F7CE-4796-87BB-5656AC3CC939}"/>
              </a:ext>
            </a:extLst>
          </p:cNvPr>
          <p:cNvSpPr/>
          <p:nvPr/>
        </p:nvSpPr>
        <p:spPr>
          <a:xfrm>
            <a:off x="914400" y="4013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· Case · Trace</a:t>
            </a:r>
            <a:endParaRPr lang="ko-KR" altLang="en-US" sz="13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50AB78A-34EF-45F0-B803-09EFF66F3A2B}"/>
              </a:ext>
            </a:extLst>
          </p:cNvPr>
          <p:cNvCxnSpPr/>
          <p:nvPr/>
        </p:nvCxnSpPr>
        <p:spPr>
          <a:xfrm>
            <a:off x="914400" y="4470400"/>
            <a:ext cx="2692400" cy="0"/>
          </a:xfrm>
          <a:prstGeom prst="line">
            <a:avLst/>
          </a:prstGeom>
          <a:ln w="1905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9A81A5-8E6A-4A77-8406-4E5AF1EA4A8E}"/>
              </a:ext>
            </a:extLst>
          </p:cNvPr>
          <p:cNvSpPr/>
          <p:nvPr/>
        </p:nvSpPr>
        <p:spPr>
          <a:xfrm>
            <a:off x="914400" y="4660900"/>
            <a:ext cx="2794000" cy="533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판단을 다시 추적할 수 있게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BDDAFE9-701C-43E4-875A-7C09FF94A03A}"/>
              </a:ext>
            </a:extLst>
          </p:cNvPr>
          <p:cNvSpPr/>
          <p:nvPr/>
        </p:nvSpPr>
        <p:spPr>
          <a:xfrm>
            <a:off x="4343400" y="1879600"/>
            <a:ext cx="3429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EABACF-35B1-42A9-AFD8-7A7330D79C12}"/>
              </a:ext>
            </a:extLst>
          </p:cNvPr>
          <p:cNvSpPr/>
          <p:nvPr/>
        </p:nvSpPr>
        <p:spPr>
          <a:xfrm>
            <a:off x="4343400" y="1879600"/>
            <a:ext cx="76200" cy="3530600"/>
          </a:xfrm>
          <a:prstGeom prst="rect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F30AD4C-A2AB-4B8A-8B11-CC6E6D259F56}"/>
              </a:ext>
            </a:extLst>
          </p:cNvPr>
          <p:cNvSpPr/>
          <p:nvPr/>
        </p:nvSpPr>
        <p:spPr>
          <a:xfrm>
            <a:off x="4648200" y="2184400"/>
            <a:ext cx="609600" cy="6096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261EE4-2BA3-4059-9714-0B36A24CC0FF}"/>
              </a:ext>
            </a:extLst>
          </p:cNvPr>
          <p:cNvSpPr/>
          <p:nvPr/>
        </p:nvSpPr>
        <p:spPr>
          <a:xfrm>
            <a:off x="4648200" y="2971800"/>
            <a:ext cx="2794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가능성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F7A34E-D797-4D92-B53B-3F7A183A3698}"/>
              </a:ext>
            </a:extLst>
          </p:cNvPr>
          <p:cNvSpPr/>
          <p:nvPr/>
        </p:nvSpPr>
        <p:spPr>
          <a:xfrm>
            <a:off x="4648200" y="3632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 </a:t>
            </a:r>
            <a:r>
              <a:rPr lang="en-US" altLang="ko-KR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 </a:t>
            </a:r>
            <a:r>
              <a:rPr lang="en-US" altLang="ko-KR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KPI</a:t>
            </a:r>
            <a:endParaRPr lang="ko-KR" altLang="en-US" sz="1300" b="1">
              <a:solidFill>
                <a:srgbClr val="2EC4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3A01CD-A0B2-4DF2-AA3A-397DB858AF69}"/>
              </a:ext>
            </a:extLst>
          </p:cNvPr>
          <p:cNvSpPr/>
          <p:nvPr/>
        </p:nvSpPr>
        <p:spPr>
          <a:xfrm>
            <a:off x="4648200" y="4013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범위 </a:t>
            </a:r>
            <a:r>
              <a:rPr lang="en-US" altLang="ko-KR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82A847B-35CE-424C-A57B-D94D962B70DA}"/>
              </a:ext>
            </a:extLst>
          </p:cNvPr>
          <p:cNvCxnSpPr/>
          <p:nvPr/>
        </p:nvCxnSpPr>
        <p:spPr>
          <a:xfrm>
            <a:off x="4648200" y="4470400"/>
            <a:ext cx="2692400" cy="0"/>
          </a:xfrm>
          <a:prstGeom prst="line">
            <a:avLst/>
          </a:prstGeom>
          <a:ln w="1905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FF91BE-C38A-4338-B3F3-0585ADB12246}"/>
              </a:ext>
            </a:extLst>
          </p:cNvPr>
          <p:cNvSpPr/>
          <p:nvPr/>
        </p:nvSpPr>
        <p:spPr>
          <a:xfrm>
            <a:off x="4648200" y="4660900"/>
            <a:ext cx="2794000" cy="533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현장에서 실행 가능한 수준으로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756AC76-B19A-4110-A964-CCD992C53C12}"/>
              </a:ext>
            </a:extLst>
          </p:cNvPr>
          <p:cNvSpPr/>
          <p:nvPr/>
        </p:nvSpPr>
        <p:spPr>
          <a:xfrm>
            <a:off x="8077200" y="1879600"/>
            <a:ext cx="3429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CF7826A-096B-4DCA-AE4D-6EF9DB7F55F3}"/>
              </a:ext>
            </a:extLst>
          </p:cNvPr>
          <p:cNvSpPr/>
          <p:nvPr/>
        </p:nvSpPr>
        <p:spPr>
          <a:xfrm>
            <a:off x="8077200" y="1879600"/>
            <a:ext cx="76200" cy="35306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93D9DB4-4BBE-4AEF-90B3-1BC364623612}"/>
              </a:ext>
            </a:extLst>
          </p:cNvPr>
          <p:cNvSpPr/>
          <p:nvPr/>
        </p:nvSpPr>
        <p:spPr>
          <a:xfrm>
            <a:off x="8382000" y="2184400"/>
            <a:ext cx="609600" cy="6096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35358D3-541D-47E2-AD77-098707148734}"/>
              </a:ext>
            </a:extLst>
          </p:cNvPr>
          <p:cNvSpPr/>
          <p:nvPr/>
        </p:nvSpPr>
        <p:spPr>
          <a:xfrm>
            <a:off x="8382000" y="2971800"/>
            <a:ext cx="2794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 있는 적용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556BBF-D78E-4765-AEFC-F4539A1B5BC0}"/>
              </a:ext>
            </a:extLst>
          </p:cNvPr>
          <p:cNvSpPr/>
          <p:nvPr/>
        </p:nvSpPr>
        <p:spPr>
          <a:xfrm>
            <a:off x="8382000" y="3632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평가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C74BBDC-0D65-4665-901C-F8B4A77F1F98}"/>
              </a:ext>
            </a:extLst>
          </p:cNvPr>
          <p:cNvSpPr/>
          <p:nvPr/>
        </p:nvSpPr>
        <p:spPr>
          <a:xfrm>
            <a:off x="8382000" y="4013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 · </a:t>
            </a:r>
            <a:r>
              <a:rPr lang="ko-KR" altLang="en-US" sz="13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승인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4E23D00-1A39-442F-A010-B4EDA58ECBC8}"/>
              </a:ext>
            </a:extLst>
          </p:cNvPr>
          <p:cNvCxnSpPr/>
          <p:nvPr/>
        </p:nvCxnSpPr>
        <p:spPr>
          <a:xfrm>
            <a:off x="8382000" y="4470400"/>
            <a:ext cx="2692400" cy="0"/>
          </a:xfrm>
          <a:prstGeom prst="line">
            <a:avLst/>
          </a:prstGeom>
          <a:ln w="1905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B07677-6152-42A6-96EB-129510802147}"/>
              </a:ext>
            </a:extLst>
          </p:cNvPr>
          <p:cNvSpPr/>
          <p:nvPr/>
        </p:nvSpPr>
        <p:spPr>
          <a:xfrm>
            <a:off x="8382000" y="4660900"/>
            <a:ext cx="2794000" cy="533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자동화와 사람 책임을 분리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641B48E-4C48-49BF-B1CF-F126BC75253B}"/>
              </a:ext>
            </a:extLst>
          </p:cNvPr>
          <p:cNvSpPr/>
          <p:nvPr/>
        </p:nvSpPr>
        <p:spPr>
          <a:xfrm>
            <a:off x="4445000" y="5816600"/>
            <a:ext cx="3302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WHY THIS PROCESS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53332BC-7E9B-485D-B257-E958E4EFE2A4}"/>
              </a:ext>
            </a:extLst>
          </p:cNvPr>
          <p:cNvSpPr/>
          <p:nvPr/>
        </p:nvSpPr>
        <p:spPr>
          <a:xfrm>
            <a:off x="2413000" y="6070600"/>
            <a:ext cx="7366000" cy="3175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6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6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답을 만드는 시스템 → </a:t>
            </a:r>
            <a:r>
              <a:rPr lang="en-US" altLang="ko-KR" sz="16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6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판단을 검증하는 시스템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00C8876-3E75-4FDD-AD0F-50B58ACF06A2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C8C618C-6481-4988-9F0B-42074812FB58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0B6424-63F4-45B9-AA92-E41F25B3FA41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496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91B9FD-8A9B-4DA9-BA2D-4428F8555BA3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5A677A-A8AE-43DC-AFF3-790F3B0F620E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E2E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A938D59-17DE-469F-BE90-A5291F87706C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67DA2A-A1B3-4FB2-BDAA-C4AE2E1E035E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단계의 상태와 증적을 분리하고 미달 시 보완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·RETEST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되돌립니다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00759E0-7F61-4C4B-93DF-82CCC837A75F}"/>
              </a:ext>
            </a:extLst>
          </p:cNvPr>
          <p:cNvSpPr/>
          <p:nvPr/>
        </p:nvSpPr>
        <p:spPr>
          <a:xfrm>
            <a:off x="533400" y="2349500"/>
            <a:ext cx="787400" cy="7874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AA4DE3-79B7-4980-81E6-C049ED940D9C}"/>
              </a:ext>
            </a:extLst>
          </p:cNvPr>
          <p:cNvSpPr/>
          <p:nvPr/>
        </p:nvSpPr>
        <p:spPr>
          <a:xfrm>
            <a:off x="3048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불만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49C69D9-DA71-4EFA-91B5-CBCAD5EB10B5}"/>
              </a:ext>
            </a:extLst>
          </p:cNvPr>
          <p:cNvCxnSpPr/>
          <p:nvPr/>
        </p:nvCxnSpPr>
        <p:spPr>
          <a:xfrm>
            <a:off x="13716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8328E90C-A7E1-4DE3-BEFE-8C0BA2005C44}"/>
              </a:ext>
            </a:extLst>
          </p:cNvPr>
          <p:cNvSpPr/>
          <p:nvPr/>
        </p:nvSpPr>
        <p:spPr>
          <a:xfrm>
            <a:off x="2159000" y="2349500"/>
            <a:ext cx="787400" cy="787400"/>
          </a:xfrm>
          <a:prstGeom prst="ellipse">
            <a:avLst/>
          </a:prstGeom>
          <a:solidFill>
            <a:srgbClr val="24B6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6A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2259CA-BE35-4D5B-AFBE-4B9AC4AC2F04}"/>
              </a:ext>
            </a:extLst>
          </p:cNvPr>
          <p:cNvSpPr/>
          <p:nvPr/>
        </p:nvSpPr>
        <p:spPr>
          <a:xfrm>
            <a:off x="19304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 Pipeline</a:t>
            </a:r>
            <a:endParaRPr lang="ko-KR" altLang="en-US" sz="11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062CFD3-FE08-4546-A478-411527CFD985}"/>
              </a:ext>
            </a:extLst>
          </p:cNvPr>
          <p:cNvCxnSpPr/>
          <p:nvPr/>
        </p:nvCxnSpPr>
        <p:spPr>
          <a:xfrm>
            <a:off x="29972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F6339D68-AB54-449B-A96E-F2A875246489}"/>
              </a:ext>
            </a:extLst>
          </p:cNvPr>
          <p:cNvSpPr/>
          <p:nvPr/>
        </p:nvSpPr>
        <p:spPr>
          <a:xfrm>
            <a:off x="3784600" y="2349500"/>
            <a:ext cx="787400" cy="7874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2A9184-65EE-4B01-B634-E4A7726EC066}"/>
              </a:ext>
            </a:extLst>
          </p:cNvPr>
          <p:cNvSpPr/>
          <p:nvPr/>
        </p:nvSpPr>
        <p:spPr>
          <a:xfrm>
            <a:off x="35560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Judge</a:t>
            </a:r>
            <a:endParaRPr lang="ko-KR" altLang="en-US" sz="11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3583BDA-FF30-41F4-B400-DBAD91AF9083}"/>
              </a:ext>
            </a:extLst>
          </p:cNvPr>
          <p:cNvCxnSpPr/>
          <p:nvPr/>
        </p:nvCxnSpPr>
        <p:spPr>
          <a:xfrm>
            <a:off x="46228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DD1C2474-BB35-4047-A3DD-60B956ED34DE}"/>
              </a:ext>
            </a:extLst>
          </p:cNvPr>
          <p:cNvSpPr/>
          <p:nvPr/>
        </p:nvSpPr>
        <p:spPr>
          <a:xfrm>
            <a:off x="5410200" y="2349500"/>
            <a:ext cx="787400" cy="7874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54EC0C-F14E-4281-8D54-D27A3A690B82}"/>
              </a:ext>
            </a:extLst>
          </p:cNvPr>
          <p:cNvSpPr/>
          <p:nvPr/>
        </p:nvSpPr>
        <p:spPr>
          <a:xfrm>
            <a:off x="51816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타당성 평가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EA6B2CA-E099-4BC7-AEFD-DD922D23E7AF}"/>
              </a:ext>
            </a:extLst>
          </p:cNvPr>
          <p:cNvCxnSpPr/>
          <p:nvPr/>
        </p:nvCxnSpPr>
        <p:spPr>
          <a:xfrm>
            <a:off x="62484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DDE96C13-DFF5-43D0-9251-52745C9D66E3}"/>
              </a:ext>
            </a:extLst>
          </p:cNvPr>
          <p:cNvSpPr/>
          <p:nvPr/>
        </p:nvSpPr>
        <p:spPr>
          <a:xfrm>
            <a:off x="7035800" y="2349500"/>
            <a:ext cx="787400" cy="787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E7CD10-D734-4ADD-B6A7-BC6E64E148F5}"/>
              </a:ext>
            </a:extLst>
          </p:cNvPr>
          <p:cNvSpPr/>
          <p:nvPr/>
        </p:nvSpPr>
        <p:spPr>
          <a:xfrm>
            <a:off x="68072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7A6073B-A992-43C3-81A0-9A7E65D3734B}"/>
              </a:ext>
            </a:extLst>
          </p:cNvPr>
          <p:cNvCxnSpPr/>
          <p:nvPr/>
        </p:nvCxnSpPr>
        <p:spPr>
          <a:xfrm>
            <a:off x="78740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B3C0D68E-CFCE-4E6D-B3B0-15EABE9A2C23}"/>
              </a:ext>
            </a:extLst>
          </p:cNvPr>
          <p:cNvSpPr/>
          <p:nvPr/>
        </p:nvSpPr>
        <p:spPr>
          <a:xfrm>
            <a:off x="8661400" y="2349500"/>
            <a:ext cx="787400" cy="787400"/>
          </a:xfrm>
          <a:prstGeom prst="ellipse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298B0DB-8CB6-4481-9DE7-91846F597C27}"/>
              </a:ext>
            </a:extLst>
          </p:cNvPr>
          <p:cNvSpPr/>
          <p:nvPr/>
        </p:nvSpPr>
        <p:spPr>
          <a:xfrm>
            <a:off x="84328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승인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FC4C5E2-BD4D-4C4F-9869-4CD4EACB62B1}"/>
              </a:ext>
            </a:extLst>
          </p:cNvPr>
          <p:cNvCxnSpPr/>
          <p:nvPr/>
        </p:nvCxnSpPr>
        <p:spPr>
          <a:xfrm>
            <a:off x="94996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135D8D55-8137-4692-9A7D-FB869A76DCF0}"/>
              </a:ext>
            </a:extLst>
          </p:cNvPr>
          <p:cNvSpPr/>
          <p:nvPr/>
        </p:nvSpPr>
        <p:spPr>
          <a:xfrm>
            <a:off x="10287000" y="2349500"/>
            <a:ext cx="787400" cy="787400"/>
          </a:xfrm>
          <a:prstGeom prst="ellipse">
            <a:avLst/>
          </a:prstGeom>
          <a:solidFill>
            <a:srgbClr val="1235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37D0AF-1272-4018-B77D-2D8174693CFB}"/>
              </a:ext>
            </a:extLst>
          </p:cNvPr>
          <p:cNvSpPr/>
          <p:nvPr/>
        </p:nvSpPr>
        <p:spPr>
          <a:xfrm>
            <a:off x="100584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증적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653A27E-96A8-4329-9A38-16B2A3757C8D}"/>
              </a:ext>
            </a:extLst>
          </p:cNvPr>
          <p:cNvSpPr/>
          <p:nvPr/>
        </p:nvSpPr>
        <p:spPr>
          <a:xfrm>
            <a:off x="1168400" y="4254500"/>
            <a:ext cx="9855200" cy="1397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5B511E3-860E-468E-B1DC-829BF7B52258}"/>
              </a:ext>
            </a:extLst>
          </p:cNvPr>
          <p:cNvSpPr/>
          <p:nvPr/>
        </p:nvSpPr>
        <p:spPr>
          <a:xfrm>
            <a:off x="1473200" y="4508500"/>
            <a:ext cx="13208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 b="1">
                <a:solidFill>
                  <a:srgbClr val="DF4C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보완 루프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A74249F-EF04-41CC-A7F4-FB7C3B7D15F3}"/>
              </a:ext>
            </a:extLst>
          </p:cNvPr>
          <p:cNvSpPr/>
          <p:nvPr/>
        </p:nvSpPr>
        <p:spPr>
          <a:xfrm>
            <a:off x="2921000" y="4508500"/>
            <a:ext cx="3556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REVIEW_REQUIRED · ERROR · REJECTED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22803D-731F-4696-8287-784E6965B5BE}"/>
              </a:ext>
            </a:extLst>
          </p:cNvPr>
          <p:cNvSpPr/>
          <p:nvPr/>
        </p:nvSpPr>
        <p:spPr>
          <a:xfrm>
            <a:off x="1473200" y="4953000"/>
            <a:ext cx="8890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실패를 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덮지 않고 원본 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연결된 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RETEST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같은 조건으로 재검증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C14DE2C-C2DB-4814-B9CB-A79E8F2CFD13}"/>
              </a:ext>
            </a:extLst>
          </p:cNvPr>
          <p:cNvCxnSpPr/>
          <p:nvPr/>
        </p:nvCxnSpPr>
        <p:spPr>
          <a:xfrm flipH="1">
            <a:off x="3632200" y="4216400"/>
            <a:ext cx="5003800" cy="0"/>
          </a:xfrm>
          <a:prstGeom prst="line">
            <a:avLst/>
          </a:prstGeom>
          <a:ln w="25400" cap="flat" cmpd="sng" algn="ctr">
            <a:solidFill>
              <a:srgbClr val="DF4C4C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A4530B3-3616-491F-86DA-16F54A4F85AA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7A386AE-E084-4CF3-86BB-4C2D32C4A47D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76DED47-7D35-4630-81E1-6B040A3D0E32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58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02B116-7FC0-4764-9623-5AE1ED050F09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EEBBC1-BF67-4DE2-83D4-1C80EB4D8A4F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결과관리 아키텍처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7F03BD-72E0-4755-BAFA-CEAE788E00F8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B1DE97-D1D2-4814-94CC-69E97AB82974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Streamlit UI, gRPC Agent,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평가와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증적을 하나의 감사 체인으로 연결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96B688B-0088-45C4-B744-98A04D3D3211}"/>
              </a:ext>
            </a:extLst>
          </p:cNvPr>
          <p:cNvSpPr/>
          <p:nvPr/>
        </p:nvSpPr>
        <p:spPr>
          <a:xfrm>
            <a:off x="558800" y="1714500"/>
            <a:ext cx="1371600" cy="762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EXPERIENCE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7977578-189F-475A-9D40-F05AB4E7E1E8}"/>
              </a:ext>
            </a:extLst>
          </p:cNvPr>
          <p:cNvSpPr/>
          <p:nvPr/>
        </p:nvSpPr>
        <p:spPr>
          <a:xfrm>
            <a:off x="1930400" y="1714500"/>
            <a:ext cx="9702800" cy="762000"/>
          </a:xfrm>
          <a:prstGeom prst="roundRect">
            <a:avLst/>
          </a:prstGeom>
          <a:solidFill>
            <a:srgbClr val="F4F7FB"/>
          </a:solidFill>
          <a:ln>
            <a:solidFill>
              <a:srgbClr val="D7E1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B21EE1-4AD8-42BB-8CAB-11E2C8F1E52B}"/>
              </a:ext>
            </a:extLst>
          </p:cNvPr>
          <p:cNvSpPr/>
          <p:nvPr/>
        </p:nvSpPr>
        <p:spPr>
          <a:xfrm>
            <a:off x="558800" y="3238500"/>
            <a:ext cx="1371600" cy="762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QUALITY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EB6E18B-8884-4EFD-89F6-807C166DD85D}"/>
              </a:ext>
            </a:extLst>
          </p:cNvPr>
          <p:cNvSpPr/>
          <p:nvPr/>
        </p:nvSpPr>
        <p:spPr>
          <a:xfrm>
            <a:off x="1930400" y="3238500"/>
            <a:ext cx="9702800" cy="762000"/>
          </a:xfrm>
          <a:prstGeom prst="roundRect">
            <a:avLst/>
          </a:prstGeom>
          <a:solidFill>
            <a:srgbClr val="F4F7FB"/>
          </a:solidFill>
          <a:ln>
            <a:solidFill>
              <a:srgbClr val="D7E1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59DC13-6340-42C5-8754-D7830DA8077C}"/>
              </a:ext>
            </a:extLst>
          </p:cNvPr>
          <p:cNvSpPr/>
          <p:nvPr/>
        </p:nvSpPr>
        <p:spPr>
          <a:xfrm>
            <a:off x="558800" y="4889500"/>
            <a:ext cx="1371600" cy="762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EVIDENCE &amp; AUDIT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33C2EB2-E41F-4C31-9759-BBA9A15CD797}"/>
              </a:ext>
            </a:extLst>
          </p:cNvPr>
          <p:cNvSpPr/>
          <p:nvPr/>
        </p:nvSpPr>
        <p:spPr>
          <a:xfrm>
            <a:off x="1930400" y="4889500"/>
            <a:ext cx="9702800" cy="762000"/>
          </a:xfrm>
          <a:prstGeom prst="roundRect">
            <a:avLst/>
          </a:prstGeom>
          <a:solidFill>
            <a:srgbClr val="F4F7FB"/>
          </a:solidFill>
          <a:ln>
            <a:solidFill>
              <a:srgbClr val="D7E1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588A785-4EB6-4A39-ADFF-7D899A7AA34B}"/>
              </a:ext>
            </a:extLst>
          </p:cNvPr>
          <p:cNvSpPr/>
          <p:nvPr/>
        </p:nvSpPr>
        <p:spPr>
          <a:xfrm>
            <a:off x="2286000" y="1854200"/>
            <a:ext cx="1905000" cy="50800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Streamlit
Dashboard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F656B96-4F01-4B8D-B72C-19A465542DC9}"/>
              </a:ext>
            </a:extLst>
          </p:cNvPr>
          <p:cNvSpPr/>
          <p:nvPr/>
        </p:nvSpPr>
        <p:spPr>
          <a:xfrm>
            <a:off x="4635500" y="1854200"/>
            <a:ext cx="1905000" cy="508000"/>
          </a:xfrm>
          <a:prstGeom prst="roundRect">
            <a:avLst/>
          </a:prstGeom>
          <a:solidFill>
            <a:srgbClr val="24B6D2"/>
          </a:solidFill>
          <a:ln w="12700">
            <a:solidFill>
              <a:srgbClr val="24B6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FastAPI
qa-observer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2CE8BF1-5AF2-4EA7-BC44-8BE3DB81575A}"/>
              </a:ext>
            </a:extLst>
          </p:cNvPr>
          <p:cNvSpPr/>
          <p:nvPr/>
        </p:nvSpPr>
        <p:spPr>
          <a:xfrm>
            <a:off x="6985000" y="1854200"/>
            <a:ext cx="1905000" cy="508000"/>
          </a:xfrm>
          <a:prstGeom prst="roundRect">
            <a:avLst/>
          </a:prstGeom>
          <a:solidFill>
            <a:srgbClr val="7C5CE7"/>
          </a:solidFill>
          <a:ln w="12700">
            <a:solidFill>
              <a:srgbClr val="7C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Jira · GitHub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0D903D7-66A5-4E65-B9BD-8B4E6E9E422C}"/>
              </a:ext>
            </a:extLst>
          </p:cNvPr>
          <p:cNvSpPr/>
          <p:nvPr/>
        </p:nvSpPr>
        <p:spPr>
          <a:xfrm>
            <a:off x="9334500" y="1854200"/>
            <a:ext cx="1905000" cy="508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Session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E878CE7-F20B-4B14-8CE6-A5BBC96AD0A5}"/>
              </a:ext>
            </a:extLst>
          </p:cNvPr>
          <p:cNvSpPr/>
          <p:nvPr/>
        </p:nvSpPr>
        <p:spPr>
          <a:xfrm>
            <a:off x="2286000" y="3378200"/>
            <a:ext cx="1905000" cy="635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gRPC Orchestrator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80E5862-DDDB-4FFA-AC98-72FDEAF3FEE3}"/>
              </a:ext>
            </a:extLst>
          </p:cNvPr>
          <p:cNvSpPr/>
          <p:nvPr/>
        </p:nvSpPr>
        <p:spPr>
          <a:xfrm>
            <a:off x="4635500" y="3378200"/>
            <a:ext cx="1905000" cy="63500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 Agent Pipeline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61287A2-E3B9-41EF-B40E-016E3823C89D}"/>
              </a:ext>
            </a:extLst>
          </p:cNvPr>
          <p:cNvSpPr/>
          <p:nvPr/>
        </p:nvSpPr>
        <p:spPr>
          <a:xfrm>
            <a:off x="6985000" y="3378200"/>
            <a:ext cx="1905000" cy="635000"/>
          </a:xfrm>
          <a:prstGeom prst="roundRect">
            <a:avLst/>
          </a:prstGeom>
          <a:solidFill>
            <a:srgbClr val="7C5CE7"/>
          </a:solidFill>
          <a:ln w="12700">
            <a:solidFill>
              <a:srgbClr val="7C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Independent Judge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A0FEB80-FCCD-4AD9-994F-6135E85ACF21}"/>
              </a:ext>
            </a:extLst>
          </p:cNvPr>
          <p:cNvSpPr/>
          <p:nvPr/>
        </p:nvSpPr>
        <p:spPr>
          <a:xfrm>
            <a:off x="9334500" y="3378200"/>
            <a:ext cx="1905000" cy="635000"/>
          </a:xfrm>
          <a:prstGeom prst="roundRect">
            <a:avLst/>
          </a:prstGeom>
          <a:solidFill>
            <a:srgbClr val="2EC4A6"/>
          </a:solidFill>
          <a:ln w="12700">
            <a:solidFill>
              <a:srgbClr val="2EC4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Validity + Approval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2462B4D-552E-47B7-9668-B603E60B45A2}"/>
              </a:ext>
            </a:extLst>
          </p:cNvPr>
          <p:cNvSpPr/>
          <p:nvPr/>
        </p:nvSpPr>
        <p:spPr>
          <a:xfrm>
            <a:off x="2286000" y="5029200"/>
            <a:ext cx="2286000" cy="60960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· Case · Trace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D093B80-2432-41BE-9082-5C8508E593FA}"/>
              </a:ext>
            </a:extLst>
          </p:cNvPr>
          <p:cNvSpPr/>
          <p:nvPr/>
        </p:nvSpPr>
        <p:spPr>
          <a:xfrm>
            <a:off x="4953000" y="5029200"/>
            <a:ext cx="1905000" cy="609600"/>
          </a:xfrm>
          <a:prstGeom prst="roundRect">
            <a:avLst/>
          </a:prstGeom>
          <a:solidFill>
            <a:srgbClr val="24B6D2"/>
          </a:solidFill>
          <a:ln w="12700">
            <a:solidFill>
              <a:srgbClr val="24B6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Rubric · Hash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2798AD8-5997-4E0F-940E-8B52F1A39A2D}"/>
              </a:ext>
            </a:extLst>
          </p:cNvPr>
          <p:cNvSpPr/>
          <p:nvPr/>
        </p:nvSpPr>
        <p:spPr>
          <a:xfrm>
            <a:off x="7239000" y="5029200"/>
            <a:ext cx="1905000" cy="6096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Audit Manifest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363B073-D8A2-4A06-9018-296DEF5B85BE}"/>
              </a:ext>
            </a:extLst>
          </p:cNvPr>
          <p:cNvSpPr/>
          <p:nvPr/>
        </p:nvSpPr>
        <p:spPr>
          <a:xfrm>
            <a:off x="9525000" y="5029200"/>
            <a:ext cx="1905000" cy="609600"/>
          </a:xfrm>
          <a:prstGeom prst="roundRect">
            <a:avLst/>
          </a:prstGeom>
          <a:solidFill>
            <a:srgbClr val="16A36A"/>
          </a:solidFill>
          <a:ln w="12700">
            <a:solidFill>
              <a:srgbClr val="16A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S3 Evidence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B463FE1-5755-46B7-942F-A9A14CD5BF96}"/>
              </a:ext>
            </a:extLst>
          </p:cNvPr>
          <p:cNvCxnSpPr/>
          <p:nvPr/>
        </p:nvCxnSpPr>
        <p:spPr>
          <a:xfrm>
            <a:off x="4191000" y="21082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43EFAE2-0422-4263-AE14-3B42F8EDBD3F}"/>
              </a:ext>
            </a:extLst>
          </p:cNvPr>
          <p:cNvCxnSpPr/>
          <p:nvPr/>
        </p:nvCxnSpPr>
        <p:spPr>
          <a:xfrm>
            <a:off x="6540500" y="21082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9581197-0660-42A1-AC7D-175E97AFDAA1}"/>
              </a:ext>
            </a:extLst>
          </p:cNvPr>
          <p:cNvCxnSpPr/>
          <p:nvPr/>
        </p:nvCxnSpPr>
        <p:spPr>
          <a:xfrm>
            <a:off x="8890000" y="21082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4CEBA3E-8BC8-434B-A49A-F81FF143C804}"/>
              </a:ext>
            </a:extLst>
          </p:cNvPr>
          <p:cNvCxnSpPr/>
          <p:nvPr/>
        </p:nvCxnSpPr>
        <p:spPr>
          <a:xfrm>
            <a:off x="4191000" y="36957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7EEDF68-D734-4404-B955-BE36BE025D40}"/>
              </a:ext>
            </a:extLst>
          </p:cNvPr>
          <p:cNvCxnSpPr/>
          <p:nvPr/>
        </p:nvCxnSpPr>
        <p:spPr>
          <a:xfrm>
            <a:off x="6540500" y="36957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2AB94E2-851A-491A-9E30-B70B6122FF2F}"/>
              </a:ext>
            </a:extLst>
          </p:cNvPr>
          <p:cNvCxnSpPr/>
          <p:nvPr/>
        </p:nvCxnSpPr>
        <p:spPr>
          <a:xfrm>
            <a:off x="8890000" y="36957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0FCBA71-DE6B-467F-B283-2F1FE598FA7E}"/>
              </a:ext>
            </a:extLst>
          </p:cNvPr>
          <p:cNvCxnSpPr/>
          <p:nvPr/>
        </p:nvCxnSpPr>
        <p:spPr>
          <a:xfrm>
            <a:off x="4572000" y="5334000"/>
            <a:ext cx="3810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0FC8360-4E53-4E23-857E-322739ABD9E9}"/>
              </a:ext>
            </a:extLst>
          </p:cNvPr>
          <p:cNvCxnSpPr/>
          <p:nvPr/>
        </p:nvCxnSpPr>
        <p:spPr>
          <a:xfrm>
            <a:off x="6858000" y="5334000"/>
            <a:ext cx="3810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6D0B95A-6FFC-4E6A-B7D2-B85B9EA88412}"/>
              </a:ext>
            </a:extLst>
          </p:cNvPr>
          <p:cNvCxnSpPr/>
          <p:nvPr/>
        </p:nvCxnSpPr>
        <p:spPr>
          <a:xfrm>
            <a:off x="9144000" y="5334000"/>
            <a:ext cx="3810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3C68B8C-ED22-4E6A-8872-27EBA8607E66}"/>
              </a:ext>
            </a:extLst>
          </p:cNvPr>
          <p:cNvCxnSpPr/>
          <p:nvPr/>
        </p:nvCxnSpPr>
        <p:spPr>
          <a:xfrm>
            <a:off x="3238500" y="24130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51D0A91-EA4E-4452-9EB4-AAED2E81407A}"/>
              </a:ext>
            </a:extLst>
          </p:cNvPr>
          <p:cNvCxnSpPr/>
          <p:nvPr/>
        </p:nvCxnSpPr>
        <p:spPr>
          <a:xfrm>
            <a:off x="5588000" y="24130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C0C5CEF-A749-4868-9FAE-76F900975C06}"/>
              </a:ext>
            </a:extLst>
          </p:cNvPr>
          <p:cNvCxnSpPr/>
          <p:nvPr/>
        </p:nvCxnSpPr>
        <p:spPr>
          <a:xfrm>
            <a:off x="7937500" y="24130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13AAFE1-E415-41DA-A5CB-55F20836FFD9}"/>
              </a:ext>
            </a:extLst>
          </p:cNvPr>
          <p:cNvCxnSpPr/>
          <p:nvPr/>
        </p:nvCxnSpPr>
        <p:spPr>
          <a:xfrm>
            <a:off x="10287000" y="24130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240FFA6-478F-41C8-B53B-89347D84167E}"/>
              </a:ext>
            </a:extLst>
          </p:cNvPr>
          <p:cNvCxnSpPr/>
          <p:nvPr/>
        </p:nvCxnSpPr>
        <p:spPr>
          <a:xfrm>
            <a:off x="3238500" y="40513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A65880F-79A8-4F3F-A874-063CC788308B}"/>
              </a:ext>
            </a:extLst>
          </p:cNvPr>
          <p:cNvCxnSpPr/>
          <p:nvPr/>
        </p:nvCxnSpPr>
        <p:spPr>
          <a:xfrm>
            <a:off x="5588000" y="40513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164A5DE-C8A4-473A-AE47-74E7D2CF5A1D}"/>
              </a:ext>
            </a:extLst>
          </p:cNvPr>
          <p:cNvCxnSpPr/>
          <p:nvPr/>
        </p:nvCxnSpPr>
        <p:spPr>
          <a:xfrm>
            <a:off x="7937500" y="40513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5F740962-BED2-4016-89DF-5161C9086693}"/>
              </a:ext>
            </a:extLst>
          </p:cNvPr>
          <p:cNvCxnSpPr/>
          <p:nvPr/>
        </p:nvCxnSpPr>
        <p:spPr>
          <a:xfrm>
            <a:off x="10287000" y="40513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47ACBC6-D0C4-492C-A47C-A438620F10B9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9CF7F66-C42D-48F7-88DA-830BF317BFEC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90B9E4F-CE58-492D-92E1-83A0AC0A29BA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00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4D6DD0-82C6-4F61-BF84-A93F73591554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337458-505D-435A-87CE-E10C890CDFD8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책임과 실패 지점을 분리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9D374D5-71DC-4D62-85EA-DDCDC0AB6BC7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8BCA42-89F0-441A-B94C-0EA3488EE63C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수보다 중요한 것은 역할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·Trace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독립적으로 확인할 수 있다는 점입니다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AB72380-257D-4EAE-BBDA-B5CCBBEE3654}"/>
              </a:ext>
            </a:extLst>
          </p:cNvPr>
          <p:cNvSpPr/>
          <p:nvPr/>
        </p:nvSpPr>
        <p:spPr>
          <a:xfrm>
            <a:off x="584200" y="1676400"/>
            <a:ext cx="6858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288ADB-13DF-4A95-943E-436BAE660CD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41500"/>
            <a:ext cx="6502400" cy="4013200"/>
          </a:xfrm>
          <a:prstGeom prst="rect">
            <a:avLst/>
          </a:prstGeom>
          <a:ln>
            <a:solidFill>
              <a:srgbClr val="D7E1EE"/>
            </a:solidFill>
          </a:ln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2D1324B5-9096-43A4-A7B4-3DDE5081309D}"/>
              </a:ext>
            </a:extLst>
          </p:cNvPr>
          <p:cNvSpPr/>
          <p:nvPr/>
        </p:nvSpPr>
        <p:spPr>
          <a:xfrm>
            <a:off x="7874000" y="1676400"/>
            <a:ext cx="406400" cy="4064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752385-1A50-49D3-9D20-5E180FDF6239}"/>
              </a:ext>
            </a:extLst>
          </p:cNvPr>
          <p:cNvSpPr/>
          <p:nvPr/>
        </p:nvSpPr>
        <p:spPr>
          <a:xfrm>
            <a:off x="8445500" y="16256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Interpreter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1733E2-BA78-440D-AB02-53F04E3F6E5F}"/>
              </a:ext>
            </a:extLst>
          </p:cNvPr>
          <p:cNvSpPr/>
          <p:nvPr/>
        </p:nvSpPr>
        <p:spPr>
          <a:xfrm>
            <a:off x="8445500" y="19177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 의도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조건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87D537E-6893-4CC1-AA50-1966E8096225}"/>
              </a:ext>
            </a:extLst>
          </p:cNvPr>
          <p:cNvSpPr/>
          <p:nvPr/>
        </p:nvSpPr>
        <p:spPr>
          <a:xfrm>
            <a:off x="7874000" y="2451100"/>
            <a:ext cx="406400" cy="4064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3F05E5-DC3D-432F-88F2-E5D92A111E80}"/>
              </a:ext>
            </a:extLst>
          </p:cNvPr>
          <p:cNvSpPr/>
          <p:nvPr/>
        </p:nvSpPr>
        <p:spPr>
          <a:xfrm>
            <a:off x="8445500" y="24003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Retriever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36799C-0ECA-4638-B66F-267A362140DD}"/>
              </a:ext>
            </a:extLst>
          </p:cNvPr>
          <p:cNvSpPr/>
          <p:nvPr/>
        </p:nvSpPr>
        <p:spPr>
          <a:xfrm>
            <a:off x="8445500" y="26924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 근거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2D290A0-BA9C-4F2B-9836-18E78599DF96}"/>
              </a:ext>
            </a:extLst>
          </p:cNvPr>
          <p:cNvSpPr/>
          <p:nvPr/>
        </p:nvSpPr>
        <p:spPr>
          <a:xfrm>
            <a:off x="7874000" y="3225800"/>
            <a:ext cx="406400" cy="406400"/>
          </a:xfrm>
          <a:prstGeom prst="ellipse">
            <a:avLst/>
          </a:prstGeom>
          <a:solidFill>
            <a:srgbClr val="24B6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7B4F55-8400-449E-B224-5E14F75D410E}"/>
              </a:ext>
            </a:extLst>
          </p:cNvPr>
          <p:cNvSpPr/>
          <p:nvPr/>
        </p:nvSpPr>
        <p:spPr>
          <a:xfrm>
            <a:off x="8445500" y="31750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Summarizer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67A2A1-A221-4299-9782-220F13DECD05}"/>
              </a:ext>
            </a:extLst>
          </p:cNvPr>
          <p:cNvSpPr/>
          <p:nvPr/>
        </p:nvSpPr>
        <p:spPr>
          <a:xfrm>
            <a:off x="8445500" y="34671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 제어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2A9D10E-1685-411D-BBD1-2707D92D235B}"/>
              </a:ext>
            </a:extLst>
          </p:cNvPr>
          <p:cNvSpPr/>
          <p:nvPr/>
        </p:nvSpPr>
        <p:spPr>
          <a:xfrm>
            <a:off x="7874000" y="4000500"/>
            <a:ext cx="406400" cy="4064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BB4C658-212A-4739-8E56-08034B8E3AF4}"/>
              </a:ext>
            </a:extLst>
          </p:cNvPr>
          <p:cNvSpPr/>
          <p:nvPr/>
        </p:nvSpPr>
        <p:spPr>
          <a:xfrm>
            <a:off x="8445500" y="39497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Evaluator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3C0493-2631-472C-8498-B0B69DA2FABB}"/>
              </a:ext>
            </a:extLst>
          </p:cNvPr>
          <p:cNvSpPr/>
          <p:nvPr/>
        </p:nvSpPr>
        <p:spPr>
          <a:xfrm>
            <a:off x="8445500" y="42418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상대평가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E577C24-2B8D-4C06-A72C-0713BC805AE1}"/>
              </a:ext>
            </a:extLst>
          </p:cNvPr>
          <p:cNvSpPr/>
          <p:nvPr/>
        </p:nvSpPr>
        <p:spPr>
          <a:xfrm>
            <a:off x="7874000" y="4775200"/>
            <a:ext cx="406400" cy="406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EDB7CF6-4381-440C-87DD-5FBE9D8F3EF5}"/>
              </a:ext>
            </a:extLst>
          </p:cNvPr>
          <p:cNvSpPr/>
          <p:nvPr/>
        </p:nvSpPr>
        <p:spPr>
          <a:xfrm>
            <a:off x="8445500" y="47244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Critic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483BD5-1741-4572-86B8-8C654E006D13}"/>
              </a:ext>
            </a:extLst>
          </p:cNvPr>
          <p:cNvSpPr/>
          <p:nvPr/>
        </p:nvSpPr>
        <p:spPr>
          <a:xfrm>
            <a:off x="8445500" y="50165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누락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탐지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34E9E35-55F0-4523-9F10-6D5E27706CDA}"/>
              </a:ext>
            </a:extLst>
          </p:cNvPr>
          <p:cNvSpPr/>
          <p:nvPr/>
        </p:nvSpPr>
        <p:spPr>
          <a:xfrm>
            <a:off x="7874000" y="5549900"/>
            <a:ext cx="406400" cy="406400"/>
          </a:xfrm>
          <a:prstGeom prst="ellipse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649B10-B1AA-425D-82BD-9248DE4E3D83}"/>
              </a:ext>
            </a:extLst>
          </p:cNvPr>
          <p:cNvSpPr/>
          <p:nvPr/>
        </p:nvSpPr>
        <p:spPr>
          <a:xfrm>
            <a:off x="8445500" y="54991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Improver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425299-054A-4BF6-B8C3-541859224866}"/>
              </a:ext>
            </a:extLst>
          </p:cNvPr>
          <p:cNvSpPr/>
          <p:nvPr/>
        </p:nvSpPr>
        <p:spPr>
          <a:xfrm>
            <a:off x="8445500" y="57912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개선안 생성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B3A2DFC-5DFC-4B8D-B9E8-61B9ED99EA09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66BFA50-FCB6-4018-A30A-163013230F7E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A3BE492-5F7D-4CCE-9AAF-4B1649A97C10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882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61CE516-4CAB-4BB7-820F-811E90BD5CDF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88B0D3-031D-424C-BDBC-4B5AB0333FDC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Judge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자기평가 편향 보완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01433DD-BBB7-4FA0-8D14-B38ECF97DCC8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17A009-4334-40DA-8385-F39A4EF74819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 평가와 최종 평가의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Provider·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·Rubric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분리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D00DA51-C08F-4B95-8C2E-A0F19F2B1D69}"/>
              </a:ext>
            </a:extLst>
          </p:cNvPr>
          <p:cNvSpPr/>
          <p:nvPr/>
        </p:nvSpPr>
        <p:spPr>
          <a:xfrm>
            <a:off x="609600" y="1803400"/>
            <a:ext cx="4597400" cy="36322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3D5DDA-66A0-4866-A7B0-1B300EA224A3}"/>
              </a:ext>
            </a:extLst>
          </p:cNvPr>
          <p:cNvSpPr/>
          <p:nvPr/>
        </p:nvSpPr>
        <p:spPr>
          <a:xfrm>
            <a:off x="914400" y="2082800"/>
            <a:ext cx="1778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 </a:t>
            </a:r>
            <a:r>
              <a:rPr lang="ko-KR" altLang="en-US" sz="9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F347110-E492-4853-AAC8-F9738E6ACB5B}"/>
              </a:ext>
            </a:extLst>
          </p:cNvPr>
          <p:cNvSpPr/>
          <p:nvPr/>
        </p:nvSpPr>
        <p:spPr>
          <a:xfrm>
            <a:off x="1117600" y="2743200"/>
            <a:ext cx="889000" cy="8890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A07CEA-2805-4D7D-A2A9-C55F27DBDF0F}"/>
              </a:ext>
            </a:extLst>
          </p:cNvPr>
          <p:cNvSpPr/>
          <p:nvPr/>
        </p:nvSpPr>
        <p:spPr>
          <a:xfrm>
            <a:off x="2235200" y="2743200"/>
            <a:ext cx="2032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Evaluator</a:t>
            </a:r>
            <a:endParaRPr lang="ko-KR" altLang="en-US" sz="17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CFA836-037B-433A-A5F9-E4D513955757}"/>
              </a:ext>
            </a:extLst>
          </p:cNvPr>
          <p:cNvSpPr/>
          <p:nvPr/>
        </p:nvSpPr>
        <p:spPr>
          <a:xfrm>
            <a:off x="2235200" y="3136900"/>
            <a:ext cx="2032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간 상대평가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5AFC01D-55FE-4A41-91D3-638B724F4864}"/>
              </a:ext>
            </a:extLst>
          </p:cNvPr>
          <p:cNvSpPr/>
          <p:nvPr/>
        </p:nvSpPr>
        <p:spPr>
          <a:xfrm>
            <a:off x="1117600" y="3937000"/>
            <a:ext cx="889000" cy="8890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CCCEF1-43BE-4F84-9382-71EE7DB21AFE}"/>
              </a:ext>
            </a:extLst>
          </p:cNvPr>
          <p:cNvSpPr/>
          <p:nvPr/>
        </p:nvSpPr>
        <p:spPr>
          <a:xfrm>
            <a:off x="2235200" y="3937000"/>
            <a:ext cx="2032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Critic</a:t>
            </a:r>
            <a:endParaRPr lang="ko-KR" altLang="en-US" sz="17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1307BD-772F-45B4-BCF3-F2344FDE5BE6}"/>
              </a:ext>
            </a:extLst>
          </p:cNvPr>
          <p:cNvSpPr/>
          <p:nvPr/>
        </p:nvSpPr>
        <p:spPr>
          <a:xfrm>
            <a:off x="2235200" y="4330700"/>
            <a:ext cx="2159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누락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모순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검토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864C813-B2D1-4417-A2F1-D9BE00ED9163}"/>
              </a:ext>
            </a:extLst>
          </p:cNvPr>
          <p:cNvCxnSpPr/>
          <p:nvPr/>
        </p:nvCxnSpPr>
        <p:spPr>
          <a:xfrm>
            <a:off x="5461000" y="3619500"/>
            <a:ext cx="952500" cy="0"/>
          </a:xfrm>
          <a:prstGeom prst="line">
            <a:avLst/>
          </a:prstGeom>
          <a:ln w="38100" cap="flat" cmpd="sng" algn="ctr">
            <a:solidFill>
              <a:srgbClr val="7C5CE7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1AD2B2-41D2-4615-81B6-2365FF888DEE}"/>
              </a:ext>
            </a:extLst>
          </p:cNvPr>
          <p:cNvSpPr/>
          <p:nvPr/>
        </p:nvSpPr>
        <p:spPr>
          <a:xfrm>
            <a:off x="5486400" y="3149600"/>
            <a:ext cx="889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9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평가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ABA1D84-3916-4D00-80FC-AD757320B0E6}"/>
              </a:ext>
            </a:extLst>
          </p:cNvPr>
          <p:cNvSpPr/>
          <p:nvPr/>
        </p:nvSpPr>
        <p:spPr>
          <a:xfrm>
            <a:off x="6680200" y="1803400"/>
            <a:ext cx="49022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5CE7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719105-DB1C-40F2-AB14-6AFAD0A25925}"/>
              </a:ext>
            </a:extLst>
          </p:cNvPr>
          <p:cNvSpPr/>
          <p:nvPr/>
        </p:nvSpPr>
        <p:spPr>
          <a:xfrm>
            <a:off x="6680200" y="1803400"/>
            <a:ext cx="76200" cy="36322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EC6BAD-065B-414C-AE4F-5D72EF02FCAA}"/>
              </a:ext>
            </a:extLst>
          </p:cNvPr>
          <p:cNvSpPr/>
          <p:nvPr/>
        </p:nvSpPr>
        <p:spPr>
          <a:xfrm>
            <a:off x="7035800" y="2082800"/>
            <a:ext cx="2794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INDEPENDENT JUDGE</a:t>
            </a:r>
            <a:endParaRPr lang="ko-KR" altLang="en-US" sz="900" b="1">
              <a:solidFill>
                <a:srgbClr val="7C5CE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0A3C67-A55C-4FA4-8C42-DC3964700C07}"/>
              </a:ext>
            </a:extLst>
          </p:cNvPr>
          <p:cNvSpPr/>
          <p:nvPr/>
        </p:nvSpPr>
        <p:spPr>
          <a:xfrm>
            <a:off x="7035800" y="26035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Provider · </a:t>
            </a:r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A2E5ED-ECA3-4452-8B8F-279A3F354E27}"/>
              </a:ext>
            </a:extLst>
          </p:cNvPr>
          <p:cNvSpPr/>
          <p:nvPr/>
        </p:nvSpPr>
        <p:spPr>
          <a:xfrm>
            <a:off x="7035800" y="3073400"/>
            <a:ext cx="3937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Rubric ·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차원별 근거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 등급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8BC7520-2810-44F8-9329-087DB4CDFE94}"/>
              </a:ext>
            </a:extLst>
          </p:cNvPr>
          <p:cNvSpPr/>
          <p:nvPr/>
        </p:nvSpPr>
        <p:spPr>
          <a:xfrm>
            <a:off x="7035800" y="3708400"/>
            <a:ext cx="190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AB52B92-2F82-4100-8A03-56C98C4F8EFA}"/>
              </a:ext>
            </a:extLst>
          </p:cNvPr>
          <p:cNvSpPr/>
          <p:nvPr/>
        </p:nvSpPr>
        <p:spPr>
          <a:xfrm>
            <a:off x="7035800" y="3708400"/>
            <a:ext cx="76200" cy="14224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1C26DA-6120-448C-94AD-8BEC52A95FDC}"/>
              </a:ext>
            </a:extLst>
          </p:cNvPr>
          <p:cNvSpPr/>
          <p:nvPr/>
        </p:nvSpPr>
        <p:spPr>
          <a:xfrm>
            <a:off x="7289800" y="3911600"/>
            <a:ext cx="14732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시연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241622D-541D-42A2-8C8E-833D7E1E49C5}"/>
              </a:ext>
            </a:extLst>
          </p:cNvPr>
          <p:cNvSpPr/>
          <p:nvPr/>
        </p:nvSpPr>
        <p:spPr>
          <a:xfrm>
            <a:off x="7289800" y="4216400"/>
            <a:ext cx="14732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 sz="22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F901D3-3F25-4B9F-8EE5-5477793BBE5A}"/>
              </a:ext>
            </a:extLst>
          </p:cNvPr>
          <p:cNvSpPr/>
          <p:nvPr/>
        </p:nvSpPr>
        <p:spPr>
          <a:xfrm>
            <a:off x="7289800" y="4724400"/>
            <a:ext cx="14732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2789D2A-0C13-497F-A8E9-775C89C758AA}"/>
              </a:ext>
            </a:extLst>
          </p:cNvPr>
          <p:cNvSpPr/>
          <p:nvPr/>
        </p:nvSpPr>
        <p:spPr>
          <a:xfrm>
            <a:off x="9194800" y="3708400"/>
            <a:ext cx="190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B4AABB-7849-4A91-A8D8-FA164D8BAB62}"/>
              </a:ext>
            </a:extLst>
          </p:cNvPr>
          <p:cNvSpPr/>
          <p:nvPr/>
        </p:nvSpPr>
        <p:spPr>
          <a:xfrm>
            <a:off x="9194800" y="3708400"/>
            <a:ext cx="76200" cy="1422400"/>
          </a:xfrm>
          <a:prstGeom prst="rect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EA2AF0-823C-4FAF-89FF-A722CF0E3938}"/>
              </a:ext>
            </a:extLst>
          </p:cNvPr>
          <p:cNvSpPr/>
          <p:nvPr/>
        </p:nvSpPr>
        <p:spPr>
          <a:xfrm>
            <a:off x="9448800" y="3911600"/>
            <a:ext cx="14732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20529C-0B1C-4C87-BF1E-AED678FC78A8}"/>
              </a:ext>
            </a:extLst>
          </p:cNvPr>
          <p:cNvSpPr/>
          <p:nvPr/>
        </p:nvSpPr>
        <p:spPr>
          <a:xfrm>
            <a:off x="9448800" y="4216400"/>
            <a:ext cx="14732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2200" b="1">
              <a:solidFill>
                <a:srgbClr val="16A36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F7306E-BFC9-420A-8D08-6FAFD8A19059}"/>
              </a:ext>
            </a:extLst>
          </p:cNvPr>
          <p:cNvSpPr/>
          <p:nvPr/>
        </p:nvSpPr>
        <p:spPr>
          <a:xfrm>
            <a:off x="9448800" y="4724400"/>
            <a:ext cx="14732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Provider 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3321F2D-9EC5-4629-9AE1-EEC633908878}"/>
              </a:ext>
            </a:extLst>
          </p:cNvPr>
          <p:cNvSpPr/>
          <p:nvPr/>
        </p:nvSpPr>
        <p:spPr>
          <a:xfrm>
            <a:off x="2438400" y="5791200"/>
            <a:ext cx="7315200" cy="38100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EAF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계열 평가 </a:t>
            </a:r>
            <a:r>
              <a:rPr lang="en-US" altLang="ko-KR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91</a:t>
            </a:r>
            <a:r>
              <a:rPr lang="ko-KR" altLang="en-US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·C → Provider </a:t>
            </a:r>
            <a:r>
              <a:rPr lang="ko-KR" altLang="en-US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분리 후 </a:t>
            </a:r>
            <a:r>
              <a:rPr lang="en-US" altLang="ko-KR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·A</a:t>
            </a:r>
            <a:endParaRPr lang="ko-KR" altLang="en-US" sz="14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1556997-83EA-4F3D-8FA3-051A5F44C6F3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F687578-44E5-4944-8782-1ECDA6C9B2A4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D965793-EC89-406F-B8A7-6516D6740348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198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5AEE11A-0A37-4ED4-87A2-E9220C0A7D8B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3085FB-6855-4C03-B7BF-BAB9797539D2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차별점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개선안 타당성 평가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DE0F24-CD49-4155-BB4A-F733BBFE7BA7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1943B6-B45A-4265-BB15-CA1906CF37FB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품질을 넘어 실제 실행 가능성과 운영 위험을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기준으로 검증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583615-2762-408C-AC0B-07BD2842B48F}"/>
              </a:ext>
            </a:extLst>
          </p:cNvPr>
          <p:cNvSpPr/>
          <p:nvPr/>
        </p:nvSpPr>
        <p:spPr>
          <a:xfrm>
            <a:off x="685800" y="18415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 ↔ 개선안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1CA63B6-79F6-414E-AB78-345942AC484B}"/>
              </a:ext>
            </a:extLst>
          </p:cNvPr>
          <p:cNvSpPr/>
          <p:nvPr/>
        </p:nvSpPr>
        <p:spPr>
          <a:xfrm>
            <a:off x="2717800" y="18669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3433128-A2EB-4CF5-9814-E11906BB8FC7}"/>
              </a:ext>
            </a:extLst>
          </p:cNvPr>
          <p:cNvSpPr/>
          <p:nvPr/>
        </p:nvSpPr>
        <p:spPr>
          <a:xfrm>
            <a:off x="2717800" y="1866900"/>
            <a:ext cx="4023360" cy="203200"/>
          </a:xfrm>
          <a:prstGeom prst="round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004D58-D00C-40A7-82E5-BA3FFC875A13}"/>
              </a:ext>
            </a:extLst>
          </p:cNvPr>
          <p:cNvSpPr/>
          <p:nvPr/>
        </p:nvSpPr>
        <p:spPr>
          <a:xfrm>
            <a:off x="7467600" y="18161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r>
            <a:r>
              <a:rPr lang="ko-KR" altLang="en-US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8FE5F3-BB03-4338-8322-B40CA004C5B9}"/>
              </a:ext>
            </a:extLst>
          </p:cNvPr>
          <p:cNvSpPr/>
          <p:nvPr/>
        </p:nvSpPr>
        <p:spPr>
          <a:xfrm>
            <a:off x="685800" y="24511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· Trace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5305C6D-2E82-4736-A6F2-DA03EBA8E3E0}"/>
              </a:ext>
            </a:extLst>
          </p:cNvPr>
          <p:cNvSpPr/>
          <p:nvPr/>
        </p:nvSpPr>
        <p:spPr>
          <a:xfrm>
            <a:off x="2717800" y="24765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FAED078-3824-448A-AF7E-0B9568F650AB}"/>
              </a:ext>
            </a:extLst>
          </p:cNvPr>
          <p:cNvSpPr/>
          <p:nvPr/>
        </p:nvSpPr>
        <p:spPr>
          <a:xfrm>
            <a:off x="2717800" y="2476500"/>
            <a:ext cx="4023360" cy="203200"/>
          </a:xfrm>
          <a:prstGeom prst="roundRect">
            <a:avLst/>
          </a:prstGeom>
          <a:solidFill>
            <a:srgbClr val="24B6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B05978-757D-4E88-BE06-3E1868D13C21}"/>
              </a:ext>
            </a:extLst>
          </p:cNvPr>
          <p:cNvSpPr/>
          <p:nvPr/>
        </p:nvSpPr>
        <p:spPr>
          <a:xfrm>
            <a:off x="7467600" y="24257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24B6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r>
            <a:r>
              <a:rPr lang="ko-KR" altLang="en-US" sz="1100" b="1">
                <a:solidFill>
                  <a:srgbClr val="24B6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921217-8E22-4C73-A443-C9E3E2997A5D}"/>
              </a:ext>
            </a:extLst>
          </p:cNvPr>
          <p:cNvSpPr/>
          <p:nvPr/>
        </p:nvSpPr>
        <p:spPr>
          <a:xfrm>
            <a:off x="685800" y="30607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 실행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3F66151-AA92-4C73-A90D-E74F37EDF716}"/>
              </a:ext>
            </a:extLst>
          </p:cNvPr>
          <p:cNvSpPr/>
          <p:nvPr/>
        </p:nvSpPr>
        <p:spPr>
          <a:xfrm>
            <a:off x="2717800" y="30861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78EFA49-60AA-4280-9FC3-FFA5B5B1B61D}"/>
              </a:ext>
            </a:extLst>
          </p:cNvPr>
          <p:cNvSpPr/>
          <p:nvPr/>
        </p:nvSpPr>
        <p:spPr>
          <a:xfrm>
            <a:off x="2717800" y="3086100"/>
            <a:ext cx="3291840" cy="203200"/>
          </a:xfrm>
          <a:prstGeom prst="roundRect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5D1340-75E7-454C-9178-C44E5F5787E9}"/>
              </a:ext>
            </a:extLst>
          </p:cNvPr>
          <p:cNvSpPr/>
          <p:nvPr/>
        </p:nvSpPr>
        <p:spPr>
          <a:xfrm>
            <a:off x="7467600" y="30353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 sz="11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330DCF-90E5-46A3-8702-BFB159B35C45}"/>
              </a:ext>
            </a:extLst>
          </p:cNvPr>
          <p:cNvSpPr/>
          <p:nvPr/>
        </p:nvSpPr>
        <p:spPr>
          <a:xfrm>
            <a:off x="685800" y="36703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·KPI</a:t>
            </a:r>
            <a:endParaRPr lang="ko-KR" altLang="en-US" sz="11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E8F6219-BA02-4D4F-8311-2DC4049104C3}"/>
              </a:ext>
            </a:extLst>
          </p:cNvPr>
          <p:cNvSpPr/>
          <p:nvPr/>
        </p:nvSpPr>
        <p:spPr>
          <a:xfrm>
            <a:off x="2717800" y="36957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E8E3BE2-8D09-4414-A6C5-48C8AF32E4A0}"/>
              </a:ext>
            </a:extLst>
          </p:cNvPr>
          <p:cNvSpPr/>
          <p:nvPr/>
        </p:nvSpPr>
        <p:spPr>
          <a:xfrm>
            <a:off x="2717800" y="3695700"/>
            <a:ext cx="2377440" cy="2032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09B3A9-D309-41DA-ADBA-DC50BD47591F}"/>
              </a:ext>
            </a:extLst>
          </p:cNvPr>
          <p:cNvSpPr/>
          <p:nvPr/>
        </p:nvSpPr>
        <p:spPr>
          <a:xfrm>
            <a:off x="7467600" y="36449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1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E3A74E-719C-4206-84D3-547E0E0B9A5F}"/>
              </a:ext>
            </a:extLst>
          </p:cNvPr>
          <p:cNvSpPr/>
          <p:nvPr/>
        </p:nvSpPr>
        <p:spPr>
          <a:xfrm>
            <a:off x="685800" y="42799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보안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1B2D49F-370D-44D8-AEFA-19B6211D0670}"/>
              </a:ext>
            </a:extLst>
          </p:cNvPr>
          <p:cNvSpPr/>
          <p:nvPr/>
        </p:nvSpPr>
        <p:spPr>
          <a:xfrm>
            <a:off x="2717800" y="43053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A7652E5-52D1-4F8E-B525-AAD8C1F2C8A4}"/>
              </a:ext>
            </a:extLst>
          </p:cNvPr>
          <p:cNvSpPr/>
          <p:nvPr/>
        </p:nvSpPr>
        <p:spPr>
          <a:xfrm>
            <a:off x="2717800" y="4305300"/>
            <a:ext cx="4572000" cy="203200"/>
          </a:xfrm>
          <a:prstGeom prst="round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8053C2-5298-4BDB-AD9C-B3C4671210C3}"/>
              </a:ext>
            </a:extLst>
          </p:cNvPr>
          <p:cNvSpPr/>
          <p:nvPr/>
        </p:nvSpPr>
        <p:spPr>
          <a:xfrm>
            <a:off x="7467600" y="42545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1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A3209A6-CE09-43E8-BE59-3EEB5889B144}"/>
              </a:ext>
            </a:extLst>
          </p:cNvPr>
          <p:cNvSpPr/>
          <p:nvPr/>
        </p:nvSpPr>
        <p:spPr>
          <a:xfrm>
            <a:off x="8610600" y="1727200"/>
            <a:ext cx="2971800" cy="3175000"/>
          </a:xfrm>
          <a:prstGeom prst="round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D696CA5-0137-408A-B33C-70A20DD41E7D}"/>
              </a:ext>
            </a:extLst>
          </p:cNvPr>
          <p:cNvSpPr/>
          <p:nvPr/>
        </p:nvSpPr>
        <p:spPr>
          <a:xfrm>
            <a:off x="8890000" y="2006600"/>
            <a:ext cx="24130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800" b="1">
                <a:solidFill>
                  <a:srgbClr val="AFCB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SERVER-SIDE DECISION</a:t>
            </a:r>
            <a:endParaRPr lang="ko-KR" altLang="en-US" sz="800" b="1">
              <a:solidFill>
                <a:srgbClr val="AFCB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43254FC-AC82-4B60-B222-80F070569E90}"/>
              </a:ext>
            </a:extLst>
          </p:cNvPr>
          <p:cNvSpPr/>
          <p:nvPr/>
        </p:nvSpPr>
        <p:spPr>
          <a:xfrm>
            <a:off x="8890000" y="2489200"/>
            <a:ext cx="24130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208357B-F53F-44C2-B953-20B79FDC6DDE}"/>
              </a:ext>
            </a:extLst>
          </p:cNvPr>
          <p:cNvSpPr/>
          <p:nvPr/>
        </p:nvSpPr>
        <p:spPr>
          <a:xfrm>
            <a:off x="8991600" y="3022600"/>
            <a:ext cx="2209800" cy="711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항목 하한 충족
</a:t>
            </a:r>
            <a:r>
              <a:rPr lang="en-US" altLang="ko-KR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즉시 보류 규칙 </a:t>
            </a:r>
            <a:r>
              <a:rPr lang="en-US" altLang="ko-KR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9E7037E-E594-445A-AEB5-E5B02F9B3DD9}"/>
              </a:ext>
            </a:extLst>
          </p:cNvPr>
          <p:cNvSpPr/>
          <p:nvPr/>
        </p:nvSpPr>
        <p:spPr>
          <a:xfrm>
            <a:off x="9118600" y="4038600"/>
            <a:ext cx="1955800" cy="508000"/>
          </a:xfrm>
          <a:prstGeom prst="roundRect">
            <a:avLst/>
          </a:prstGeom>
          <a:solidFill>
            <a:srgbClr val="16A36A"/>
          </a:solidFill>
          <a:ln w="12700">
            <a:solidFill>
              <a:srgbClr val="16A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AI_PASS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EA4F0D4-B970-45F4-9C8E-5040F480896D}"/>
              </a:ext>
            </a:extLst>
          </p:cNvPr>
          <p:cNvSpPr/>
          <p:nvPr/>
        </p:nvSpPr>
        <p:spPr>
          <a:xfrm>
            <a:off x="685800" y="5257800"/>
            <a:ext cx="10896600" cy="914400"/>
          </a:xfrm>
          <a:prstGeom prst="roundRect">
            <a:avLst/>
          </a:prstGeom>
          <a:solidFill>
            <a:srgbClr val="FFF7E7"/>
          </a:solidFill>
          <a:ln w="12700">
            <a:solidFill>
              <a:srgbClr val="F8D89A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A67F001-46A5-4E21-85B8-04008C5386EB}"/>
              </a:ext>
            </a:extLst>
          </p:cNvPr>
          <p:cNvSpPr/>
          <p:nvPr/>
        </p:nvSpPr>
        <p:spPr>
          <a:xfrm>
            <a:off x="685800" y="5257800"/>
            <a:ext cx="76200" cy="9144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B86A3C-9ECC-4DFE-A15C-CECFBDF42482}"/>
              </a:ext>
            </a:extLst>
          </p:cNvPr>
          <p:cNvSpPr/>
          <p:nvPr/>
        </p:nvSpPr>
        <p:spPr>
          <a:xfrm>
            <a:off x="1016000" y="5473700"/>
            <a:ext cx="1651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즉시 승인 보류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96BE77D-43A2-4293-9279-625F25BC326F}"/>
              </a:ext>
            </a:extLst>
          </p:cNvPr>
          <p:cNvSpPr/>
          <p:nvPr/>
        </p:nvSpPr>
        <p:spPr>
          <a:xfrm>
            <a:off x="2794000" y="5448300"/>
            <a:ext cx="8382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누락  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규제 위험  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High/Critical 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결함  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Judge 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미통과  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대비 안전성 하락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E939CDE-753B-4A24-BEB5-976B944B2C62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A38A24E-450E-497A-A472-3200A532F5AA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2499CA3-DB98-4853-B0E3-011D332BCACC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837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0D75FF-843E-46DB-85C8-2E1FF5E20B93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DA9FD2-BD5C-4BB1-B2C8-DE45E33F2056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부터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S3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이어지는 운영감사 체인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6074B8B-46F2-4001-8626-6DC3CBC419B9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2D7861-9859-41BD-8C47-40489129AC34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누가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언제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근거로 판단했는지 재현 가능한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Evidence-first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0E575D1-257E-4914-958D-8E3EB0355BE8}"/>
              </a:ext>
            </a:extLst>
          </p:cNvPr>
          <p:cNvSpPr/>
          <p:nvPr/>
        </p:nvSpPr>
        <p:spPr>
          <a:xfrm>
            <a:off x="927100" y="1955800"/>
            <a:ext cx="889000" cy="8890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3E69DC-7F94-4060-98EB-AA9E08001DCB}"/>
              </a:ext>
            </a:extLst>
          </p:cNvPr>
          <p:cNvSpPr/>
          <p:nvPr/>
        </p:nvSpPr>
        <p:spPr>
          <a:xfrm>
            <a:off x="5842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ID
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상태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18F920C-1090-408F-8AF0-3AE09472831C}"/>
              </a:ext>
            </a:extLst>
          </p:cNvPr>
          <p:cNvCxnSpPr/>
          <p:nvPr/>
        </p:nvCxnSpPr>
        <p:spPr>
          <a:xfrm>
            <a:off x="18923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FCB40DFD-C3F9-407E-AB43-13D6E4125AD8}"/>
              </a:ext>
            </a:extLst>
          </p:cNvPr>
          <p:cNvSpPr/>
          <p:nvPr/>
        </p:nvSpPr>
        <p:spPr>
          <a:xfrm>
            <a:off x="2806700" y="1955800"/>
            <a:ext cx="889000" cy="889000"/>
          </a:xfrm>
          <a:prstGeom prst="ellipse">
            <a:avLst/>
          </a:prstGeom>
          <a:solidFill>
            <a:srgbClr val="24B6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F8C1F7-13F3-4729-9610-D576046DAD50}"/>
              </a:ext>
            </a:extLst>
          </p:cNvPr>
          <p:cNvSpPr/>
          <p:nvPr/>
        </p:nvSpPr>
        <p:spPr>
          <a:xfrm>
            <a:off x="24638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
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TC·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E0C689B-2A75-4759-A2F2-9B8ABA8E35A7}"/>
              </a:ext>
            </a:extLst>
          </p:cNvPr>
          <p:cNvCxnSpPr/>
          <p:nvPr/>
        </p:nvCxnSpPr>
        <p:spPr>
          <a:xfrm>
            <a:off x="37719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BB6692A1-7D4A-4D61-BF33-D90195EF1526}"/>
              </a:ext>
            </a:extLst>
          </p:cNvPr>
          <p:cNvSpPr/>
          <p:nvPr/>
        </p:nvSpPr>
        <p:spPr>
          <a:xfrm>
            <a:off x="4686300" y="1955800"/>
            <a:ext cx="889000" cy="8890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TRACE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E42EB4-1D33-4047-8F99-F43876FBF105}"/>
              </a:ext>
            </a:extLst>
          </p:cNvPr>
          <p:cNvSpPr/>
          <p:nvPr/>
        </p:nvSpPr>
        <p:spPr>
          <a:xfrm>
            <a:off x="43434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A2A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
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62AD0C4-11D5-4F4B-A2A2-FF783145D417}"/>
              </a:ext>
            </a:extLst>
          </p:cNvPr>
          <p:cNvCxnSpPr/>
          <p:nvPr/>
        </p:nvCxnSpPr>
        <p:spPr>
          <a:xfrm>
            <a:off x="56515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B3A263C7-E207-4793-9A91-BBC08E3FD5BA}"/>
              </a:ext>
            </a:extLst>
          </p:cNvPr>
          <p:cNvSpPr/>
          <p:nvPr/>
        </p:nvSpPr>
        <p:spPr>
          <a:xfrm>
            <a:off x="6565900" y="1955800"/>
            <a:ext cx="889000" cy="8890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RUBRIC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C4C012-05DB-464B-AED5-F964820FABDA}"/>
              </a:ext>
            </a:extLst>
          </p:cNvPr>
          <p:cNvSpPr/>
          <p:nvPr/>
        </p:nvSpPr>
        <p:spPr>
          <a:xfrm>
            <a:off x="62230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버전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·Hash
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근거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B85601D-E05B-4915-A87F-300C8ADB4863}"/>
              </a:ext>
            </a:extLst>
          </p:cNvPr>
          <p:cNvCxnSpPr/>
          <p:nvPr/>
        </p:nvCxnSpPr>
        <p:spPr>
          <a:xfrm>
            <a:off x="75311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81A3940B-F935-4084-870D-E3F33B22F524}"/>
              </a:ext>
            </a:extLst>
          </p:cNvPr>
          <p:cNvSpPr/>
          <p:nvPr/>
        </p:nvSpPr>
        <p:spPr>
          <a:xfrm>
            <a:off x="8445500" y="1955800"/>
            <a:ext cx="889000" cy="8890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APPROVAL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6E8724-4E51-4DD2-8EB2-B3B3C0E8D09A}"/>
              </a:ext>
            </a:extLst>
          </p:cNvPr>
          <p:cNvSpPr/>
          <p:nvPr/>
        </p:nvSpPr>
        <p:spPr>
          <a:xfrm>
            <a:off x="81026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
감사 이력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9EF6CBB-F559-4EF3-A37A-B68402D9A648}"/>
              </a:ext>
            </a:extLst>
          </p:cNvPr>
          <p:cNvCxnSpPr/>
          <p:nvPr/>
        </p:nvCxnSpPr>
        <p:spPr>
          <a:xfrm>
            <a:off x="94107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D42F9131-30EE-4315-BF4A-F734323E4E14}"/>
              </a:ext>
            </a:extLst>
          </p:cNvPr>
          <p:cNvSpPr/>
          <p:nvPr/>
        </p:nvSpPr>
        <p:spPr>
          <a:xfrm>
            <a:off x="10325100" y="1955800"/>
            <a:ext cx="889000" cy="889000"/>
          </a:xfrm>
          <a:prstGeom prst="ellipse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4057D9-E01C-4CC3-B230-593D1CE06EC1}"/>
              </a:ext>
            </a:extLst>
          </p:cNvPr>
          <p:cNvSpPr/>
          <p:nvPr/>
        </p:nvSpPr>
        <p:spPr>
          <a:xfrm>
            <a:off x="99822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Manifest
SHA-256</a:t>
            </a:r>
            <a:endParaRPr lang="ko-KR" altLang="en-US" sz="11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0990321-F14D-4E2D-A997-34AAAD879478}"/>
              </a:ext>
            </a:extLst>
          </p:cNvPr>
          <p:cNvSpPr/>
          <p:nvPr/>
        </p:nvSpPr>
        <p:spPr>
          <a:xfrm>
            <a:off x="1143000" y="4292600"/>
            <a:ext cx="990600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454277-AD55-40E7-8512-A692C2DFED49}"/>
              </a:ext>
            </a:extLst>
          </p:cNvPr>
          <p:cNvSpPr/>
          <p:nvPr/>
        </p:nvSpPr>
        <p:spPr>
          <a:xfrm>
            <a:off x="1422400" y="4546600"/>
            <a:ext cx="2794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허용 파일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DB09971-9DC5-4C09-A671-C63FEFD87213}"/>
              </a:ext>
            </a:extLst>
          </p:cNvPr>
          <p:cNvSpPr/>
          <p:nvPr/>
        </p:nvSpPr>
        <p:spPr>
          <a:xfrm>
            <a:off x="1422400" y="4889500"/>
            <a:ext cx="2794000" cy="50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step10_acceptance.json · .md</a:t>
            </a:r>
            <a:endParaRPr lang="ko-KR" altLang="en-US" sz="10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963486-3DC4-467E-8993-F7F9A572209F}"/>
              </a:ext>
            </a:extLst>
          </p:cNvPr>
          <p:cNvSpPr/>
          <p:nvPr/>
        </p:nvSpPr>
        <p:spPr>
          <a:xfrm>
            <a:off x="4572000" y="4546600"/>
            <a:ext cx="2794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업로드 보호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BB0C65F-8037-4A61-AC61-7452C42A883B}"/>
              </a:ext>
            </a:extLst>
          </p:cNvPr>
          <p:cNvSpPr/>
          <p:nvPr/>
        </p:nvSpPr>
        <p:spPr>
          <a:xfrm>
            <a:off x="4572000" y="4889500"/>
            <a:ext cx="2794000" cy="50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 MB 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제한 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비밀값 패턴 검사 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AES256</a:t>
            </a:r>
            <a:endParaRPr lang="ko-KR" altLang="en-US" sz="10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4A62E6-2578-48DB-85FB-3F09A4172969}"/>
              </a:ext>
            </a:extLst>
          </p:cNvPr>
          <p:cNvSpPr/>
          <p:nvPr/>
        </p:nvSpPr>
        <p:spPr>
          <a:xfrm>
            <a:off x="7721600" y="4546600"/>
            <a:ext cx="2794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원격 검증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8C5D72C-52AC-4B77-A7AB-E4B57510C732}"/>
              </a:ext>
            </a:extLst>
          </p:cNvPr>
          <p:cNvSpPr/>
          <p:nvPr/>
        </p:nvSpPr>
        <p:spPr>
          <a:xfrm>
            <a:off x="7721600" y="4889500"/>
            <a:ext cx="2794000" cy="50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Manifest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각 파일의 크기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·SHA-256 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재검증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CA1A81F-5974-4333-B2E3-2C34337E9BF3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DCF4D3A-5B00-4AD6-BCCD-41863867A7C3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65624E4-4CFA-4F37-A9F4-3627E8371799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1732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E4BC0A-FE78-46D0-B866-EA021440D2DA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2EA48B-BC79-4B1F-9DF5-5B9248D37296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결과를 업무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형상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증적 관리로 연결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3204109-8B14-4354-9238-035D2A724925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FECB99-ABFD-4AED-807C-C59D630172A5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시스템 변경은 사용자의 명시적 액션에서만 수행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CB993FC-F1CC-4F26-AECA-281732BFD76C}"/>
              </a:ext>
            </a:extLst>
          </p:cNvPr>
          <p:cNvSpPr/>
          <p:nvPr/>
        </p:nvSpPr>
        <p:spPr>
          <a:xfrm>
            <a:off x="736600" y="1905000"/>
            <a:ext cx="3429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F86BA5-EE10-4AAB-A839-F9B7C5C7494E}"/>
              </a:ext>
            </a:extLst>
          </p:cNvPr>
          <p:cNvSpPr/>
          <p:nvPr/>
        </p:nvSpPr>
        <p:spPr>
          <a:xfrm>
            <a:off x="736600" y="1905000"/>
            <a:ext cx="76200" cy="3708400"/>
          </a:xfrm>
          <a:prstGeom prst="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6AFF902-3056-466C-8B23-7AB649BA01D5}"/>
              </a:ext>
            </a:extLst>
          </p:cNvPr>
          <p:cNvSpPr/>
          <p:nvPr/>
        </p:nvSpPr>
        <p:spPr>
          <a:xfrm>
            <a:off x="1092200" y="2209800"/>
            <a:ext cx="736600" cy="7366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F6E356-7E41-430A-B9B2-BC1F02E00D11}"/>
              </a:ext>
            </a:extLst>
          </p:cNvPr>
          <p:cNvSpPr/>
          <p:nvPr/>
        </p:nvSpPr>
        <p:spPr>
          <a:xfrm>
            <a:off x="2667000" y="2336800"/>
            <a:ext cx="1168400" cy="30480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EAF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ko-KR" altLang="en-US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실행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65A65B-7E5F-47C2-843C-432CE36F959D}"/>
              </a:ext>
            </a:extLst>
          </p:cNvPr>
          <p:cNvSpPr/>
          <p:nvPr/>
        </p:nvSpPr>
        <p:spPr>
          <a:xfrm>
            <a:off x="1092200" y="3175000"/>
            <a:ext cx="2667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Jira</a:t>
            </a:r>
            <a:endParaRPr lang="ko-KR" altLang="en-US" sz="2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C87F6D-64BA-4E2F-8BED-2F4CFA058557}"/>
              </a:ext>
            </a:extLst>
          </p:cNvPr>
          <p:cNvSpPr/>
          <p:nvPr/>
        </p:nvSpPr>
        <p:spPr>
          <a:xfrm>
            <a:off x="1092200" y="3835400"/>
            <a:ext cx="2667000" cy="1041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JQL 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
신규 이슈 등록
등록 감사 이력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002564-F8F6-42A3-8577-6E519CFC8DED}"/>
              </a:ext>
            </a:extLst>
          </p:cNvPr>
          <p:cNvSpPr/>
          <p:nvPr/>
        </p:nvSpPr>
        <p:spPr>
          <a:xfrm>
            <a:off x="1092200" y="5105400"/>
            <a:ext cx="2667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명시적 사용자 동작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2C9CC19-0A84-469F-850F-0FFDA6B4A290}"/>
              </a:ext>
            </a:extLst>
          </p:cNvPr>
          <p:cNvSpPr/>
          <p:nvPr/>
        </p:nvSpPr>
        <p:spPr>
          <a:xfrm>
            <a:off x="4521200" y="1905000"/>
            <a:ext cx="3429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0EF401-2C3B-4BE3-A211-E4D42BBF16BB}"/>
              </a:ext>
            </a:extLst>
          </p:cNvPr>
          <p:cNvSpPr/>
          <p:nvPr/>
        </p:nvSpPr>
        <p:spPr>
          <a:xfrm>
            <a:off x="4521200" y="1905000"/>
            <a:ext cx="76200" cy="37084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FF51261-46F6-4123-B0D6-16D3EF95C2B3}"/>
              </a:ext>
            </a:extLst>
          </p:cNvPr>
          <p:cNvSpPr/>
          <p:nvPr/>
        </p:nvSpPr>
        <p:spPr>
          <a:xfrm>
            <a:off x="4876800" y="2209800"/>
            <a:ext cx="736600" cy="7366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4EC5219-7953-4E2C-810C-556AACA13FC9}"/>
              </a:ext>
            </a:extLst>
          </p:cNvPr>
          <p:cNvSpPr/>
          <p:nvPr/>
        </p:nvSpPr>
        <p:spPr>
          <a:xfrm>
            <a:off x="6451600" y="2336800"/>
            <a:ext cx="1168400" cy="30480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EAF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ko-KR" altLang="en-US" sz="9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형상 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FBC525-2CF8-483B-A1C5-567CBD873DB8}"/>
              </a:ext>
            </a:extLst>
          </p:cNvPr>
          <p:cNvSpPr/>
          <p:nvPr/>
        </p:nvSpPr>
        <p:spPr>
          <a:xfrm>
            <a:off x="4876800" y="3175000"/>
            <a:ext cx="2667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endParaRPr lang="ko-KR" altLang="en-US" sz="2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FA9680-12C5-4FB7-AD2A-0AF64347F012}"/>
              </a:ext>
            </a:extLst>
          </p:cNvPr>
          <p:cNvSpPr/>
          <p:nvPr/>
        </p:nvSpPr>
        <p:spPr>
          <a:xfrm>
            <a:off x="4876800" y="3835400"/>
            <a:ext cx="2667000" cy="1041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저장소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브랜치
저장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다운로드
충돌 사전 점검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E9F68C-278E-4BF7-86AA-4B7934B21919}"/>
              </a:ext>
            </a:extLst>
          </p:cNvPr>
          <p:cNvSpPr/>
          <p:nvPr/>
        </p:nvSpPr>
        <p:spPr>
          <a:xfrm>
            <a:off x="4876800" y="5105400"/>
            <a:ext cx="2667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명시적 사용자 동작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596C107-3B15-436A-935B-D182FF273BF4}"/>
              </a:ext>
            </a:extLst>
          </p:cNvPr>
          <p:cNvSpPr/>
          <p:nvPr/>
        </p:nvSpPr>
        <p:spPr>
          <a:xfrm>
            <a:off x="8305800" y="1905000"/>
            <a:ext cx="3429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2AF528D-0D02-448D-8658-B333E398C457}"/>
              </a:ext>
            </a:extLst>
          </p:cNvPr>
          <p:cNvSpPr/>
          <p:nvPr/>
        </p:nvSpPr>
        <p:spPr>
          <a:xfrm>
            <a:off x="8305800" y="1905000"/>
            <a:ext cx="76200" cy="3708400"/>
          </a:xfrm>
          <a:prstGeom prst="rect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13BC509-B4CC-4E20-9850-6DFC0860A8BB}"/>
              </a:ext>
            </a:extLst>
          </p:cNvPr>
          <p:cNvSpPr/>
          <p:nvPr/>
        </p:nvSpPr>
        <p:spPr>
          <a:xfrm>
            <a:off x="8661400" y="2209800"/>
            <a:ext cx="736600" cy="736600"/>
          </a:xfrm>
          <a:prstGeom prst="ellipse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5000D32-C735-4305-835C-13B7B74D3F00}"/>
              </a:ext>
            </a:extLst>
          </p:cNvPr>
          <p:cNvSpPr/>
          <p:nvPr/>
        </p:nvSpPr>
        <p:spPr>
          <a:xfrm>
            <a:off x="10236200" y="2336800"/>
            <a:ext cx="1168400" cy="3048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ko-KR" altLang="en-US" sz="9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감사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04D4076-D544-44EA-AC01-D0F848A6849F}"/>
              </a:ext>
            </a:extLst>
          </p:cNvPr>
          <p:cNvSpPr/>
          <p:nvPr/>
        </p:nvSpPr>
        <p:spPr>
          <a:xfrm>
            <a:off x="8661400" y="3175000"/>
            <a:ext cx="2667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S3</a:t>
            </a:r>
            <a:endParaRPr lang="ko-KR" altLang="en-US" sz="2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E70461-4393-4A0E-9C7A-5C20206BED2E}"/>
              </a:ext>
            </a:extLst>
          </p:cNvPr>
          <p:cNvSpPr/>
          <p:nvPr/>
        </p:nvSpPr>
        <p:spPr>
          <a:xfrm>
            <a:off x="8661400" y="3835400"/>
            <a:ext cx="2667000" cy="1041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인수 증적
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AES256 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업로드
원격 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SHA-256</a:t>
            </a:r>
            <a:endParaRPr lang="ko-KR" altLang="en-US" sz="13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1B49C0-419E-4FCC-B023-16F6DCB50B53}"/>
              </a:ext>
            </a:extLst>
          </p:cNvPr>
          <p:cNvSpPr/>
          <p:nvPr/>
        </p:nvSpPr>
        <p:spPr>
          <a:xfrm>
            <a:off x="8661400" y="5105400"/>
            <a:ext cx="2667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명시적 사용자 동작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8E25BEA-7A9C-48EA-A647-EADAF886198F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12AD1DD-BE39-4254-8C67-EF32BD280666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6F7F03-6A05-4A64-95E8-D377868C2C68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287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47151B8-63BF-4E6A-BC3D-976FD921FB1D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0D9C09-8627-4CAA-A2E2-79341BEC63B7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시연 결과와 정직한 품질 판정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131AD73-934A-4197-BC54-A5B00BFEEB27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7D9EBD-AA7F-4531-968D-BEBBB8B20904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E2E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승인과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전체 운영 인수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구분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973462C-E463-4D6F-8AD2-0A323104DF65}"/>
              </a:ext>
            </a:extLst>
          </p:cNvPr>
          <p:cNvSpPr/>
          <p:nvPr/>
        </p:nvSpPr>
        <p:spPr>
          <a:xfrm>
            <a:off x="584200" y="1778000"/>
            <a:ext cx="2565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B74DEE-6177-4132-9526-E8A527A8BE6B}"/>
              </a:ext>
            </a:extLst>
          </p:cNvPr>
          <p:cNvSpPr/>
          <p:nvPr/>
        </p:nvSpPr>
        <p:spPr>
          <a:xfrm>
            <a:off x="584200" y="1778000"/>
            <a:ext cx="76200" cy="1422400"/>
          </a:xfrm>
          <a:prstGeom prst="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9EB524-3CE2-413D-B7B9-F87D107D54DF}"/>
              </a:ext>
            </a:extLst>
          </p:cNvPr>
          <p:cNvSpPr/>
          <p:nvPr/>
        </p:nvSpPr>
        <p:spPr>
          <a:xfrm>
            <a:off x="838200" y="1981200"/>
            <a:ext cx="21336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  <a:endParaRPr lang="ko-KR" altLang="en-US" sz="10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78342B-BED5-4887-8F02-104B8A9CEA48}"/>
              </a:ext>
            </a:extLst>
          </p:cNvPr>
          <p:cNvSpPr/>
          <p:nvPr/>
        </p:nvSpPr>
        <p:spPr>
          <a:xfrm>
            <a:off x="838200" y="2286000"/>
            <a:ext cx="2133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</a:t>
            </a:r>
            <a:endParaRPr lang="ko-KR" altLang="en-US" sz="22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6D2F65-D7DD-4815-BE45-D119973E75B4}"/>
              </a:ext>
            </a:extLst>
          </p:cNvPr>
          <p:cNvSpPr/>
          <p:nvPr/>
        </p:nvSpPr>
        <p:spPr>
          <a:xfrm>
            <a:off x="838200" y="2794000"/>
            <a:ext cx="2133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 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75609A0-3C92-4CFE-9195-5F04BF07088F}"/>
              </a:ext>
            </a:extLst>
          </p:cNvPr>
          <p:cNvSpPr/>
          <p:nvPr/>
        </p:nvSpPr>
        <p:spPr>
          <a:xfrm>
            <a:off x="3403600" y="1778000"/>
            <a:ext cx="2565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A0C7A9-CFF7-4E13-8A6D-F661DC46184A}"/>
              </a:ext>
            </a:extLst>
          </p:cNvPr>
          <p:cNvSpPr/>
          <p:nvPr/>
        </p:nvSpPr>
        <p:spPr>
          <a:xfrm>
            <a:off x="3403600" y="1778000"/>
            <a:ext cx="76200" cy="14224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8AC207-5D95-4F18-914C-CA90CF3BABA8}"/>
              </a:ext>
            </a:extLst>
          </p:cNvPr>
          <p:cNvSpPr/>
          <p:nvPr/>
        </p:nvSpPr>
        <p:spPr>
          <a:xfrm>
            <a:off x="3657600" y="1981200"/>
            <a:ext cx="21336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JUDGE</a:t>
            </a:r>
            <a:endParaRPr lang="ko-KR" altLang="en-US" sz="10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E32813-E15C-466C-8321-3ABFFD688FBA}"/>
              </a:ext>
            </a:extLst>
          </p:cNvPr>
          <p:cNvSpPr/>
          <p:nvPr/>
        </p:nvSpPr>
        <p:spPr>
          <a:xfrm>
            <a:off x="3657600" y="2286000"/>
            <a:ext cx="2133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 sz="22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F095F2-224C-413D-8444-DEC6B226CA7A}"/>
              </a:ext>
            </a:extLst>
          </p:cNvPr>
          <p:cNvSpPr/>
          <p:nvPr/>
        </p:nvSpPr>
        <p:spPr>
          <a:xfrm>
            <a:off x="3657600" y="2794000"/>
            <a:ext cx="2133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 · 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 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CCBB749-9378-4AB1-800E-1BEBEB9BE073}"/>
              </a:ext>
            </a:extLst>
          </p:cNvPr>
          <p:cNvSpPr/>
          <p:nvPr/>
        </p:nvSpPr>
        <p:spPr>
          <a:xfrm>
            <a:off x="6223000" y="1778000"/>
            <a:ext cx="2565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1E2DC3-31CF-4902-BCB4-2D815C4320A2}"/>
              </a:ext>
            </a:extLst>
          </p:cNvPr>
          <p:cNvSpPr/>
          <p:nvPr/>
        </p:nvSpPr>
        <p:spPr>
          <a:xfrm>
            <a:off x="6223000" y="1778000"/>
            <a:ext cx="76200" cy="1422400"/>
          </a:xfrm>
          <a:prstGeom prst="rect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311608-BE28-48D7-9A7F-F561F4EE6C3E}"/>
              </a:ext>
            </a:extLst>
          </p:cNvPr>
          <p:cNvSpPr/>
          <p:nvPr/>
        </p:nvSpPr>
        <p:spPr>
          <a:xfrm>
            <a:off x="6477000" y="1981200"/>
            <a:ext cx="21336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VALIDITY</a:t>
            </a:r>
            <a:endParaRPr lang="ko-KR" altLang="en-US" sz="10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80125D-398A-45DE-BFD9-437809F0DC2F}"/>
              </a:ext>
            </a:extLst>
          </p:cNvPr>
          <p:cNvSpPr/>
          <p:nvPr/>
        </p:nvSpPr>
        <p:spPr>
          <a:xfrm>
            <a:off x="6477000" y="2286000"/>
            <a:ext cx="2133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81</a:t>
            </a:r>
            <a:r>
              <a:rPr lang="ko-KR" altLang="en-US" sz="22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9A184C-1500-439E-B777-0D00A5559C9A}"/>
              </a:ext>
            </a:extLst>
          </p:cNvPr>
          <p:cNvSpPr/>
          <p:nvPr/>
        </p:nvSpPr>
        <p:spPr>
          <a:xfrm>
            <a:off x="6477000" y="2794000"/>
            <a:ext cx="2133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AI_PASS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8B0BE9B-4DC0-4B64-9E2A-4FB987320DBE}"/>
              </a:ext>
            </a:extLst>
          </p:cNvPr>
          <p:cNvSpPr/>
          <p:nvPr/>
        </p:nvSpPr>
        <p:spPr>
          <a:xfrm>
            <a:off x="9042400" y="1778000"/>
            <a:ext cx="2565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A2D25B-8897-47A8-95AB-E12B15D7EE35}"/>
              </a:ext>
            </a:extLst>
          </p:cNvPr>
          <p:cNvSpPr/>
          <p:nvPr/>
        </p:nvSpPr>
        <p:spPr>
          <a:xfrm>
            <a:off x="9042400" y="1778000"/>
            <a:ext cx="76200" cy="1422400"/>
          </a:xfrm>
          <a:prstGeom prst="rect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6938F4-740E-446E-BB54-B52AECE592D1}"/>
              </a:ext>
            </a:extLst>
          </p:cNvPr>
          <p:cNvSpPr/>
          <p:nvPr/>
        </p:nvSpPr>
        <p:spPr>
          <a:xfrm>
            <a:off x="9296400" y="1981200"/>
            <a:ext cx="21336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APPROVAL</a:t>
            </a:r>
            <a:endParaRPr lang="ko-KR" altLang="en-US" sz="10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765EB53-0F1F-475A-BAD1-04467E5CA02C}"/>
              </a:ext>
            </a:extLst>
          </p:cNvPr>
          <p:cNvSpPr/>
          <p:nvPr/>
        </p:nvSpPr>
        <p:spPr>
          <a:xfrm>
            <a:off x="9296400" y="2286000"/>
            <a:ext cx="2133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2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5426607-C42F-443F-BE04-39B5B58420F4}"/>
              </a:ext>
            </a:extLst>
          </p:cNvPr>
          <p:cNvSpPr/>
          <p:nvPr/>
        </p:nvSpPr>
        <p:spPr>
          <a:xfrm>
            <a:off x="9296400" y="2794000"/>
            <a:ext cx="2133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BUSINESS_APPROVED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FF650E9-8198-4948-96C3-743A5CE83293}"/>
              </a:ext>
            </a:extLst>
          </p:cNvPr>
          <p:cNvSpPr/>
          <p:nvPr/>
        </p:nvSpPr>
        <p:spPr>
          <a:xfrm>
            <a:off x="584200" y="3581400"/>
            <a:ext cx="5308600" cy="2235200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B7E6D3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701CF0F-A26D-4B14-98B8-1B701CE58DF7}"/>
              </a:ext>
            </a:extLst>
          </p:cNvPr>
          <p:cNvSpPr/>
          <p:nvPr/>
        </p:nvSpPr>
        <p:spPr>
          <a:xfrm>
            <a:off x="584200" y="3581400"/>
            <a:ext cx="76200" cy="2235200"/>
          </a:xfrm>
          <a:prstGeom prst="rect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F8ED714-E184-4DA9-9BAE-5CE0EFA2384E}"/>
              </a:ext>
            </a:extLst>
          </p:cNvPr>
          <p:cNvSpPr/>
          <p:nvPr/>
        </p:nvSpPr>
        <p:spPr>
          <a:xfrm>
            <a:off x="914400" y="3835400"/>
            <a:ext cx="2540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 </a:t>
            </a:r>
            <a:r>
              <a:rPr lang="en-US" altLang="ko-KR" sz="12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TC-01 E2E</a:t>
            </a:r>
            <a:endParaRPr lang="ko-KR" altLang="en-US" sz="1200" b="1">
              <a:solidFill>
                <a:srgbClr val="16A36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3C0E544-DF31-464D-87A3-8203FA631949}"/>
              </a:ext>
            </a:extLst>
          </p:cNvPr>
          <p:cNvSpPr/>
          <p:nvPr/>
        </p:nvSpPr>
        <p:spPr>
          <a:xfrm>
            <a:off x="914400" y="4292600"/>
            <a:ext cx="4191000" cy="762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FORMAL QUALITY
APPROVED</a:t>
            </a:r>
            <a:endParaRPr lang="ko-KR" altLang="en-US" sz="24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B8B1B14-52EE-4CB3-B39C-4774357CD55D}"/>
              </a:ext>
            </a:extLst>
          </p:cNvPr>
          <p:cNvSpPr/>
          <p:nvPr/>
        </p:nvSpPr>
        <p:spPr>
          <a:xfrm>
            <a:off x="914400" y="5283200"/>
            <a:ext cx="43180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 RUN-20260804-132006-496046-e9c0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69D95A0-1704-4844-86BF-D9EBC43902BD}"/>
              </a:ext>
            </a:extLst>
          </p:cNvPr>
          <p:cNvSpPr/>
          <p:nvPr/>
        </p:nvSpPr>
        <p:spPr>
          <a:xfrm>
            <a:off x="6248400" y="3581400"/>
            <a:ext cx="5359400" cy="2235200"/>
          </a:xfrm>
          <a:prstGeom prst="roundRect">
            <a:avLst/>
          </a:prstGeom>
          <a:solidFill>
            <a:srgbClr val="FFF7E7"/>
          </a:solidFill>
          <a:ln w="12700">
            <a:solidFill>
              <a:srgbClr val="F6D697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921C164-EE1E-4F57-88A8-BE74624D4B0C}"/>
              </a:ext>
            </a:extLst>
          </p:cNvPr>
          <p:cNvSpPr/>
          <p:nvPr/>
        </p:nvSpPr>
        <p:spPr>
          <a:xfrm>
            <a:off x="6248400" y="3581400"/>
            <a:ext cx="76200" cy="2235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68D5F48-F7E5-490A-A325-51DF49D1C0A1}"/>
              </a:ext>
            </a:extLst>
          </p:cNvPr>
          <p:cNvSpPr/>
          <p:nvPr/>
        </p:nvSpPr>
        <p:spPr>
          <a:xfrm>
            <a:off x="6578600" y="38354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r>
              <a:rPr lang="ko-KR" altLang="en-US" sz="12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최종 운영 인수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FB7385D-3A06-4BE6-93C7-E222C0648438}"/>
              </a:ext>
            </a:extLst>
          </p:cNvPr>
          <p:cNvSpPr/>
          <p:nvPr/>
        </p:nvSpPr>
        <p:spPr>
          <a:xfrm>
            <a:off x="6578600" y="4381500"/>
            <a:ext cx="419100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PASS / 6 HOLD</a:t>
            </a:r>
            <a:endParaRPr lang="ko-KR" altLang="en-US" sz="24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269AFE9-A078-48D3-AB97-8EAFD31BA3E3}"/>
              </a:ext>
            </a:extLst>
          </p:cNvPr>
          <p:cNvSpPr/>
          <p:nvPr/>
        </p:nvSpPr>
        <p:spPr>
          <a:xfrm>
            <a:off x="6578600" y="5054600"/>
            <a:ext cx="4445000" cy="482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미실행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미검증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잔여 위험을 성공으로 확대 해석하지 않음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EB0FD6E-C4E2-49AC-96A5-447193D9A7D3}"/>
              </a:ext>
            </a:extLst>
          </p:cNvPr>
          <p:cNvSpPr/>
          <p:nvPr/>
        </p:nvSpPr>
        <p:spPr>
          <a:xfrm>
            <a:off x="1676400" y="6045200"/>
            <a:ext cx="88392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10 </a:t>
            </a:r>
            <a:r>
              <a:rPr lang="ko-KR" altLang="en-US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회귀 </a:t>
            </a:r>
            <a:r>
              <a:rPr lang="en-US" altLang="ko-KR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229 PASS  ·  </a:t>
            </a:r>
            <a:r>
              <a:rPr lang="ko-KR" altLang="en-US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관측 집계 결함 </a:t>
            </a:r>
            <a:r>
              <a:rPr lang="en-US" altLang="ko-KR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건은 잔여 결함으로 분리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EF76283-1AED-404A-A0E1-C27A8EDABE21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B715470-B674-4B74-91C9-AF47F2263406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3BAC58D-D9BA-4976-8F71-6FFDB135EA42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666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C9009E-99A3-4938-8692-9BB6486EB95C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RETROSPECTIVE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BBFE6C-3E2A-4303-A1EA-501C9CC66D7A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회고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결과보다 남은 성장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0F42222-731C-41C7-9738-E69D54B44BB3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2A637E-78EE-4A7C-B297-1BA449984284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완벽한 결과보다 끝까지 연결한 과정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기술보다 함께 판단한 경험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4694BA1-5899-4AAD-86EE-1884D7EF8702}"/>
              </a:ext>
            </a:extLst>
          </p:cNvPr>
          <p:cNvSpPr/>
          <p:nvPr/>
        </p:nvSpPr>
        <p:spPr>
          <a:xfrm>
            <a:off x="609600" y="1803400"/>
            <a:ext cx="3429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A5E7C0-5724-4609-9DF0-98F319AE7186}"/>
              </a:ext>
            </a:extLst>
          </p:cNvPr>
          <p:cNvSpPr/>
          <p:nvPr/>
        </p:nvSpPr>
        <p:spPr>
          <a:xfrm>
            <a:off x="609600" y="1803400"/>
            <a:ext cx="76200" cy="3632200"/>
          </a:xfrm>
          <a:prstGeom prst="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74DA5DA-12BF-4029-A24C-42A31DE2AB7E}"/>
              </a:ext>
            </a:extLst>
          </p:cNvPr>
          <p:cNvSpPr/>
          <p:nvPr/>
        </p:nvSpPr>
        <p:spPr>
          <a:xfrm>
            <a:off x="914400" y="2108200"/>
            <a:ext cx="584200" cy="5842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023445-D6A4-422D-B61A-1186131D8053}"/>
              </a:ext>
            </a:extLst>
          </p:cNvPr>
          <p:cNvSpPr/>
          <p:nvPr/>
        </p:nvSpPr>
        <p:spPr>
          <a:xfrm>
            <a:off x="914400" y="2895600"/>
            <a:ext cx="2794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완성도보다 완주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D29DD1-D16C-4B39-8E77-2339C1A72319}"/>
              </a:ext>
            </a:extLst>
          </p:cNvPr>
          <p:cNvSpPr/>
          <p:nvPr/>
        </p:nvSpPr>
        <p:spPr>
          <a:xfrm>
            <a:off x="914400" y="3530600"/>
            <a:ext cx="27940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→ 6 Agent → </a:t>
            </a:r>
            <a:r>
              <a:rPr lang="ko-KR" altLang="en-US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</a:t>
            </a:r>
            <a:r>
              <a:rPr lang="en-US" altLang="ko-KR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Judge →
</a:t>
            </a:r>
            <a:r>
              <a:rPr lang="ko-KR" altLang="en-US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타당성 검증 → 승인 → </a:t>
            </a:r>
            <a:r>
              <a:rPr lang="en-US" altLang="ko-KR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</a:t>
            </a:r>
            <a:r>
              <a:rPr lang="ko-KR" altLang="en-US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증적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1930E37-18DD-43EC-8340-32A1BDCEDFEB}"/>
              </a:ext>
            </a:extLst>
          </p:cNvPr>
          <p:cNvCxnSpPr/>
          <p:nvPr/>
        </p:nvCxnSpPr>
        <p:spPr>
          <a:xfrm>
            <a:off x="914400" y="4445000"/>
            <a:ext cx="27178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262F00-EA6F-4EA4-A836-DD9A151AA4DB}"/>
              </a:ext>
            </a:extLst>
          </p:cNvPr>
          <p:cNvSpPr/>
          <p:nvPr/>
        </p:nvSpPr>
        <p:spPr>
          <a:xfrm>
            <a:off x="914400" y="4635500"/>
            <a:ext cx="2794000" cy="584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오류와 미실행을 숨기지 않고
끝까지 하나의 품질 흐름으로 연결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5DF82D8-94AA-4A03-897F-2168287F99D0}"/>
              </a:ext>
            </a:extLst>
          </p:cNvPr>
          <p:cNvSpPr/>
          <p:nvPr/>
        </p:nvSpPr>
        <p:spPr>
          <a:xfrm>
            <a:off x="4343400" y="1803400"/>
            <a:ext cx="3429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95E2BF-A728-4145-AE2B-785ECC1C367E}"/>
              </a:ext>
            </a:extLst>
          </p:cNvPr>
          <p:cNvSpPr/>
          <p:nvPr/>
        </p:nvSpPr>
        <p:spPr>
          <a:xfrm>
            <a:off x="4343400" y="1803400"/>
            <a:ext cx="76200" cy="3632200"/>
          </a:xfrm>
          <a:prstGeom prst="rect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0D31D27-0C36-41CB-BF40-E228F7C81AC2}"/>
              </a:ext>
            </a:extLst>
          </p:cNvPr>
          <p:cNvSpPr/>
          <p:nvPr/>
        </p:nvSpPr>
        <p:spPr>
          <a:xfrm>
            <a:off x="4648200" y="2108200"/>
            <a:ext cx="584200" cy="5842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2ED18F-BB67-433F-AE24-C3A3EE96A943}"/>
              </a:ext>
            </a:extLst>
          </p:cNvPr>
          <p:cNvSpPr/>
          <p:nvPr/>
        </p:nvSpPr>
        <p:spPr>
          <a:xfrm>
            <a:off x="4648200" y="2895600"/>
            <a:ext cx="2794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기술보다 협업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7C649D-129D-4753-AB85-C210B46EC7B4}"/>
              </a:ext>
            </a:extLst>
          </p:cNvPr>
          <p:cNvSpPr/>
          <p:nvPr/>
        </p:nvSpPr>
        <p:spPr>
          <a:xfrm>
            <a:off x="4648200" y="3530600"/>
            <a:ext cx="27940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· QA · </a:t>
            </a:r>
            <a:r>
              <a:rPr lang="ko-KR" altLang="en-US" sz="11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담당자의
역할과 최종 책임을 명확히 분리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3D91AB0-7EBD-4633-A412-202B18667EAA}"/>
              </a:ext>
            </a:extLst>
          </p:cNvPr>
          <p:cNvCxnSpPr/>
          <p:nvPr/>
        </p:nvCxnSpPr>
        <p:spPr>
          <a:xfrm>
            <a:off x="4648200" y="4445000"/>
            <a:ext cx="27178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3A9005-EEB0-4D6E-B003-A34C2C8C33F7}"/>
              </a:ext>
            </a:extLst>
          </p:cNvPr>
          <p:cNvSpPr/>
          <p:nvPr/>
        </p:nvSpPr>
        <p:spPr>
          <a:xfrm>
            <a:off x="4648200" y="4635500"/>
            <a:ext cx="2794000" cy="584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Jira · GitHub · AWS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판단과
변경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증적을 함께 공유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7CE4C3A-1AE4-45DE-9D5A-B8BD4ECEBEC1}"/>
              </a:ext>
            </a:extLst>
          </p:cNvPr>
          <p:cNvSpPr/>
          <p:nvPr/>
        </p:nvSpPr>
        <p:spPr>
          <a:xfrm>
            <a:off x="8077200" y="1803400"/>
            <a:ext cx="3429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05E885-891E-4BEE-88B7-0B746A203586}"/>
              </a:ext>
            </a:extLst>
          </p:cNvPr>
          <p:cNvSpPr/>
          <p:nvPr/>
        </p:nvSpPr>
        <p:spPr>
          <a:xfrm>
            <a:off x="8077200" y="1803400"/>
            <a:ext cx="76200" cy="36322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E6E4820-A0A4-43FD-81C0-25FBA755593D}"/>
              </a:ext>
            </a:extLst>
          </p:cNvPr>
          <p:cNvSpPr/>
          <p:nvPr/>
        </p:nvSpPr>
        <p:spPr>
          <a:xfrm>
            <a:off x="8382000" y="2108200"/>
            <a:ext cx="584200" cy="5842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9FA7A28-1D2A-4782-BA0C-65011D9DB53F}"/>
              </a:ext>
            </a:extLst>
          </p:cNvPr>
          <p:cNvSpPr/>
          <p:nvPr/>
        </p:nvSpPr>
        <p:spPr>
          <a:xfrm>
            <a:off x="8382000" y="2895600"/>
            <a:ext cx="2794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발표보다 성장 과정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EAEAAD3-BFD9-4F4C-ADE1-95BF7ABCB826}"/>
              </a:ext>
            </a:extLst>
          </p:cNvPr>
          <p:cNvSpPr/>
          <p:nvPr/>
        </p:nvSpPr>
        <p:spPr>
          <a:xfrm>
            <a:off x="8382000" y="3530600"/>
            <a:ext cx="27940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발견 → 기록 → 보완 →
</a:t>
            </a:r>
            <a:r>
              <a:rPr lang="en-US" altLang="ko-KR" sz="11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RETEST</a:t>
            </a:r>
            <a:r>
              <a:rPr lang="ko-KR" altLang="en-US" sz="11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반복을 프로젝트 자산화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222D14F-5788-4BEE-B49C-480E3CB6118B}"/>
              </a:ext>
            </a:extLst>
          </p:cNvPr>
          <p:cNvCxnSpPr/>
          <p:nvPr/>
        </p:nvCxnSpPr>
        <p:spPr>
          <a:xfrm>
            <a:off x="8382000" y="4445000"/>
            <a:ext cx="27178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DEC663E-B057-4238-8483-D3AE09E1540C}"/>
              </a:ext>
            </a:extLst>
          </p:cNvPr>
          <p:cNvSpPr/>
          <p:nvPr/>
        </p:nvSpPr>
        <p:spPr>
          <a:xfrm>
            <a:off x="8382000" y="4635500"/>
            <a:ext cx="2794000" cy="584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실행 확인에서 책임 있는
품질 운영을 설계하는 관점으로 성장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B10E842-2D9E-47A0-BB33-F359C44408AF}"/>
              </a:ext>
            </a:extLst>
          </p:cNvPr>
          <p:cNvSpPr/>
          <p:nvPr/>
        </p:nvSpPr>
        <p:spPr>
          <a:xfrm>
            <a:off x="1422400" y="5740400"/>
            <a:ext cx="9347200" cy="55880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C9D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rtlCol="0" anchor="ctr">
            <a:noAutofit/>
          </a:bodyPr>
          <a:lstStyle/>
          <a:p>
            <a:pPr algn="ctr"/>
            <a:r>
              <a:rPr lang="ko-KR" altLang="en-US" sz="13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완벽하게 시작하지는 않았지만</a:t>
            </a:r>
            <a:r>
              <a:rPr lang="en-US" altLang="ko-KR" sz="13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끝까지 완주하며 함께 판단하는 방법을 배웠고
발표 결과보다 문제를 해결하며 성장한 과정이 더 큰 자산으로 남았습니다</a:t>
            </a:r>
            <a:r>
              <a:rPr lang="en-US" altLang="ko-KR" sz="13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B214425-F604-422C-ACB6-C8465C0DE0A6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25DE76-EC02-4724-9918-AA3C349682F2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568CB7F-D72F-407A-8D53-29E0FBAB8231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5242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0E13B-6EE7-4639-8710-176B7D0243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991ABA-607E-40D0-A20F-3B4A1227173A}"/>
              </a:ext>
            </a:extLst>
          </p:cNvPr>
          <p:cNvSpPr/>
          <p:nvPr/>
        </p:nvSpPr>
        <p:spPr>
          <a:xfrm>
            <a:off x="736600" y="584200"/>
            <a:ext cx="2286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8FC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 OUTCOME</a:t>
            </a:r>
            <a:endParaRPr lang="ko-KR" altLang="en-US" sz="900" b="1">
              <a:solidFill>
                <a:srgbClr val="8FC1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666596-0CC4-4196-91E2-58516CEFC80E}"/>
              </a:ext>
            </a:extLst>
          </p:cNvPr>
          <p:cNvSpPr/>
          <p:nvPr/>
        </p:nvSpPr>
        <p:spPr>
          <a:xfrm>
            <a:off x="736600" y="1244600"/>
            <a:ext cx="10414000" cy="1193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답을 만드는 시스템에서</a:t>
            </a:r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AI</a:t>
            </a:r>
            <a:r>
              <a:rPr lang="ko-KR" altLang="en-US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판단을 검증하고 책임 있게 운영하는 시스템으로</a:t>
            </a:r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3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3D3DCF9-D654-4408-AB23-533F1B6AB90F}"/>
              </a:ext>
            </a:extLst>
          </p:cNvPr>
          <p:cNvSpPr/>
          <p:nvPr/>
        </p:nvSpPr>
        <p:spPr>
          <a:xfrm>
            <a:off x="736600" y="3048000"/>
            <a:ext cx="609600" cy="6096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5F4C91-D23F-4985-B42D-396C43B52CD4}"/>
              </a:ext>
            </a:extLst>
          </p:cNvPr>
          <p:cNvSpPr/>
          <p:nvPr/>
        </p:nvSpPr>
        <p:spPr>
          <a:xfrm>
            <a:off x="1574800" y="3022600"/>
            <a:ext cx="3810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FF7A2A-28A6-4CAE-B1DD-CABF331D85A5}"/>
              </a:ext>
            </a:extLst>
          </p:cNvPr>
          <p:cNvSpPr/>
          <p:nvPr/>
        </p:nvSpPr>
        <p:spPr>
          <a:xfrm>
            <a:off x="1574800" y="3429000"/>
            <a:ext cx="3937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생성과 평가의 </a:t>
            </a:r>
            <a:r>
              <a:rPr lang="en-US" altLang="ko-KR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Provider·</a:t>
            </a:r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 분리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B0BD6B6-6F24-46F6-A4C8-42FB929B75D0}"/>
              </a:ext>
            </a:extLst>
          </p:cNvPr>
          <p:cNvSpPr/>
          <p:nvPr/>
        </p:nvSpPr>
        <p:spPr>
          <a:xfrm>
            <a:off x="6070600" y="3048000"/>
            <a:ext cx="609600" cy="6096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46D412-1926-489F-8115-BAF761C2B390}"/>
              </a:ext>
            </a:extLst>
          </p:cNvPr>
          <p:cNvSpPr/>
          <p:nvPr/>
        </p:nvSpPr>
        <p:spPr>
          <a:xfrm>
            <a:off x="6908800" y="3022600"/>
            <a:ext cx="3810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가능성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0ED932-8455-47A1-80C2-8F969278450A}"/>
              </a:ext>
            </a:extLst>
          </p:cNvPr>
          <p:cNvSpPr/>
          <p:nvPr/>
        </p:nvSpPr>
        <p:spPr>
          <a:xfrm>
            <a:off x="6908800" y="3429000"/>
            <a:ext cx="3937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타당성 </a:t>
            </a:r>
            <a:r>
              <a:rPr lang="en-US" altLang="ko-KR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Rubric</a:t>
            </a:r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서버 재판정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E4E6FE9-5B36-4D55-96FD-7BFFF75E4DE3}"/>
              </a:ext>
            </a:extLst>
          </p:cNvPr>
          <p:cNvSpPr/>
          <p:nvPr/>
        </p:nvSpPr>
        <p:spPr>
          <a:xfrm>
            <a:off x="736600" y="4470400"/>
            <a:ext cx="609600" cy="6096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564C5E-4810-41F4-AEE7-3B4E8C818D3E}"/>
              </a:ext>
            </a:extLst>
          </p:cNvPr>
          <p:cNvSpPr/>
          <p:nvPr/>
        </p:nvSpPr>
        <p:spPr>
          <a:xfrm>
            <a:off x="1574800" y="4445000"/>
            <a:ext cx="3810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48F423-5A89-4662-A742-C9B974FD1DA7}"/>
              </a:ext>
            </a:extLst>
          </p:cNvPr>
          <p:cNvSpPr/>
          <p:nvPr/>
        </p:nvSpPr>
        <p:spPr>
          <a:xfrm>
            <a:off x="1574800" y="4851400"/>
            <a:ext cx="3937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QA·</a:t>
            </a:r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승인과 감사 이력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88DBA0E-4F79-46CF-A7B9-9047DB75CB49}"/>
              </a:ext>
            </a:extLst>
          </p:cNvPr>
          <p:cNvSpPr/>
          <p:nvPr/>
        </p:nvSpPr>
        <p:spPr>
          <a:xfrm>
            <a:off x="6070600" y="4470400"/>
            <a:ext cx="609600" cy="6096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998CF9-0499-47F8-8F2A-6BC334AA168E}"/>
              </a:ext>
            </a:extLst>
          </p:cNvPr>
          <p:cNvSpPr/>
          <p:nvPr/>
        </p:nvSpPr>
        <p:spPr>
          <a:xfrm>
            <a:off x="6908800" y="4445000"/>
            <a:ext cx="3810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C08856-4B48-4C0A-8151-4A39236ADF27}"/>
              </a:ext>
            </a:extLst>
          </p:cNvPr>
          <p:cNvSpPr/>
          <p:nvPr/>
        </p:nvSpPr>
        <p:spPr>
          <a:xfrm>
            <a:off x="6908800" y="4851400"/>
            <a:ext cx="3937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Run·Trace·AWS </a:t>
            </a:r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원격 무결성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A9671E-5175-4172-80BC-28AA19C83745}"/>
              </a:ext>
            </a:extLst>
          </p:cNvPr>
          <p:cNvSpPr/>
          <p:nvPr/>
        </p:nvSpPr>
        <p:spPr>
          <a:xfrm>
            <a:off x="736600" y="5791200"/>
            <a:ext cx="7112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8FC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NEXT</a:t>
            </a:r>
            <a:endParaRPr lang="ko-KR" altLang="en-US" sz="900" b="1">
              <a:solidFill>
                <a:srgbClr val="8FC1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331EC6-15DE-4AF3-ADBF-CCE97F9735D7}"/>
              </a:ext>
            </a:extLst>
          </p:cNvPr>
          <p:cNvSpPr/>
          <p:nvPr/>
        </p:nvSpPr>
        <p:spPr>
          <a:xfrm>
            <a:off x="1600200" y="5765800"/>
            <a:ext cx="8890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 </a:t>
            </a:r>
            <a:r>
              <a:rPr lang="en-US" altLang="ko-KR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r>
              <a:rPr lang="ko-KR" altLang="en-US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최종 승인 </a:t>
            </a:r>
            <a:r>
              <a:rPr lang="en-US" altLang="ko-KR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관측 결함 해소 </a:t>
            </a:r>
            <a:r>
              <a:rPr lang="en-US" altLang="ko-KR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조직 계정 기반 역할 권한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37CBF0-1142-4F81-99BF-8E1902D63D38}"/>
              </a:ext>
            </a:extLst>
          </p:cNvPr>
          <p:cNvSpPr/>
          <p:nvPr/>
        </p:nvSpPr>
        <p:spPr>
          <a:xfrm>
            <a:off x="10083800" y="6248400"/>
            <a:ext cx="16002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000" b="1">
                <a:solidFill>
                  <a:srgbClr val="8FC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THANK YOU</a:t>
            </a:r>
            <a:endParaRPr lang="ko-KR" altLang="en-US" sz="1000" b="1">
              <a:solidFill>
                <a:srgbClr val="8FC1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6701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</Words>
  <Application>Microsoft Office PowerPoint</Application>
  <PresentationFormat>사용자 지정</PresentationFormat>
  <Paragraphs>265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DWIT</dc:creator>
  <cp:lastModifiedBy>DWIT</cp:lastModifiedBy>
  <cp:revision>1</cp:revision>
  <dcterms:created xsi:type="dcterms:W3CDTF">2026-08-05T03:49:56Z</dcterms:created>
  <dcterms:modified xsi:type="dcterms:W3CDTF">2026-08-05T03:49:56Z</dcterms:modified>
</cp:coreProperties>
</file>