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90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AB2D7-4EE2-48DD-A85D-1A64B8942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50ED0C0-721D-46DD-9F1A-8D61BD2163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D0D243-97F4-4D8B-A4D4-A0BCC0B9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A97FBE-0A0E-44BC-A4AF-8D4301091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CB013-2AC8-4858-B57C-C56767DA6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5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AED13D-A910-42BA-9BF2-1BFD1747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0ECE62-1919-49D2-A5E5-1385A25766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E0C67C-3995-465B-B8C2-4CC673759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F54666-2B8B-492A-8997-D7BD23071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E664F-7D14-482E-B47E-DD9771CFE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5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DA038-68B7-4FCE-9FA5-5FF4E4F30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7D2143-4685-4C42-8B0A-1D060BA85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544794-F079-4AA2-907A-F0454F0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B56D05-8B9F-411B-9055-5898A4B38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50783E-EBA2-41EA-BFF5-0B4E3B0D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65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4126E7-09FB-41CB-A2B5-742BB89E1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4AC882-F991-460E-9E4C-9B610575BB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95252E7-4084-45EC-B5D3-CDEFBDF629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1977E7-AF1C-4141-ABB2-653607CEF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CCB8B7-9476-4B97-A780-BBBF498A2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608EDD-40FF-405B-A408-FBC539C81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7378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6884FD-9CB2-4159-8878-BFB94DFB5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E1A26C-A0DE-41C0-B182-CC55EF1C8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B62037-6432-4ACC-8170-ECEF8F466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5F3AB5E-E221-4848-82FB-47F7DC94C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33AC7C9-F865-46E4-B148-4169B2B672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0F6536-0063-45A2-935C-771DAC98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AC12B3-8927-4302-8665-38CCC6E1F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EAA620-8396-4C15-9AAD-25E44B1DD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640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3DC8A5-175C-417A-803A-A64E2E49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247A60D-456F-4B19-A2CE-C6A8011A8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EFCF8EA-DB23-4DA4-AD07-36772B68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6C73674-E465-4223-AD4C-9DAA56C30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9344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F9B4CC-967A-4AA0-860F-3BB9BD61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AB50371-0800-4F28-90EA-C682706CE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1C8611-EFAE-43D7-8EFF-0345534F5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528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C6898-FA59-485C-B72F-63D794643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BABE28-AB2D-4CD8-B398-EFD3B5D8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4F364D-2484-4997-AC85-3F4FC6F5EA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62733E-85A2-4B2E-AF0D-518C4FF41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27DF102-4B1E-4B87-AB7C-83F3C6B7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CC69ED5-3D32-4339-9C0F-5E9E36F0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097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54B884-4E6A-45BD-92EF-E9C56214A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F92052-B868-45F6-AE44-CB5A2862C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FC0C8DE-7797-4D83-82D5-59782CD9A7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16296B-FA44-4E04-8075-5D315887C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D547CD-EEBF-478D-B29C-B85151F19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9FF22C-0E6C-41E0-AEA6-3BA134A71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16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C96EF-48B7-459A-AD89-F148AB17F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1DBCDBA-1A0D-4548-A799-7A6FCB15D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C81691-1046-48C5-B926-4AC72033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22168-A80D-4922-9A7D-C2D5D92DB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29BA32-E1C5-4246-89C8-A63CF6203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017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C1C28D-5E73-47A5-95EB-C777AB9AA0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31160B-D70E-4D66-8874-14136B7EF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54E65-CC42-4E8E-857F-FC1B8D4E2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301C86-4094-4C7C-B526-5ACAA9D14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42BA7D-5F68-48D8-A456-CF419EE0F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88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EBB24A1-3772-49EF-A00A-2B41B93E1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67C4ABD-AEC3-4340-BBBF-FBCE455B25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6287AB-578E-4955-A4DB-06BF91839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7EB14-2914-40F9-BC66-5B969616DDAD}" type="datetimeFigureOut">
              <a:rPr lang="ko-KR" altLang="en-US" smtClean="0"/>
              <a:t>2026-08-04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E50583-46DB-4528-A987-8557EA0EC3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FCC391-A017-41EF-8153-AD32C89310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7577D-2917-4C60-9441-4D61ADC97D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9865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F9E5437-EE6C-4F90-9AAC-C8770860336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B529A35-A9B6-4617-8C69-4CA08D6C4786}"/>
              </a:ext>
            </a:extLst>
          </p:cNvPr>
          <p:cNvSpPr/>
          <p:nvPr/>
        </p:nvSpPr>
        <p:spPr>
          <a:xfrm>
            <a:off x="8890000" y="-1397000"/>
            <a:ext cx="4064000" cy="4064000"/>
          </a:xfrm>
          <a:prstGeom prst="ellipse">
            <a:avLst/>
          </a:prstGeom>
          <a:solidFill>
            <a:srgbClr val="1769E0">
              <a:alpha val="5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26E0707-139C-41A0-AED5-1A1C3EE7A2F2}"/>
              </a:ext>
            </a:extLst>
          </p:cNvPr>
          <p:cNvSpPr/>
          <p:nvPr/>
        </p:nvSpPr>
        <p:spPr>
          <a:xfrm>
            <a:off x="9969500" y="1016000"/>
            <a:ext cx="2921000" cy="2921000"/>
          </a:xfrm>
          <a:prstGeom prst="ellipse">
            <a:avLst/>
          </a:prstGeom>
          <a:solidFill>
            <a:srgbClr val="24B6D2">
              <a:alpha val="35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5E2EF49-09CA-4EB4-B351-F08F32174D57}"/>
              </a:ext>
            </a:extLst>
          </p:cNvPr>
          <p:cNvSpPr/>
          <p:nvPr/>
        </p:nvSpPr>
        <p:spPr>
          <a:xfrm>
            <a:off x="-1270000" y="4635500"/>
            <a:ext cx="3302000" cy="3302000"/>
          </a:xfrm>
          <a:prstGeom prst="ellipse">
            <a:avLst/>
          </a:prstGeom>
          <a:solidFill>
            <a:srgbClr val="7C5CE7">
              <a:alpha val="2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3E3638D-032A-40A9-90EE-4112709F781A}"/>
              </a:ext>
            </a:extLst>
          </p:cNvPr>
          <p:cNvSpPr/>
          <p:nvPr/>
        </p:nvSpPr>
        <p:spPr>
          <a:xfrm>
            <a:off x="736600" y="685800"/>
            <a:ext cx="3429000" cy="3048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ko-KR" sz="900" b="1">
                <a:solidFill>
                  <a:srgbClr val="B9D6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QA · LLMOps · Operational Audit</a:t>
            </a:r>
            <a:endParaRPr lang="ko-KR" altLang="en-US" sz="900" b="1">
              <a:solidFill>
                <a:srgbClr val="B9D6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121EAA-E001-4084-8A19-49206AD0D7EC}"/>
              </a:ext>
            </a:extLst>
          </p:cNvPr>
          <p:cNvSpPr/>
          <p:nvPr/>
        </p:nvSpPr>
        <p:spPr>
          <a:xfrm>
            <a:off x="736600" y="1473200"/>
            <a:ext cx="9144000" cy="180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멀티 에이전트
</a:t>
            </a:r>
            <a:r>
              <a:rPr lang="en-US" altLang="ko-KR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3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결과관리 및 운영감사 프로젝트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4D7BCF-9B8A-479B-913A-7CDD37B848A9}"/>
              </a:ext>
            </a:extLst>
          </p:cNvPr>
          <p:cNvSpPr/>
          <p:nvPr/>
        </p:nvSpPr>
        <p:spPr>
          <a:xfrm>
            <a:off x="762000" y="3556000"/>
            <a:ext cx="8001000" cy="787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수집부터 독립 평가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타당성 검증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사람 승인과
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 보관까지 연결한 </a:t>
            </a:r>
            <a:r>
              <a:rPr lang="en-US" altLang="ko-KR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Evidence-first </a:t>
            </a:r>
            <a:r>
              <a:rPr lang="ko-KR" altLang="en-US" sz="1500">
                <a:solidFill>
                  <a:srgbClr val="C9D9E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품질관리 플랫폼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6C1DABD-C607-4D51-921D-722234E83325}"/>
              </a:ext>
            </a:extLst>
          </p:cNvPr>
          <p:cNvSpPr/>
          <p:nvPr/>
        </p:nvSpPr>
        <p:spPr>
          <a:xfrm>
            <a:off x="7620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7AF4D9C-73BB-4769-BE5C-83C57CFDEE33}"/>
              </a:ext>
            </a:extLst>
          </p:cNvPr>
          <p:cNvSpPr/>
          <p:nvPr/>
        </p:nvSpPr>
        <p:spPr>
          <a:xfrm>
            <a:off x="7620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gRPC Agent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5C19ECF-0766-4626-BFAF-B0A5CC90A23D}"/>
              </a:ext>
            </a:extLst>
          </p:cNvPr>
          <p:cNvSpPr/>
          <p:nvPr/>
        </p:nvSpPr>
        <p:spPr>
          <a:xfrm>
            <a:off x="28956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F82C521-A40D-4980-BB9D-1996C951637B}"/>
              </a:ext>
            </a:extLst>
          </p:cNvPr>
          <p:cNvSpPr/>
          <p:nvPr/>
        </p:nvSpPr>
        <p:spPr>
          <a:xfrm>
            <a:off x="28956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Provider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008D576-275A-4954-B58D-BE9C6F8C038E}"/>
              </a:ext>
            </a:extLst>
          </p:cNvPr>
          <p:cNvSpPr/>
          <p:nvPr/>
        </p:nvSpPr>
        <p:spPr>
          <a:xfrm>
            <a:off x="50292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A352ABB-1E6D-40DA-95A2-19402703F13C}"/>
              </a:ext>
            </a:extLst>
          </p:cNvPr>
          <p:cNvSpPr/>
          <p:nvPr/>
        </p:nvSpPr>
        <p:spPr>
          <a:xfrm>
            <a:off x="50292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Validity Rubric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48D3F3BD-543B-49BA-AB64-2BA805FC2701}"/>
              </a:ext>
            </a:extLst>
          </p:cNvPr>
          <p:cNvSpPr/>
          <p:nvPr/>
        </p:nvSpPr>
        <p:spPr>
          <a:xfrm>
            <a:off x="7162800" y="4851400"/>
            <a:ext cx="1879600" cy="5334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355A8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S3</a:t>
            </a:r>
            <a:endParaRPr lang="ko-KR" altLang="en-US" sz="24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915C147-3101-4476-A4D2-4A5B6397709B}"/>
              </a:ext>
            </a:extLst>
          </p:cNvPr>
          <p:cNvSpPr/>
          <p:nvPr/>
        </p:nvSpPr>
        <p:spPr>
          <a:xfrm>
            <a:off x="7162800" y="5461000"/>
            <a:ext cx="1879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>
                <a:solidFill>
                  <a:srgbClr val="B7CBE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Audit Evidence</a:t>
            </a:r>
            <a:endParaRPr lang="ko-KR" altLang="en-US" sz="900">
              <a:solidFill>
                <a:srgbClr val="B7CBE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FAB46D4-22FE-4C77-A829-3328002AE93A}"/>
              </a:ext>
            </a:extLst>
          </p:cNvPr>
          <p:cNvSpPr/>
          <p:nvPr/>
        </p:nvSpPr>
        <p:spPr>
          <a:xfrm>
            <a:off x="762000" y="6223000"/>
            <a:ext cx="7874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최강</a:t>
            </a:r>
            <a:r>
              <a:rPr lang="en-US" altLang="ko-KR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  </a:t>
            </a:r>
            <a:r>
              <a:rPr lang="en-US" altLang="ko-KR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2026.07–08  ·  </a:t>
            </a:r>
            <a:r>
              <a:rPr lang="ko-KR" altLang="en-US" sz="1000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작성자 이름 입력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F72D63E-4BBB-4331-AA0D-8AB0EABD5E35}"/>
              </a:ext>
            </a:extLst>
          </p:cNvPr>
          <p:cNvSpPr/>
          <p:nvPr/>
        </p:nvSpPr>
        <p:spPr>
          <a:xfrm>
            <a:off x="11201400" y="6273800"/>
            <a:ext cx="482600" cy="203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900" b="1">
                <a:solidFill>
                  <a:srgbClr val="AFC3D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900" b="1">
              <a:solidFill>
                <a:srgbClr val="AFC3D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434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59FE2F6-3E7B-4CB8-8837-326602765213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D36A29-D391-46F9-BA2D-ACD15191E418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좋은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답변이 곧 실행 가능한 개선안은 아닙니다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187A772-2F3A-488A-82D4-AFF5EE864883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DD93E-56F1-457F-AC5B-1C82D75C5198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분석의 마지막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마일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계획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위험과 책임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1EDFB16-C4EE-4B2B-8B46-07A4551ED144}"/>
              </a:ext>
            </a:extLst>
          </p:cNvPr>
          <p:cNvSpPr/>
          <p:nvPr/>
        </p:nvSpPr>
        <p:spPr>
          <a:xfrm>
            <a:off x="609600" y="1803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446B3BA-259D-4DB4-A448-CB37C8F728BB}"/>
              </a:ext>
            </a:extLst>
          </p:cNvPr>
          <p:cNvSpPr/>
          <p:nvPr/>
        </p:nvSpPr>
        <p:spPr>
          <a:xfrm>
            <a:off x="609600" y="1803400"/>
            <a:ext cx="76200" cy="1600200"/>
          </a:xfrm>
          <a:prstGeom prst="rect">
            <a:avLst/>
          </a:prstGeom>
          <a:solidFill>
            <a:srgbClr val="DF4C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B63D9059-B4D9-402B-930E-FA8163523DBD}"/>
              </a:ext>
            </a:extLst>
          </p:cNvPr>
          <p:cNvSpPr/>
          <p:nvPr/>
        </p:nvSpPr>
        <p:spPr>
          <a:xfrm>
            <a:off x="889000" y="2108200"/>
            <a:ext cx="558800" cy="558800"/>
          </a:xfrm>
          <a:prstGeom prst="ellipse">
            <a:avLst/>
          </a:prstGeom>
          <a:solidFill>
            <a:srgbClr val="DF4C4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4061902-7554-4869-AAC9-BF93B1FCFB53}"/>
              </a:ext>
            </a:extLst>
          </p:cNvPr>
          <p:cNvSpPr/>
          <p:nvPr/>
        </p:nvSpPr>
        <p:spPr>
          <a:xfrm>
            <a:off x="1651000" y="2057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단절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1F26FA-088D-4B2E-8D89-76F7CB18DE26}"/>
              </a:ext>
            </a:extLst>
          </p:cNvPr>
          <p:cNvSpPr/>
          <p:nvPr/>
        </p:nvSpPr>
        <p:spPr>
          <a:xfrm>
            <a:off x="1651000" y="2476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개선안이 어떤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원문과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Trace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나왔는지 재현하기 어렵습니다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F371010-C560-4C4C-9B58-DBDF88840981}"/>
              </a:ext>
            </a:extLst>
          </p:cNvPr>
          <p:cNvSpPr/>
          <p:nvPr/>
        </p:nvSpPr>
        <p:spPr>
          <a:xfrm>
            <a:off x="6172200" y="1803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2A6AAE0-B7EE-4D5B-BDAC-3C5F98C32D15}"/>
              </a:ext>
            </a:extLst>
          </p:cNvPr>
          <p:cNvSpPr/>
          <p:nvPr/>
        </p:nvSpPr>
        <p:spPr>
          <a:xfrm>
            <a:off x="6172200" y="1803400"/>
            <a:ext cx="76200" cy="1600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656EE9E-09EB-4847-8166-CBBE314F5E10}"/>
              </a:ext>
            </a:extLst>
          </p:cNvPr>
          <p:cNvSpPr/>
          <p:nvPr/>
        </p:nvSpPr>
        <p:spPr>
          <a:xfrm>
            <a:off x="6451600" y="2108200"/>
            <a:ext cx="558800" cy="5588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32B1DFD-43E8-4DB3-B7F2-AB104219D02E}"/>
              </a:ext>
            </a:extLst>
          </p:cNvPr>
          <p:cNvSpPr/>
          <p:nvPr/>
        </p:nvSpPr>
        <p:spPr>
          <a:xfrm>
            <a:off x="7213600" y="2057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자기평가 편향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7A8262A-4883-4E15-9EDE-74BAFD29D637}"/>
              </a:ext>
            </a:extLst>
          </p:cNvPr>
          <p:cNvSpPr/>
          <p:nvPr/>
        </p:nvSpPr>
        <p:spPr>
          <a:xfrm>
            <a:off x="7213600" y="2476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생성과 평가를 같은 모델이 수행하면 높은 점수를 스스로 정당화할 수 있습니다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F6455FD-38E5-483F-BE6D-6AA139366017}"/>
              </a:ext>
            </a:extLst>
          </p:cNvPr>
          <p:cNvSpPr/>
          <p:nvPr/>
        </p:nvSpPr>
        <p:spPr>
          <a:xfrm>
            <a:off x="609600" y="3708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CF0A6F5-E8A6-41D2-8E25-40A6AABA6C77}"/>
              </a:ext>
            </a:extLst>
          </p:cNvPr>
          <p:cNvSpPr/>
          <p:nvPr/>
        </p:nvSpPr>
        <p:spPr>
          <a:xfrm>
            <a:off x="609600" y="3708400"/>
            <a:ext cx="76200" cy="16002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52308DA-8D07-4B42-9029-DCF916E02E16}"/>
              </a:ext>
            </a:extLst>
          </p:cNvPr>
          <p:cNvSpPr/>
          <p:nvPr/>
        </p:nvSpPr>
        <p:spPr>
          <a:xfrm>
            <a:off x="889000" y="4013200"/>
            <a:ext cx="558800" cy="5588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D425456-0248-4393-A249-F62FE84D2164}"/>
              </a:ext>
            </a:extLst>
          </p:cNvPr>
          <p:cNvSpPr/>
          <p:nvPr/>
        </p:nvSpPr>
        <p:spPr>
          <a:xfrm>
            <a:off x="1651000" y="3962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정보 누락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36B33A8-875F-47F5-9F66-37DAB424056B}"/>
              </a:ext>
            </a:extLst>
          </p:cNvPr>
          <p:cNvSpPr/>
          <p:nvPr/>
        </p:nvSpPr>
        <p:spPr>
          <a:xfrm>
            <a:off x="1651000" y="4381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·KPI·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범위가 없는 개선안도 자연스럽게 보입니다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CEA040AD-E963-4BF6-86A7-48FC200FAE2B}"/>
              </a:ext>
            </a:extLst>
          </p:cNvPr>
          <p:cNvSpPr/>
          <p:nvPr/>
        </p:nvSpPr>
        <p:spPr>
          <a:xfrm>
            <a:off x="6172200" y="3708400"/>
            <a:ext cx="5207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AA313B68-E488-477D-BFFA-411FCCAC5FCF}"/>
              </a:ext>
            </a:extLst>
          </p:cNvPr>
          <p:cNvSpPr/>
          <p:nvPr/>
        </p:nvSpPr>
        <p:spPr>
          <a:xfrm>
            <a:off x="6172200" y="3708400"/>
            <a:ext cx="76200" cy="16002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C9864582-D283-4A26-8682-60D6367A3620}"/>
              </a:ext>
            </a:extLst>
          </p:cNvPr>
          <p:cNvSpPr/>
          <p:nvPr/>
        </p:nvSpPr>
        <p:spPr>
          <a:xfrm>
            <a:off x="6451600" y="4013200"/>
            <a:ext cx="558800" cy="5588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CA78A4B-6694-4826-9707-E07A3798AFB1}"/>
              </a:ext>
            </a:extLst>
          </p:cNvPr>
          <p:cNvSpPr/>
          <p:nvPr/>
        </p:nvSpPr>
        <p:spPr>
          <a:xfrm>
            <a:off x="7213600" y="39624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 책임 불명확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41CAC0-24EE-408A-8D3C-C9D82FEEF515}"/>
              </a:ext>
            </a:extLst>
          </p:cNvPr>
          <p:cNvSpPr/>
          <p:nvPr/>
        </p:nvSpPr>
        <p:spPr>
          <a:xfrm>
            <a:off x="7213600" y="4381500"/>
            <a:ext cx="3708400" cy="736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PASS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실제 운영 승인이 섞이면 적용 책임과 감사 근거가 사라집니다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11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9B19087-7144-4BD3-8BE4-8E220B5988AA}"/>
              </a:ext>
            </a:extLst>
          </p:cNvPr>
          <p:cNvSpPr/>
          <p:nvPr/>
        </p:nvSpPr>
        <p:spPr>
          <a:xfrm>
            <a:off x="635000" y="5715000"/>
            <a:ext cx="1092200" cy="3048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ko-KR" altLang="en-US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질문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A753F3E-9D95-42E0-9985-4A695CF16AD4}"/>
              </a:ext>
            </a:extLst>
          </p:cNvPr>
          <p:cNvSpPr/>
          <p:nvPr/>
        </p:nvSpPr>
        <p:spPr>
          <a:xfrm>
            <a:off x="1905000" y="5664200"/>
            <a:ext cx="88900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개선안을 실제 업무에 적용하고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측정하고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책임질 수 있는가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?</a:t>
            </a:r>
            <a:endParaRPr lang="ko-KR" altLang="en-US" sz="19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76A54931-0D2D-439A-9650-FD9A26B8AA7E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8EF0283-9919-4093-80CB-76AD2C632787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3DA641C3-34B1-413E-8F98-48C7B8AC685A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123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400DD3B-79B2-422B-8E08-1ECD6C9450E9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EBF95C-8B83-4B28-87C2-E690AD5E97F5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목표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F49F190-39AC-4EE3-86AD-D08E81B297FE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45F9E30-C663-4007-9AEC-CF8FB7999502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그럴듯한 개선안이 아니라 실행하고 측정하며 책임질 수 있는 개선안만 운영으로 연결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002D43E-7687-4FCA-8278-50D73BD4DA42}"/>
              </a:ext>
            </a:extLst>
          </p:cNvPr>
          <p:cNvSpPr/>
          <p:nvPr/>
        </p:nvSpPr>
        <p:spPr>
          <a:xfrm>
            <a:off x="609600" y="1879600"/>
            <a:ext cx="3429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E775D7-E3B6-4368-BBCE-08D4BE049A67}"/>
              </a:ext>
            </a:extLst>
          </p:cNvPr>
          <p:cNvSpPr/>
          <p:nvPr/>
        </p:nvSpPr>
        <p:spPr>
          <a:xfrm>
            <a:off x="609600" y="1879600"/>
            <a:ext cx="76200" cy="35306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EBB30FF-5B8B-4444-B440-6B0C8ACDCE18}"/>
              </a:ext>
            </a:extLst>
          </p:cNvPr>
          <p:cNvSpPr/>
          <p:nvPr/>
        </p:nvSpPr>
        <p:spPr>
          <a:xfrm>
            <a:off x="914400" y="2184400"/>
            <a:ext cx="609600" cy="609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A41D72-DD7A-4238-A52F-56C544E9D7C1}"/>
              </a:ext>
            </a:extLst>
          </p:cNvPr>
          <p:cNvSpPr/>
          <p:nvPr/>
        </p:nvSpPr>
        <p:spPr>
          <a:xfrm>
            <a:off x="914400" y="2971800"/>
            <a:ext cx="2794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연결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475F4E-638D-41C5-9F24-CB8C53C9B759}"/>
              </a:ext>
            </a:extLst>
          </p:cNvPr>
          <p:cNvSpPr/>
          <p:nvPr/>
        </p:nvSpPr>
        <p:spPr>
          <a:xfrm>
            <a:off x="914400" y="3632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13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7B8D312-B6B2-486E-B96F-E48BF675A194}"/>
              </a:ext>
            </a:extLst>
          </p:cNvPr>
          <p:cNvSpPr/>
          <p:nvPr/>
        </p:nvSpPr>
        <p:spPr>
          <a:xfrm>
            <a:off x="914400" y="4013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· Case · Trace</a:t>
            </a:r>
            <a:endParaRPr lang="ko-KR" altLang="en-US" sz="13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0A85119-CAE5-40B6-BDC3-C17F99B08913}"/>
              </a:ext>
            </a:extLst>
          </p:cNvPr>
          <p:cNvCxnSpPr/>
          <p:nvPr/>
        </p:nvCxnSpPr>
        <p:spPr>
          <a:xfrm>
            <a:off x="914400" y="4470400"/>
            <a:ext cx="2692400" cy="0"/>
          </a:xfrm>
          <a:prstGeom prst="line">
            <a:avLst/>
          </a:prstGeom>
          <a:ln w="1905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B873EF-3F9C-4C72-9EFB-CE01987E880F}"/>
              </a:ext>
            </a:extLst>
          </p:cNvPr>
          <p:cNvSpPr/>
          <p:nvPr/>
        </p:nvSpPr>
        <p:spPr>
          <a:xfrm>
            <a:off x="914400" y="4660900"/>
            <a:ext cx="2794000" cy="53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판단을 다시 추적할 수 있게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8FB4D26-6596-4165-86FB-7983D34516D0}"/>
              </a:ext>
            </a:extLst>
          </p:cNvPr>
          <p:cNvSpPr/>
          <p:nvPr/>
        </p:nvSpPr>
        <p:spPr>
          <a:xfrm>
            <a:off x="4343400" y="1879600"/>
            <a:ext cx="3429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F11C764-906F-4BCE-9F25-D4BFABFC65BD}"/>
              </a:ext>
            </a:extLst>
          </p:cNvPr>
          <p:cNvSpPr/>
          <p:nvPr/>
        </p:nvSpPr>
        <p:spPr>
          <a:xfrm>
            <a:off x="4343400" y="1879600"/>
            <a:ext cx="76200" cy="3530600"/>
          </a:xfrm>
          <a:prstGeom prst="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EF2A6E9-28CB-4CE9-BABA-B4DD2716CAA8}"/>
              </a:ext>
            </a:extLst>
          </p:cNvPr>
          <p:cNvSpPr/>
          <p:nvPr/>
        </p:nvSpPr>
        <p:spPr>
          <a:xfrm>
            <a:off x="4648200" y="2184400"/>
            <a:ext cx="609600" cy="6096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ACF20D4-F043-4623-BABB-A7CB65C591B6}"/>
              </a:ext>
            </a:extLst>
          </p:cNvPr>
          <p:cNvSpPr/>
          <p:nvPr/>
        </p:nvSpPr>
        <p:spPr>
          <a:xfrm>
            <a:off x="4648200" y="2971800"/>
            <a:ext cx="2794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가능성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FADC197-78CC-482C-B063-1A70DE74BE1B}"/>
              </a:ext>
            </a:extLst>
          </p:cNvPr>
          <p:cNvSpPr/>
          <p:nvPr/>
        </p:nvSpPr>
        <p:spPr>
          <a:xfrm>
            <a:off x="4648200" y="3632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 </a:t>
            </a:r>
            <a:r>
              <a:rPr lang="en-US" altLang="ko-KR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 </a:t>
            </a:r>
            <a:r>
              <a:rPr lang="en-US" altLang="ko-KR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KPI</a:t>
            </a:r>
            <a:endParaRPr lang="ko-KR" altLang="en-US" sz="1300" b="1">
              <a:solidFill>
                <a:srgbClr val="2EC4A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A451BB-74A9-42E5-865D-73CAB8FF865D}"/>
              </a:ext>
            </a:extLst>
          </p:cNvPr>
          <p:cNvSpPr/>
          <p:nvPr/>
        </p:nvSpPr>
        <p:spPr>
          <a:xfrm>
            <a:off x="4648200" y="4013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 범위 </a:t>
            </a:r>
            <a:r>
              <a:rPr lang="en-US" altLang="ko-KR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3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2BCF9A8C-2893-4A1F-815A-5F1461F75535}"/>
              </a:ext>
            </a:extLst>
          </p:cNvPr>
          <p:cNvCxnSpPr/>
          <p:nvPr/>
        </p:nvCxnSpPr>
        <p:spPr>
          <a:xfrm>
            <a:off x="4648200" y="4470400"/>
            <a:ext cx="2692400" cy="0"/>
          </a:xfrm>
          <a:prstGeom prst="line">
            <a:avLst/>
          </a:prstGeom>
          <a:ln w="1905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7747186-2289-400D-BA1E-1BB25F5B17E9}"/>
              </a:ext>
            </a:extLst>
          </p:cNvPr>
          <p:cNvSpPr/>
          <p:nvPr/>
        </p:nvSpPr>
        <p:spPr>
          <a:xfrm>
            <a:off x="4648200" y="4660900"/>
            <a:ext cx="2794000" cy="53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현장에서 실행 가능한 수준으로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5B5A5B99-0000-4474-94D5-767CAA1A9C7A}"/>
              </a:ext>
            </a:extLst>
          </p:cNvPr>
          <p:cNvSpPr/>
          <p:nvPr/>
        </p:nvSpPr>
        <p:spPr>
          <a:xfrm>
            <a:off x="8077200" y="1879600"/>
            <a:ext cx="3429000" cy="353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EDDC6F1-F978-499A-A1E4-E8103037F95D}"/>
              </a:ext>
            </a:extLst>
          </p:cNvPr>
          <p:cNvSpPr/>
          <p:nvPr/>
        </p:nvSpPr>
        <p:spPr>
          <a:xfrm>
            <a:off x="8077200" y="1879600"/>
            <a:ext cx="76200" cy="35306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2FDDDE6-0BE2-4C51-827B-830FDDAE675A}"/>
              </a:ext>
            </a:extLst>
          </p:cNvPr>
          <p:cNvSpPr/>
          <p:nvPr/>
        </p:nvSpPr>
        <p:spPr>
          <a:xfrm>
            <a:off x="8382000" y="2184400"/>
            <a:ext cx="609600" cy="6096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402FF7-1A56-4E77-BC1D-D180A57265CA}"/>
              </a:ext>
            </a:extLst>
          </p:cNvPr>
          <p:cNvSpPr/>
          <p:nvPr/>
        </p:nvSpPr>
        <p:spPr>
          <a:xfrm>
            <a:off x="8382000" y="2971800"/>
            <a:ext cx="2794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 있는 적용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92624E-DFD1-42ED-8675-DAAB1A453584}"/>
              </a:ext>
            </a:extLst>
          </p:cNvPr>
          <p:cNvSpPr/>
          <p:nvPr/>
        </p:nvSpPr>
        <p:spPr>
          <a:xfrm>
            <a:off x="8382000" y="3632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</a:t>
            </a:r>
            <a:r>
              <a:rPr lang="ko-KR" altLang="en-US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평가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38E3A58-23FC-4FC1-B537-4D7979FDD04E}"/>
              </a:ext>
            </a:extLst>
          </p:cNvPr>
          <p:cNvSpPr/>
          <p:nvPr/>
        </p:nvSpPr>
        <p:spPr>
          <a:xfrm>
            <a:off x="8382000" y="40132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 · </a:t>
            </a:r>
            <a:r>
              <a:rPr lang="ko-KR" altLang="en-US" sz="13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승인</a:t>
            </a:r>
          </a:p>
        </p:txBody>
      </p: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DBF2B82A-84C6-48BF-AA3E-4E897243EE9E}"/>
              </a:ext>
            </a:extLst>
          </p:cNvPr>
          <p:cNvCxnSpPr/>
          <p:nvPr/>
        </p:nvCxnSpPr>
        <p:spPr>
          <a:xfrm>
            <a:off x="8382000" y="4470400"/>
            <a:ext cx="2692400" cy="0"/>
          </a:xfrm>
          <a:prstGeom prst="line">
            <a:avLst/>
          </a:prstGeom>
          <a:ln w="1905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2B5E783-C51F-4A98-972E-C2FC9EDF17CB}"/>
              </a:ext>
            </a:extLst>
          </p:cNvPr>
          <p:cNvSpPr/>
          <p:nvPr/>
        </p:nvSpPr>
        <p:spPr>
          <a:xfrm>
            <a:off x="8382000" y="4660900"/>
            <a:ext cx="2794000" cy="533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자동화와 사람 책임을 분리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BF8930F-DA07-4144-8EB1-65E845246D6F}"/>
              </a:ext>
            </a:extLst>
          </p:cNvPr>
          <p:cNvSpPr/>
          <p:nvPr/>
        </p:nvSpPr>
        <p:spPr>
          <a:xfrm>
            <a:off x="4445000" y="5816600"/>
            <a:ext cx="3302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WHY THIS PROCESS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A272BE2-E749-4D96-AF2D-2CFB2C21B1B0}"/>
              </a:ext>
            </a:extLst>
          </p:cNvPr>
          <p:cNvSpPr/>
          <p:nvPr/>
        </p:nvSpPr>
        <p:spPr>
          <a:xfrm>
            <a:off x="2413000" y="6070600"/>
            <a:ext cx="7366000" cy="3175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답을 만드는 시스템 → </a:t>
            </a:r>
            <a:r>
              <a:rPr lang="en-US" altLang="ko-KR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16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판단을 검증하는 시스템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E609E924-70B9-4C9B-8687-DC0D26899148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A9BD1FB-D848-42AD-B605-C67446B399EF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F5F4E62-3ABD-4E44-949B-9E7FD7A33E28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39986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8CBE48B-38CA-4F04-853B-B7165E5F3BC0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1C393F-807A-4B57-85EF-57C08996B6BF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E2E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프로세스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6B51B6C-F2F8-42F8-A6CC-774A4DFA2557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B89F0F-67F8-4D0D-9D2D-1573198ED07A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각 단계의 상태와 증적을 분리하고 미달 시 보완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·RETEST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되돌립니다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80DD738F-ADF2-4F9A-819D-1EA3B930FB67}"/>
              </a:ext>
            </a:extLst>
          </p:cNvPr>
          <p:cNvSpPr/>
          <p:nvPr/>
        </p:nvSpPr>
        <p:spPr>
          <a:xfrm>
            <a:off x="533400" y="2349500"/>
            <a:ext cx="787400" cy="7874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7D6A29-076E-44C0-97F0-FBD392ADFE3D}"/>
              </a:ext>
            </a:extLst>
          </p:cNvPr>
          <p:cNvSpPr/>
          <p:nvPr/>
        </p:nvSpPr>
        <p:spPr>
          <a:xfrm>
            <a:off x="3048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 불만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9A5D5B5-DBCC-4BB7-B3D6-20D17BDF620A}"/>
              </a:ext>
            </a:extLst>
          </p:cNvPr>
          <p:cNvCxnSpPr/>
          <p:nvPr/>
        </p:nvCxnSpPr>
        <p:spPr>
          <a:xfrm>
            <a:off x="13716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12BA4F31-3232-4721-8AE0-AF7757188DE3}"/>
              </a:ext>
            </a:extLst>
          </p:cNvPr>
          <p:cNvSpPr/>
          <p:nvPr/>
        </p:nvSpPr>
        <p:spPr>
          <a:xfrm>
            <a:off x="2159000" y="2349500"/>
            <a:ext cx="787400" cy="787400"/>
          </a:xfrm>
          <a:prstGeom prst="ellipse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6A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BD2A24D-B2DC-45D3-AB91-893240298D75}"/>
              </a:ext>
            </a:extLst>
          </p:cNvPr>
          <p:cNvSpPr/>
          <p:nvPr/>
        </p:nvSpPr>
        <p:spPr>
          <a:xfrm>
            <a:off x="19304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Pipeline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FF0A925E-2E87-4812-900A-C7D7D2C7DA34}"/>
              </a:ext>
            </a:extLst>
          </p:cNvPr>
          <p:cNvCxnSpPr/>
          <p:nvPr/>
        </p:nvCxnSpPr>
        <p:spPr>
          <a:xfrm>
            <a:off x="29972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98985662-6B1C-4FB8-90F7-F233A45351A5}"/>
              </a:ext>
            </a:extLst>
          </p:cNvPr>
          <p:cNvSpPr/>
          <p:nvPr/>
        </p:nvSpPr>
        <p:spPr>
          <a:xfrm>
            <a:off x="3784600" y="2349500"/>
            <a:ext cx="787400" cy="7874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4DFAC91-0BDE-4CD3-921D-762F5735F133}"/>
              </a:ext>
            </a:extLst>
          </p:cNvPr>
          <p:cNvSpPr/>
          <p:nvPr/>
        </p:nvSpPr>
        <p:spPr>
          <a:xfrm>
            <a:off x="35560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Judge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E94ECDE-D655-4C15-BFE9-1CA6C6F6BE70}"/>
              </a:ext>
            </a:extLst>
          </p:cNvPr>
          <p:cNvCxnSpPr/>
          <p:nvPr/>
        </p:nvCxnSpPr>
        <p:spPr>
          <a:xfrm>
            <a:off x="46228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1CC1C07A-3D52-4E32-8423-319E49BFC78C}"/>
              </a:ext>
            </a:extLst>
          </p:cNvPr>
          <p:cNvSpPr/>
          <p:nvPr/>
        </p:nvSpPr>
        <p:spPr>
          <a:xfrm>
            <a:off x="5410200" y="2349500"/>
            <a:ext cx="787400" cy="7874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760A6D-8706-4343-9A1D-9CB41EECEC13}"/>
              </a:ext>
            </a:extLst>
          </p:cNvPr>
          <p:cNvSpPr/>
          <p:nvPr/>
        </p:nvSpPr>
        <p:spPr>
          <a:xfrm>
            <a:off x="51816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타당성 평가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E0AD402-A5AD-4258-9819-5CA72F2CBD7E}"/>
              </a:ext>
            </a:extLst>
          </p:cNvPr>
          <p:cNvCxnSpPr/>
          <p:nvPr/>
        </p:nvCxnSpPr>
        <p:spPr>
          <a:xfrm>
            <a:off x="62484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B82E8753-6713-4E01-B47F-680079A94405}"/>
              </a:ext>
            </a:extLst>
          </p:cNvPr>
          <p:cNvSpPr/>
          <p:nvPr/>
        </p:nvSpPr>
        <p:spPr>
          <a:xfrm>
            <a:off x="7035800" y="2349500"/>
            <a:ext cx="787400" cy="787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13C1671-5899-4742-A039-1E3C0AF7A19B}"/>
              </a:ext>
            </a:extLst>
          </p:cNvPr>
          <p:cNvSpPr/>
          <p:nvPr/>
        </p:nvSpPr>
        <p:spPr>
          <a:xfrm>
            <a:off x="68072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검토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A075EF69-D0D9-4431-AB35-0BA11ACCA4CF}"/>
              </a:ext>
            </a:extLst>
          </p:cNvPr>
          <p:cNvCxnSpPr/>
          <p:nvPr/>
        </p:nvCxnSpPr>
        <p:spPr>
          <a:xfrm>
            <a:off x="78740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10633DB5-C65C-4059-B003-0E50008887B8}"/>
              </a:ext>
            </a:extLst>
          </p:cNvPr>
          <p:cNvSpPr/>
          <p:nvPr/>
        </p:nvSpPr>
        <p:spPr>
          <a:xfrm>
            <a:off x="8661400" y="2349500"/>
            <a:ext cx="787400" cy="7874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4EB94AA-B477-4EB7-80EA-0FFDC267A000}"/>
              </a:ext>
            </a:extLst>
          </p:cNvPr>
          <p:cNvSpPr/>
          <p:nvPr/>
        </p:nvSpPr>
        <p:spPr>
          <a:xfrm>
            <a:off x="84328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승인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A5827C6-2784-4CFA-8771-2B9EA999825D}"/>
              </a:ext>
            </a:extLst>
          </p:cNvPr>
          <p:cNvCxnSpPr/>
          <p:nvPr/>
        </p:nvCxnSpPr>
        <p:spPr>
          <a:xfrm>
            <a:off x="9499600" y="2743200"/>
            <a:ext cx="660400" cy="0"/>
          </a:xfrm>
          <a:prstGeom prst="line">
            <a:avLst/>
          </a:prstGeom>
          <a:ln w="2540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타원 23">
            <a:extLst>
              <a:ext uri="{FF2B5EF4-FFF2-40B4-BE49-F238E27FC236}">
                <a16:creationId xmlns:a16="http://schemas.microsoft.com/office/drawing/2014/main" id="{A00C5278-CDB1-4A3F-AB4C-98646557B739}"/>
              </a:ext>
            </a:extLst>
          </p:cNvPr>
          <p:cNvSpPr/>
          <p:nvPr/>
        </p:nvSpPr>
        <p:spPr>
          <a:xfrm>
            <a:off x="10287000" y="2349500"/>
            <a:ext cx="787400" cy="787400"/>
          </a:xfrm>
          <a:prstGeom prst="ellipse">
            <a:avLst/>
          </a:prstGeom>
          <a:solidFill>
            <a:srgbClr val="1235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endParaRPr lang="ko-KR" altLang="en-US" sz="12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2D1D2B3-2995-411E-9FF1-D8C24A7FCB6E}"/>
              </a:ext>
            </a:extLst>
          </p:cNvPr>
          <p:cNvSpPr/>
          <p:nvPr/>
        </p:nvSpPr>
        <p:spPr>
          <a:xfrm>
            <a:off x="10058400" y="3276600"/>
            <a:ext cx="1244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증적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BB3C869-2CE4-4E13-AD09-2008FB41FBF7}"/>
              </a:ext>
            </a:extLst>
          </p:cNvPr>
          <p:cNvSpPr/>
          <p:nvPr/>
        </p:nvSpPr>
        <p:spPr>
          <a:xfrm>
            <a:off x="1168400" y="4254500"/>
            <a:ext cx="9855200" cy="1397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8868DF9B-BE17-4D68-9793-3B4689CB62BA}"/>
              </a:ext>
            </a:extLst>
          </p:cNvPr>
          <p:cNvSpPr/>
          <p:nvPr/>
        </p:nvSpPr>
        <p:spPr>
          <a:xfrm>
            <a:off x="1473200" y="4508500"/>
            <a:ext cx="13208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 b="1">
                <a:solidFill>
                  <a:srgbClr val="DF4C4C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보완 루프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5C6747-0F06-48F9-8470-A681C8791F4A}"/>
              </a:ext>
            </a:extLst>
          </p:cNvPr>
          <p:cNvSpPr/>
          <p:nvPr/>
        </p:nvSpPr>
        <p:spPr>
          <a:xfrm>
            <a:off x="2921000" y="4508500"/>
            <a:ext cx="3556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REVIEW_REQUIRED · ERROR · REJECTED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CC5AB09-C64C-48FD-B3F0-D3867BCA4907}"/>
              </a:ext>
            </a:extLst>
          </p:cNvPr>
          <p:cNvSpPr/>
          <p:nvPr/>
        </p:nvSpPr>
        <p:spPr>
          <a:xfrm>
            <a:off x="1473200" y="4953000"/>
            <a:ext cx="8890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실패를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덮지 않고 원본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연결된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RETEST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 같은 조건으로 재검증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7CE6CE84-F529-47CD-A856-A024A8DD1425}"/>
              </a:ext>
            </a:extLst>
          </p:cNvPr>
          <p:cNvCxnSpPr/>
          <p:nvPr/>
        </p:nvCxnSpPr>
        <p:spPr>
          <a:xfrm flipH="1">
            <a:off x="3632200" y="4216400"/>
            <a:ext cx="5003800" cy="0"/>
          </a:xfrm>
          <a:prstGeom prst="line">
            <a:avLst/>
          </a:prstGeom>
          <a:ln w="25400" cap="flat" cmpd="sng" algn="ctr">
            <a:solidFill>
              <a:srgbClr val="DF4C4C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70B8484B-8BB7-4A8C-A04B-4228497DABC2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47FFD91-FDA8-42AC-B97C-721DFE5D9851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900B6F8-F9D0-44D8-94A1-C5A71D4F4C1B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57527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A5AEB02-A39B-4BA2-8821-1C81CEB4B6D3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75755E6-CC4F-4039-A842-41A19AD62690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기반 결과관리 아키텍처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69A580E-6845-455D-B98F-195A5E463E95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28FB72-726E-42E9-9139-BC032C4CD907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Streamlit UI, gRPC Agent,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평가와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증적을 하나의 감사 체인으로 연결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98F8039-F13D-47A8-B0BF-F55FFE41F447}"/>
              </a:ext>
            </a:extLst>
          </p:cNvPr>
          <p:cNvSpPr/>
          <p:nvPr/>
        </p:nvSpPr>
        <p:spPr>
          <a:xfrm>
            <a:off x="558800" y="1714500"/>
            <a:ext cx="13716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EXPERIENCE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FD635A5E-FB5F-4CF1-AFB5-FB5F8DFE564B}"/>
              </a:ext>
            </a:extLst>
          </p:cNvPr>
          <p:cNvSpPr/>
          <p:nvPr/>
        </p:nvSpPr>
        <p:spPr>
          <a:xfrm>
            <a:off x="1930400" y="1714500"/>
            <a:ext cx="9702800" cy="76200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5648D8-5514-49F6-A543-F54B795BB1B5}"/>
              </a:ext>
            </a:extLst>
          </p:cNvPr>
          <p:cNvSpPr/>
          <p:nvPr/>
        </p:nvSpPr>
        <p:spPr>
          <a:xfrm>
            <a:off x="558800" y="3238500"/>
            <a:ext cx="13716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 QUALITY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74F65F4-63D7-4DF3-91A2-99B2EEB5199F}"/>
              </a:ext>
            </a:extLst>
          </p:cNvPr>
          <p:cNvSpPr/>
          <p:nvPr/>
        </p:nvSpPr>
        <p:spPr>
          <a:xfrm>
            <a:off x="1930400" y="3238500"/>
            <a:ext cx="9702800" cy="76200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D2EB85-FB67-4F67-9744-B6508A21400E}"/>
              </a:ext>
            </a:extLst>
          </p:cNvPr>
          <p:cNvSpPr/>
          <p:nvPr/>
        </p:nvSpPr>
        <p:spPr>
          <a:xfrm>
            <a:off x="558800" y="4889500"/>
            <a:ext cx="13716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EVIDENCE &amp; AUDIT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088FBC2E-C19F-4E72-87DA-C7EC0D78FFFE}"/>
              </a:ext>
            </a:extLst>
          </p:cNvPr>
          <p:cNvSpPr/>
          <p:nvPr/>
        </p:nvSpPr>
        <p:spPr>
          <a:xfrm>
            <a:off x="1930400" y="4889500"/>
            <a:ext cx="9702800" cy="76200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C09F410-3D49-49EA-A467-F2A8DD3D7ED1}"/>
              </a:ext>
            </a:extLst>
          </p:cNvPr>
          <p:cNvSpPr/>
          <p:nvPr/>
        </p:nvSpPr>
        <p:spPr>
          <a:xfrm>
            <a:off x="2286000" y="1854200"/>
            <a:ext cx="1905000" cy="5080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Streamlit
Dashboard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D53A8CA-7C78-4E5A-9484-8667A424F5D3}"/>
              </a:ext>
            </a:extLst>
          </p:cNvPr>
          <p:cNvSpPr/>
          <p:nvPr/>
        </p:nvSpPr>
        <p:spPr>
          <a:xfrm>
            <a:off x="4635500" y="1854200"/>
            <a:ext cx="1905000" cy="508000"/>
          </a:xfrm>
          <a:prstGeom prst="roundRect">
            <a:avLst/>
          </a:prstGeom>
          <a:solidFill>
            <a:srgbClr val="24B6D2"/>
          </a:solidFill>
          <a:ln w="12700">
            <a:solidFill>
              <a:srgbClr val="24B6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FastAPI
qa-observer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AADF6FB-19E1-45AF-BE19-1BDFB225863D}"/>
              </a:ext>
            </a:extLst>
          </p:cNvPr>
          <p:cNvSpPr/>
          <p:nvPr/>
        </p:nvSpPr>
        <p:spPr>
          <a:xfrm>
            <a:off x="6985000" y="1854200"/>
            <a:ext cx="1905000" cy="508000"/>
          </a:xfrm>
          <a:prstGeom prst="roundRect">
            <a:avLst/>
          </a:prstGeom>
          <a:solidFill>
            <a:srgbClr val="7C5CE7"/>
          </a:solidFill>
          <a:ln w="12700">
            <a:solidFill>
              <a:srgbClr val="7C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 · GitHub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36E2559-471A-4D0B-956F-C5ECEC6E5CAE}"/>
              </a:ext>
            </a:extLst>
          </p:cNvPr>
          <p:cNvSpPr/>
          <p:nvPr/>
        </p:nvSpPr>
        <p:spPr>
          <a:xfrm>
            <a:off x="9334500" y="1854200"/>
            <a:ext cx="1905000" cy="508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Session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DBBB09C-DD4F-4FD7-9E1E-17AEE7C9775F}"/>
              </a:ext>
            </a:extLst>
          </p:cNvPr>
          <p:cNvSpPr/>
          <p:nvPr/>
        </p:nvSpPr>
        <p:spPr>
          <a:xfrm>
            <a:off x="2286000" y="3378200"/>
            <a:ext cx="1905000" cy="635000"/>
          </a:xfrm>
          <a:prstGeom prst="roundRect">
            <a:avLst/>
          </a:prstGeom>
          <a:solidFill>
            <a:srgbClr val="12355B"/>
          </a:solidFill>
          <a:ln w="12700">
            <a:solidFill>
              <a:srgbClr val="12355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gRPC Orchestrator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3DBFA58-86B4-4846-9FFE-7CE2418720D4}"/>
              </a:ext>
            </a:extLst>
          </p:cNvPr>
          <p:cNvSpPr/>
          <p:nvPr/>
        </p:nvSpPr>
        <p:spPr>
          <a:xfrm>
            <a:off x="4635500" y="3378200"/>
            <a:ext cx="1905000" cy="6350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 Agent Pipeline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48EBE13-35D2-4E2A-AEAB-3529DDF0FD06}"/>
              </a:ext>
            </a:extLst>
          </p:cNvPr>
          <p:cNvSpPr/>
          <p:nvPr/>
        </p:nvSpPr>
        <p:spPr>
          <a:xfrm>
            <a:off x="6985000" y="3378200"/>
            <a:ext cx="1905000" cy="635000"/>
          </a:xfrm>
          <a:prstGeom prst="roundRect">
            <a:avLst/>
          </a:prstGeom>
          <a:solidFill>
            <a:srgbClr val="7C5CE7"/>
          </a:solidFill>
          <a:ln w="12700">
            <a:solidFill>
              <a:srgbClr val="7C5CE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Independent Judge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8AA9CB6-A569-4241-AB70-28783FB7BF59}"/>
              </a:ext>
            </a:extLst>
          </p:cNvPr>
          <p:cNvSpPr/>
          <p:nvPr/>
        </p:nvSpPr>
        <p:spPr>
          <a:xfrm>
            <a:off x="9334500" y="3378200"/>
            <a:ext cx="1905000" cy="635000"/>
          </a:xfrm>
          <a:prstGeom prst="roundRect">
            <a:avLst/>
          </a:prstGeom>
          <a:solidFill>
            <a:srgbClr val="2EC4A6"/>
          </a:solidFill>
          <a:ln w="12700">
            <a:solidFill>
              <a:srgbClr val="2EC4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Validity + Approval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84795B8-084D-4E38-A0A1-A1D890DCC9C0}"/>
              </a:ext>
            </a:extLst>
          </p:cNvPr>
          <p:cNvSpPr/>
          <p:nvPr/>
        </p:nvSpPr>
        <p:spPr>
          <a:xfrm>
            <a:off x="2286000" y="5029200"/>
            <a:ext cx="2286000" cy="609600"/>
          </a:xfrm>
          <a:prstGeom prst="roundRect">
            <a:avLst/>
          </a:prstGeom>
          <a:solidFill>
            <a:srgbClr val="1769E0"/>
          </a:solidFill>
          <a:ln w="12700">
            <a:solidFill>
              <a:srgbClr val="1769E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· Case · Trace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15C9B0D-ECA1-4B67-939A-47184B53A0B3}"/>
              </a:ext>
            </a:extLst>
          </p:cNvPr>
          <p:cNvSpPr/>
          <p:nvPr/>
        </p:nvSpPr>
        <p:spPr>
          <a:xfrm>
            <a:off x="4953000" y="5029200"/>
            <a:ext cx="1905000" cy="609600"/>
          </a:xfrm>
          <a:prstGeom prst="roundRect">
            <a:avLst/>
          </a:prstGeom>
          <a:solidFill>
            <a:srgbClr val="24B6D2"/>
          </a:solidFill>
          <a:ln w="12700">
            <a:solidFill>
              <a:srgbClr val="24B6D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 · Hash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7EABACC-A488-4110-9B9C-ECD148743E05}"/>
              </a:ext>
            </a:extLst>
          </p:cNvPr>
          <p:cNvSpPr/>
          <p:nvPr/>
        </p:nvSpPr>
        <p:spPr>
          <a:xfrm>
            <a:off x="7239000" y="5029200"/>
            <a:ext cx="1905000" cy="6096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Audit Manifest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5990CD6-62CE-470F-8F08-DAFDAB92A291}"/>
              </a:ext>
            </a:extLst>
          </p:cNvPr>
          <p:cNvSpPr/>
          <p:nvPr/>
        </p:nvSpPr>
        <p:spPr>
          <a:xfrm>
            <a:off x="9525000" y="5029200"/>
            <a:ext cx="1905000" cy="609600"/>
          </a:xfrm>
          <a:prstGeom prst="roundRect">
            <a:avLst/>
          </a:prstGeom>
          <a:solidFill>
            <a:srgbClr val="16A36A"/>
          </a:solidFill>
          <a:ln w="12700">
            <a:solidFill>
              <a:srgbClr val="16A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50800" rtlCol="0" anchor="ctr">
            <a:noAutofit/>
          </a:bodyPr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 Evidence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7A4F0D8-F3E1-4893-8E07-03623FD03C3E}"/>
              </a:ext>
            </a:extLst>
          </p:cNvPr>
          <p:cNvCxnSpPr/>
          <p:nvPr/>
        </p:nvCxnSpPr>
        <p:spPr>
          <a:xfrm>
            <a:off x="4191000" y="21082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225857CF-5388-410D-A2A5-F4D2867A6175}"/>
              </a:ext>
            </a:extLst>
          </p:cNvPr>
          <p:cNvCxnSpPr/>
          <p:nvPr/>
        </p:nvCxnSpPr>
        <p:spPr>
          <a:xfrm>
            <a:off x="6540500" y="21082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DE5E2A9-E159-4554-AA82-7563937780AF}"/>
              </a:ext>
            </a:extLst>
          </p:cNvPr>
          <p:cNvCxnSpPr/>
          <p:nvPr/>
        </p:nvCxnSpPr>
        <p:spPr>
          <a:xfrm>
            <a:off x="8890000" y="21082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97D0EC25-9D09-4078-A53D-5F253E0E1184}"/>
              </a:ext>
            </a:extLst>
          </p:cNvPr>
          <p:cNvCxnSpPr/>
          <p:nvPr/>
        </p:nvCxnSpPr>
        <p:spPr>
          <a:xfrm>
            <a:off x="4191000" y="36957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EB8B1DA5-ACB0-43CD-8A53-64531264CF53}"/>
              </a:ext>
            </a:extLst>
          </p:cNvPr>
          <p:cNvCxnSpPr/>
          <p:nvPr/>
        </p:nvCxnSpPr>
        <p:spPr>
          <a:xfrm>
            <a:off x="6540500" y="36957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9B1F15D-373C-49C0-B3DE-6FE707BA3FA0}"/>
              </a:ext>
            </a:extLst>
          </p:cNvPr>
          <p:cNvCxnSpPr/>
          <p:nvPr/>
        </p:nvCxnSpPr>
        <p:spPr>
          <a:xfrm>
            <a:off x="8890000" y="3695700"/>
            <a:ext cx="4445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8612639-46F3-4237-BE78-7834E5A5E7F7}"/>
              </a:ext>
            </a:extLst>
          </p:cNvPr>
          <p:cNvCxnSpPr/>
          <p:nvPr/>
        </p:nvCxnSpPr>
        <p:spPr>
          <a:xfrm>
            <a:off x="4572000" y="5334000"/>
            <a:ext cx="3810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3DEC42F2-C6E5-43C0-8A25-ED6D5873ED36}"/>
              </a:ext>
            </a:extLst>
          </p:cNvPr>
          <p:cNvCxnSpPr/>
          <p:nvPr/>
        </p:nvCxnSpPr>
        <p:spPr>
          <a:xfrm>
            <a:off x="6858000" y="5334000"/>
            <a:ext cx="3810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3EED8755-DF09-4F8A-A495-9D545873A695}"/>
              </a:ext>
            </a:extLst>
          </p:cNvPr>
          <p:cNvCxnSpPr/>
          <p:nvPr/>
        </p:nvCxnSpPr>
        <p:spPr>
          <a:xfrm>
            <a:off x="9144000" y="5334000"/>
            <a:ext cx="3810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5184F44C-0603-477A-BA84-E98C5454CCFB}"/>
              </a:ext>
            </a:extLst>
          </p:cNvPr>
          <p:cNvCxnSpPr/>
          <p:nvPr/>
        </p:nvCxnSpPr>
        <p:spPr>
          <a:xfrm>
            <a:off x="32385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FAC1422-9DD1-4468-93F0-BD109DC2A7BE}"/>
              </a:ext>
            </a:extLst>
          </p:cNvPr>
          <p:cNvCxnSpPr/>
          <p:nvPr/>
        </p:nvCxnSpPr>
        <p:spPr>
          <a:xfrm>
            <a:off x="55880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E30308DD-6FD7-4C29-91DC-63858554B358}"/>
              </a:ext>
            </a:extLst>
          </p:cNvPr>
          <p:cNvCxnSpPr/>
          <p:nvPr/>
        </p:nvCxnSpPr>
        <p:spPr>
          <a:xfrm>
            <a:off x="79375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F02F1241-EAD0-4F00-91BE-A8489B263D0E}"/>
              </a:ext>
            </a:extLst>
          </p:cNvPr>
          <p:cNvCxnSpPr/>
          <p:nvPr/>
        </p:nvCxnSpPr>
        <p:spPr>
          <a:xfrm>
            <a:off x="10287000" y="24130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618E2675-CB1A-4827-A30B-ABE7F0977B36}"/>
              </a:ext>
            </a:extLst>
          </p:cNvPr>
          <p:cNvCxnSpPr/>
          <p:nvPr/>
        </p:nvCxnSpPr>
        <p:spPr>
          <a:xfrm>
            <a:off x="32385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2541E565-EFC9-4653-A7F1-8CA9C660234C}"/>
              </a:ext>
            </a:extLst>
          </p:cNvPr>
          <p:cNvCxnSpPr/>
          <p:nvPr/>
        </p:nvCxnSpPr>
        <p:spPr>
          <a:xfrm>
            <a:off x="55880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9BC077A3-C534-4CE8-A376-FED9A1787CF0}"/>
              </a:ext>
            </a:extLst>
          </p:cNvPr>
          <p:cNvCxnSpPr/>
          <p:nvPr/>
        </p:nvCxnSpPr>
        <p:spPr>
          <a:xfrm>
            <a:off x="79375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C89C93EC-5197-4F40-90DB-48322772F56D}"/>
              </a:ext>
            </a:extLst>
          </p:cNvPr>
          <p:cNvCxnSpPr/>
          <p:nvPr/>
        </p:nvCxnSpPr>
        <p:spPr>
          <a:xfrm>
            <a:off x="10287000" y="4051300"/>
            <a:ext cx="0" cy="863600"/>
          </a:xfrm>
          <a:prstGeom prst="line">
            <a:avLst/>
          </a:prstGeom>
          <a:ln w="1778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B17FAE89-1406-4B9C-9DF8-EA8CEF8406BC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7ACE4D7-CDC0-42C6-BCFB-5102E37F3510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D735E90-D391-4574-A6F8-E4D9A19656B9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435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0C9CF5E-FBD3-4551-8BB5-8844F437FC08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2B1FCA8-5357-494C-A443-12A876E4FFDC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책임과 실패 지점을 분리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2C62E50-9C86-444F-9DB7-F1AFA60B1D11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4151C931-FF44-43BA-9A04-B04A9E7863DD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수보다 중요한 것은 역할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상태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·Trace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독립적으로 확인할 수 있다는 점입니다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B8145F7-065B-42F3-ABF1-9D6FAB67E6DC}"/>
              </a:ext>
            </a:extLst>
          </p:cNvPr>
          <p:cNvSpPr/>
          <p:nvPr/>
        </p:nvSpPr>
        <p:spPr>
          <a:xfrm>
            <a:off x="584200" y="1676400"/>
            <a:ext cx="68580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A2BC9BD-CDF8-47DF-AB18-46F9005001D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841500"/>
            <a:ext cx="6502400" cy="4013200"/>
          </a:xfrm>
          <a:prstGeom prst="rect">
            <a:avLst/>
          </a:prstGeom>
          <a:ln>
            <a:solidFill>
              <a:srgbClr val="D7E1EE"/>
            </a:solidFill>
          </a:ln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AD1DDF3D-49D8-49DA-8C14-B76B460366BA}"/>
              </a:ext>
            </a:extLst>
          </p:cNvPr>
          <p:cNvSpPr/>
          <p:nvPr/>
        </p:nvSpPr>
        <p:spPr>
          <a:xfrm>
            <a:off x="7874000" y="1676400"/>
            <a:ext cx="406400" cy="4064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43E4080-7845-4336-830E-61CD6B429FBB}"/>
              </a:ext>
            </a:extLst>
          </p:cNvPr>
          <p:cNvSpPr/>
          <p:nvPr/>
        </p:nvSpPr>
        <p:spPr>
          <a:xfrm>
            <a:off x="8445500" y="16256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Interpreter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199C392-49AF-4DBF-916B-CC4086CDB171}"/>
              </a:ext>
            </a:extLst>
          </p:cNvPr>
          <p:cNvSpPr/>
          <p:nvPr/>
        </p:nvSpPr>
        <p:spPr>
          <a:xfrm>
            <a:off x="8445500" y="19177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의도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조건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3B804C5F-E79F-4AFC-A13E-98E4F9DEA9BB}"/>
              </a:ext>
            </a:extLst>
          </p:cNvPr>
          <p:cNvSpPr/>
          <p:nvPr/>
        </p:nvSpPr>
        <p:spPr>
          <a:xfrm>
            <a:off x="7874000" y="2451100"/>
            <a:ext cx="406400" cy="4064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3E11BCB-3B77-4E47-84C8-557E09260A10}"/>
              </a:ext>
            </a:extLst>
          </p:cNvPr>
          <p:cNvSpPr/>
          <p:nvPr/>
        </p:nvSpPr>
        <p:spPr>
          <a:xfrm>
            <a:off x="8445500" y="24003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Retriever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CE4B02-2C5D-4B1C-BFDA-F5191A0683AB}"/>
              </a:ext>
            </a:extLst>
          </p:cNvPr>
          <p:cNvSpPr/>
          <p:nvPr/>
        </p:nvSpPr>
        <p:spPr>
          <a:xfrm>
            <a:off x="8445500" y="26924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원문 근거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495A31C-F94F-48BE-91D6-F1AA23E4AA6E}"/>
              </a:ext>
            </a:extLst>
          </p:cNvPr>
          <p:cNvSpPr/>
          <p:nvPr/>
        </p:nvSpPr>
        <p:spPr>
          <a:xfrm>
            <a:off x="7874000" y="3225800"/>
            <a:ext cx="406400" cy="406400"/>
          </a:xfrm>
          <a:prstGeom prst="ellipse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A9274F-E755-4AD7-A081-13EF8B70D95F}"/>
              </a:ext>
            </a:extLst>
          </p:cNvPr>
          <p:cNvSpPr/>
          <p:nvPr/>
        </p:nvSpPr>
        <p:spPr>
          <a:xfrm>
            <a:off x="8445500" y="31750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Summarizer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B4ABA41-5135-4A10-8331-4D95C484D431}"/>
              </a:ext>
            </a:extLst>
          </p:cNvPr>
          <p:cNvSpPr/>
          <p:nvPr/>
        </p:nvSpPr>
        <p:spPr>
          <a:xfrm>
            <a:off x="8445500" y="34671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요약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흐름 제어</a:t>
            </a: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59E91C02-59DA-497F-BA7B-E9645C9C5B0D}"/>
              </a:ext>
            </a:extLst>
          </p:cNvPr>
          <p:cNvSpPr/>
          <p:nvPr/>
        </p:nvSpPr>
        <p:spPr>
          <a:xfrm>
            <a:off x="7874000" y="4000500"/>
            <a:ext cx="406400" cy="4064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7867197-8796-4CDF-8162-B548F51D9C33}"/>
              </a:ext>
            </a:extLst>
          </p:cNvPr>
          <p:cNvSpPr/>
          <p:nvPr/>
        </p:nvSpPr>
        <p:spPr>
          <a:xfrm>
            <a:off x="8445500" y="39497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Evaluator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B79F673-AD2F-46C7-9DA6-9486F0473A52}"/>
              </a:ext>
            </a:extLst>
          </p:cNvPr>
          <p:cNvSpPr/>
          <p:nvPr/>
        </p:nvSpPr>
        <p:spPr>
          <a:xfrm>
            <a:off x="8445500" y="42418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상대평가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AF9B7243-8312-4960-B39B-A2648FC527AA}"/>
              </a:ext>
            </a:extLst>
          </p:cNvPr>
          <p:cNvSpPr/>
          <p:nvPr/>
        </p:nvSpPr>
        <p:spPr>
          <a:xfrm>
            <a:off x="7874000" y="4775200"/>
            <a:ext cx="406400" cy="4064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D83A655-F26E-499E-9DAA-A416FB499FEF}"/>
              </a:ext>
            </a:extLst>
          </p:cNvPr>
          <p:cNvSpPr/>
          <p:nvPr/>
        </p:nvSpPr>
        <p:spPr>
          <a:xfrm>
            <a:off x="8445500" y="47244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Critic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E830826-C9B9-4114-9C84-099A4CBB6AEC}"/>
              </a:ext>
            </a:extLst>
          </p:cNvPr>
          <p:cNvSpPr/>
          <p:nvPr/>
        </p:nvSpPr>
        <p:spPr>
          <a:xfrm>
            <a:off x="8445500" y="50165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누락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탐지</a:t>
            </a: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B7F01AD4-8215-4F8C-8D39-80AA071AAECB}"/>
              </a:ext>
            </a:extLst>
          </p:cNvPr>
          <p:cNvSpPr/>
          <p:nvPr/>
        </p:nvSpPr>
        <p:spPr>
          <a:xfrm>
            <a:off x="7874000" y="5549900"/>
            <a:ext cx="406400" cy="4064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9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CE44015-A645-4552-9543-CFB3865A43B2}"/>
              </a:ext>
            </a:extLst>
          </p:cNvPr>
          <p:cNvSpPr/>
          <p:nvPr/>
        </p:nvSpPr>
        <p:spPr>
          <a:xfrm>
            <a:off x="8445500" y="5499100"/>
            <a:ext cx="1524000" cy="2667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Improver</a:t>
            </a:r>
            <a:endParaRPr lang="ko-KR" altLang="en-US" sz="1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3C6EB69-3F06-41C8-86F8-96F5D67FCEF6}"/>
              </a:ext>
            </a:extLst>
          </p:cNvPr>
          <p:cNvSpPr/>
          <p:nvPr/>
        </p:nvSpPr>
        <p:spPr>
          <a:xfrm>
            <a:off x="8445500" y="5791200"/>
            <a:ext cx="2540000" cy="2413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개선안 생성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CED2C601-4E4D-4C14-ADD7-34A2C3108C4E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8C04E8F-7BF0-405A-8E33-0C4EF7997548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9FADB8-5EBF-4337-88E2-8BE6A3E01E15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5098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A78058A-7B47-4FB6-B50D-F3E62F06E7CF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235F4C5-6696-45AE-B106-A6369E747425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LLM Judge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자기평가 편향 보완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D9024F-B715-4979-A2A3-616323A40025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0AE6599-FB3B-4BB6-AF4D-2B8EC3026CE0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 평가와 최종 평가의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·Rubric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을 분리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051B765-DEEA-4D66-B02E-AD2BD158ACD7}"/>
              </a:ext>
            </a:extLst>
          </p:cNvPr>
          <p:cNvSpPr/>
          <p:nvPr/>
        </p:nvSpPr>
        <p:spPr>
          <a:xfrm>
            <a:off x="609600" y="1803400"/>
            <a:ext cx="4597400" cy="36322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93CA05B-07DB-4E7E-AD6E-2EE94B887510}"/>
              </a:ext>
            </a:extLst>
          </p:cNvPr>
          <p:cNvSpPr/>
          <p:nvPr/>
        </p:nvSpPr>
        <p:spPr>
          <a:xfrm>
            <a:off x="914400" y="2082800"/>
            <a:ext cx="1778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 </a:t>
            </a:r>
            <a:r>
              <a:rPr lang="ko-KR" altLang="en-US" sz="9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내부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09D3B2-98DA-4531-83B5-7C4FE3EEF466}"/>
              </a:ext>
            </a:extLst>
          </p:cNvPr>
          <p:cNvSpPr/>
          <p:nvPr/>
        </p:nvSpPr>
        <p:spPr>
          <a:xfrm>
            <a:off x="1117600" y="2743200"/>
            <a:ext cx="889000" cy="8890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15C6DF7-D994-4626-908D-88E7C79261D4}"/>
              </a:ext>
            </a:extLst>
          </p:cNvPr>
          <p:cNvSpPr/>
          <p:nvPr/>
        </p:nvSpPr>
        <p:spPr>
          <a:xfrm>
            <a:off x="2235200" y="2743200"/>
            <a:ext cx="2032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Evaluator</a:t>
            </a:r>
            <a:endParaRPr lang="ko-KR" altLang="en-US" sz="17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63B65C8-8D10-4EAE-8342-EE110BE235CC}"/>
              </a:ext>
            </a:extLst>
          </p:cNvPr>
          <p:cNvSpPr/>
          <p:nvPr/>
        </p:nvSpPr>
        <p:spPr>
          <a:xfrm>
            <a:off x="2235200" y="3136900"/>
            <a:ext cx="2032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후보 간 상대평가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94A749D3-1D4E-43C0-A8F5-76C2EABA5C87}"/>
              </a:ext>
            </a:extLst>
          </p:cNvPr>
          <p:cNvSpPr/>
          <p:nvPr/>
        </p:nvSpPr>
        <p:spPr>
          <a:xfrm>
            <a:off x="1117600" y="3937000"/>
            <a:ext cx="889000" cy="889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23671C9-0AC7-4686-B995-BCE8B0BAE2AC}"/>
              </a:ext>
            </a:extLst>
          </p:cNvPr>
          <p:cNvSpPr/>
          <p:nvPr/>
        </p:nvSpPr>
        <p:spPr>
          <a:xfrm>
            <a:off x="2235200" y="3937000"/>
            <a:ext cx="2032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7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Critic</a:t>
            </a:r>
            <a:endParaRPr lang="ko-KR" altLang="en-US" sz="17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DD1C92-D3B1-41FE-9D40-18572B1CBC4C}"/>
              </a:ext>
            </a:extLst>
          </p:cNvPr>
          <p:cNvSpPr/>
          <p:nvPr/>
        </p:nvSpPr>
        <p:spPr>
          <a:xfrm>
            <a:off x="2235200" y="4330700"/>
            <a:ext cx="2159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누락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모순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검토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B4AF9E7-B65C-4934-9D51-D049B2624504}"/>
              </a:ext>
            </a:extLst>
          </p:cNvPr>
          <p:cNvCxnSpPr/>
          <p:nvPr/>
        </p:nvCxnSpPr>
        <p:spPr>
          <a:xfrm>
            <a:off x="5461000" y="3619500"/>
            <a:ext cx="952500" cy="0"/>
          </a:xfrm>
          <a:prstGeom prst="line">
            <a:avLst/>
          </a:prstGeom>
          <a:ln w="38100" cap="flat" cmpd="sng" algn="ctr">
            <a:solidFill>
              <a:srgbClr val="7C5CE7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4FFD1C1-D27B-4435-90C0-AB1CC38534C3}"/>
              </a:ext>
            </a:extLst>
          </p:cNvPr>
          <p:cNvSpPr/>
          <p:nvPr/>
        </p:nvSpPr>
        <p:spPr>
          <a:xfrm>
            <a:off x="5486400" y="3149600"/>
            <a:ext cx="889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9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 평가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52B1AB6-837D-4D93-908B-838DD9595139}"/>
              </a:ext>
            </a:extLst>
          </p:cNvPr>
          <p:cNvSpPr/>
          <p:nvPr/>
        </p:nvSpPr>
        <p:spPr>
          <a:xfrm>
            <a:off x="6680200" y="1803400"/>
            <a:ext cx="4902200" cy="3632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5CE7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4C59A5F-D795-4C5F-AF0D-6B660449D7F8}"/>
              </a:ext>
            </a:extLst>
          </p:cNvPr>
          <p:cNvSpPr/>
          <p:nvPr/>
        </p:nvSpPr>
        <p:spPr>
          <a:xfrm>
            <a:off x="6680200" y="1803400"/>
            <a:ext cx="76200" cy="36322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7E5CEEC-DBC1-40D5-B08D-981B01EAFF60}"/>
              </a:ext>
            </a:extLst>
          </p:cNvPr>
          <p:cNvSpPr/>
          <p:nvPr/>
        </p:nvSpPr>
        <p:spPr>
          <a:xfrm>
            <a:off x="7035800" y="20828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INDEPENDENT JUDGE</a:t>
            </a:r>
            <a:endParaRPr lang="ko-KR" altLang="en-US" sz="900" b="1">
              <a:solidFill>
                <a:srgbClr val="7C5CE7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AA6C29F-95E3-423D-A1C3-70E316D8F359}"/>
              </a:ext>
            </a:extLst>
          </p:cNvPr>
          <p:cNvSpPr/>
          <p:nvPr/>
        </p:nvSpPr>
        <p:spPr>
          <a:xfrm>
            <a:off x="7035800" y="2603500"/>
            <a:ext cx="3683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별도 </a:t>
            </a:r>
            <a:r>
              <a:rPr lang="en-US" altLang="ko-KR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 · </a:t>
            </a:r>
            <a:r>
              <a:rPr lang="ko-KR" altLang="en-US" sz="19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7601DDB-BDB7-4EF0-8F1D-29401FFDA006}"/>
              </a:ext>
            </a:extLst>
          </p:cNvPr>
          <p:cNvSpPr/>
          <p:nvPr/>
        </p:nvSpPr>
        <p:spPr>
          <a:xfrm>
            <a:off x="7035800" y="3073400"/>
            <a:ext cx="3937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 ·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차원별 근거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 등급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49B597C-3959-4ECF-97CF-8ACFF5E3BF9B}"/>
              </a:ext>
            </a:extLst>
          </p:cNvPr>
          <p:cNvSpPr/>
          <p:nvPr/>
        </p:nvSpPr>
        <p:spPr>
          <a:xfrm>
            <a:off x="7035800" y="3708400"/>
            <a:ext cx="190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040AA6B-E767-48A0-B180-AB829D21908D}"/>
              </a:ext>
            </a:extLst>
          </p:cNvPr>
          <p:cNvSpPr/>
          <p:nvPr/>
        </p:nvSpPr>
        <p:spPr>
          <a:xfrm>
            <a:off x="7035800" y="3708400"/>
            <a:ext cx="76200" cy="14224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8FCE21D-C7E8-4AD1-B840-36E9CD40DD2A}"/>
              </a:ext>
            </a:extLst>
          </p:cNvPr>
          <p:cNvSpPr/>
          <p:nvPr/>
        </p:nvSpPr>
        <p:spPr>
          <a:xfrm>
            <a:off x="7289800" y="3911600"/>
            <a:ext cx="14732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시연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ADF6D1A-FD95-46E2-87F3-E61F70592CDD}"/>
              </a:ext>
            </a:extLst>
          </p:cNvPr>
          <p:cNvSpPr/>
          <p:nvPr/>
        </p:nvSpPr>
        <p:spPr>
          <a:xfrm>
            <a:off x="7289800" y="4216400"/>
            <a:ext cx="14732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232F590-2424-4685-9E67-1AAC99B64FC5}"/>
              </a:ext>
            </a:extLst>
          </p:cNvPr>
          <p:cNvSpPr/>
          <p:nvPr/>
        </p:nvSpPr>
        <p:spPr>
          <a:xfrm>
            <a:off x="7289800" y="4724400"/>
            <a:ext cx="14732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391E737-EFED-49BA-A8A5-BDFC0DAD5AF1}"/>
              </a:ext>
            </a:extLst>
          </p:cNvPr>
          <p:cNvSpPr/>
          <p:nvPr/>
        </p:nvSpPr>
        <p:spPr>
          <a:xfrm>
            <a:off x="9194800" y="3708400"/>
            <a:ext cx="19050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F02240A-6507-4B60-B2C0-28CC2F04F33C}"/>
              </a:ext>
            </a:extLst>
          </p:cNvPr>
          <p:cNvSpPr/>
          <p:nvPr/>
        </p:nvSpPr>
        <p:spPr>
          <a:xfrm>
            <a:off x="9194800" y="3708400"/>
            <a:ext cx="76200" cy="14224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3E7706C-5A43-488A-BE4E-4891EA3653C2}"/>
              </a:ext>
            </a:extLst>
          </p:cNvPr>
          <p:cNvSpPr/>
          <p:nvPr/>
        </p:nvSpPr>
        <p:spPr>
          <a:xfrm>
            <a:off x="9448800" y="3911600"/>
            <a:ext cx="14732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4E86FE5-0045-4D9F-B251-454533216D5A}"/>
              </a:ext>
            </a:extLst>
          </p:cNvPr>
          <p:cNvSpPr/>
          <p:nvPr/>
        </p:nvSpPr>
        <p:spPr>
          <a:xfrm>
            <a:off x="9448800" y="4216400"/>
            <a:ext cx="14732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2200" b="1">
              <a:solidFill>
                <a:srgbClr val="16A36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07A5378-331C-4E5E-8442-3B5E0D589338}"/>
              </a:ext>
            </a:extLst>
          </p:cNvPr>
          <p:cNvSpPr/>
          <p:nvPr/>
        </p:nvSpPr>
        <p:spPr>
          <a:xfrm>
            <a:off x="9448800" y="4724400"/>
            <a:ext cx="14732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 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분리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EDA7649-2EA6-4ECC-A9A5-11910F880F37}"/>
              </a:ext>
            </a:extLst>
          </p:cNvPr>
          <p:cNvSpPr/>
          <p:nvPr/>
        </p:nvSpPr>
        <p:spPr>
          <a:xfrm>
            <a:off x="2438400" y="5791200"/>
            <a:ext cx="7315200" cy="3810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EA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Autofit/>
          </a:bodyPr>
          <a:lstStyle/>
          <a:p>
            <a:pPr algn="ctr"/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계열 평가 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91</a:t>
            </a:r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·C → Provider </a:t>
            </a:r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분리 후 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  <a:r>
              <a:rPr lang="en-US" altLang="ko-KR" sz="1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·A</a:t>
            </a:r>
            <a:endParaRPr lang="ko-KR" altLang="en-US" sz="14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CCCA5D3E-A1FE-4C51-A673-31820375E8F3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4C61C9B-4625-4210-A4FD-B9AB9EFA0629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0DB364B-3FAC-4864-A830-5011AF63DF0E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33414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BABA347-F70A-4DD7-A6DE-513DF3BCA45E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A737D0B-38C4-4790-9E90-7278DBE4BEEE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핵심 차별점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개선안 타당성 평가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1953412-016F-4876-8B69-2FFFDF65991A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9C2884-24C4-4A0A-8CE2-B9EA4CB10FAA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답변 품질을 넘어 실제 실행 가능성과 운영 위험을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기준으로 검증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DF9F6DC-8C30-4B66-B8E9-F7C1D7127C83}"/>
              </a:ext>
            </a:extLst>
          </p:cNvPr>
          <p:cNvSpPr/>
          <p:nvPr/>
        </p:nvSpPr>
        <p:spPr>
          <a:xfrm>
            <a:off x="685800" y="18415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원인 ↔ 개선안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98516DAB-260F-48A9-943E-CE27F6881635}"/>
              </a:ext>
            </a:extLst>
          </p:cNvPr>
          <p:cNvSpPr/>
          <p:nvPr/>
        </p:nvSpPr>
        <p:spPr>
          <a:xfrm>
            <a:off x="2717800" y="18669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75724F1-9027-453B-A858-6EE8CE5C9F1D}"/>
              </a:ext>
            </a:extLst>
          </p:cNvPr>
          <p:cNvSpPr/>
          <p:nvPr/>
        </p:nvSpPr>
        <p:spPr>
          <a:xfrm>
            <a:off x="2717800" y="1866900"/>
            <a:ext cx="4023360" cy="203200"/>
          </a:xfrm>
          <a:prstGeom prst="round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34D494C-09CD-480C-B48C-A72E9999D9C7}"/>
              </a:ext>
            </a:extLst>
          </p:cNvPr>
          <p:cNvSpPr/>
          <p:nvPr/>
        </p:nvSpPr>
        <p:spPr>
          <a:xfrm>
            <a:off x="7467600" y="18161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11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368081-011B-482B-906B-24B036984870}"/>
              </a:ext>
            </a:extLst>
          </p:cNvPr>
          <p:cNvSpPr/>
          <p:nvPr/>
        </p:nvSpPr>
        <p:spPr>
          <a:xfrm>
            <a:off x="685800" y="24511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VOC · Trace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C82A95-2DC8-46D3-A963-5C19753E2171}"/>
              </a:ext>
            </a:extLst>
          </p:cNvPr>
          <p:cNvSpPr/>
          <p:nvPr/>
        </p:nvSpPr>
        <p:spPr>
          <a:xfrm>
            <a:off x="2717800" y="24765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09147513-DC6E-4DF6-8748-84857D4DBD5D}"/>
              </a:ext>
            </a:extLst>
          </p:cNvPr>
          <p:cNvSpPr/>
          <p:nvPr/>
        </p:nvSpPr>
        <p:spPr>
          <a:xfrm>
            <a:off x="2717800" y="2476500"/>
            <a:ext cx="4023360" cy="203200"/>
          </a:xfrm>
          <a:prstGeom prst="roundRect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E7E24F-80F0-411F-B763-265BB82FB763}"/>
              </a:ext>
            </a:extLst>
          </p:cNvPr>
          <p:cNvSpPr/>
          <p:nvPr/>
        </p:nvSpPr>
        <p:spPr>
          <a:xfrm>
            <a:off x="7467600" y="24257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24B6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r>
            <a:r>
              <a:rPr lang="ko-KR" altLang="en-US" sz="1100" b="1">
                <a:solidFill>
                  <a:srgbClr val="24B6D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85E16A7-9CFC-4707-A752-DFC182BB7DE4}"/>
              </a:ext>
            </a:extLst>
          </p:cNvPr>
          <p:cNvSpPr/>
          <p:nvPr/>
        </p:nvSpPr>
        <p:spPr>
          <a:xfrm>
            <a:off x="685800" y="30607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기술 실행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90D8CC2-CBAC-4E60-88D9-C83A77F8911B}"/>
              </a:ext>
            </a:extLst>
          </p:cNvPr>
          <p:cNvSpPr/>
          <p:nvPr/>
        </p:nvSpPr>
        <p:spPr>
          <a:xfrm>
            <a:off x="2717800" y="30861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CBFEFE8-60C0-48CC-A197-D33E7AFA3483}"/>
              </a:ext>
            </a:extLst>
          </p:cNvPr>
          <p:cNvSpPr/>
          <p:nvPr/>
        </p:nvSpPr>
        <p:spPr>
          <a:xfrm>
            <a:off x="2717800" y="3086100"/>
            <a:ext cx="3291840" cy="203200"/>
          </a:xfrm>
          <a:prstGeom prst="round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F816923-998F-4E06-A068-725048912576}"/>
              </a:ext>
            </a:extLst>
          </p:cNvPr>
          <p:cNvSpPr/>
          <p:nvPr/>
        </p:nvSpPr>
        <p:spPr>
          <a:xfrm>
            <a:off x="7467600" y="30353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18</a:t>
            </a:r>
            <a:r>
              <a:rPr lang="ko-KR" altLang="en-US" sz="11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56F968F-0EDA-48F2-B4E0-C3D321649432}"/>
              </a:ext>
            </a:extLst>
          </p:cNvPr>
          <p:cNvSpPr/>
          <p:nvPr/>
        </p:nvSpPr>
        <p:spPr>
          <a:xfrm>
            <a:off x="685800" y="36703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담당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일정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·KPI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1AFA1611-F0CD-47AF-84FA-01F9A9860312}"/>
              </a:ext>
            </a:extLst>
          </p:cNvPr>
          <p:cNvSpPr/>
          <p:nvPr/>
        </p:nvSpPr>
        <p:spPr>
          <a:xfrm>
            <a:off x="2717800" y="36957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32F31A3-2E96-437B-AF3E-55EE69D4C115}"/>
              </a:ext>
            </a:extLst>
          </p:cNvPr>
          <p:cNvSpPr/>
          <p:nvPr/>
        </p:nvSpPr>
        <p:spPr>
          <a:xfrm>
            <a:off x="2717800" y="3695700"/>
            <a:ext cx="2377440" cy="203200"/>
          </a:xfrm>
          <a:prstGeom prst="round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C5C97AE-79C2-4FA2-9A20-7B2DC0D0EE6E}"/>
              </a:ext>
            </a:extLst>
          </p:cNvPr>
          <p:cNvSpPr/>
          <p:nvPr/>
        </p:nvSpPr>
        <p:spPr>
          <a:xfrm>
            <a:off x="7467600" y="36449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</a:t>
            </a:r>
            <a:r>
              <a:rPr lang="ko-KR" altLang="en-US" sz="11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B6E249C-F7CA-4605-87CC-66E19DB5F858}"/>
              </a:ext>
            </a:extLst>
          </p:cNvPr>
          <p:cNvSpPr/>
          <p:nvPr/>
        </p:nvSpPr>
        <p:spPr>
          <a:xfrm>
            <a:off x="685800" y="4279900"/>
            <a:ext cx="1905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보안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42DA105A-7DA3-4FDB-B934-7F0E37C7E725}"/>
              </a:ext>
            </a:extLst>
          </p:cNvPr>
          <p:cNvSpPr/>
          <p:nvPr/>
        </p:nvSpPr>
        <p:spPr>
          <a:xfrm>
            <a:off x="2717800" y="4305300"/>
            <a:ext cx="4572000" cy="203200"/>
          </a:xfrm>
          <a:prstGeom prst="roundRect">
            <a:avLst/>
          </a:prstGeom>
          <a:solidFill>
            <a:srgbClr val="E6ECF4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03B627D-F6AA-47EA-931B-8BA756668544}"/>
              </a:ext>
            </a:extLst>
          </p:cNvPr>
          <p:cNvSpPr/>
          <p:nvPr/>
        </p:nvSpPr>
        <p:spPr>
          <a:xfrm>
            <a:off x="2717800" y="4305300"/>
            <a:ext cx="4572000" cy="203200"/>
          </a:xfrm>
          <a:prstGeom prst="round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CE10A745-6D29-4747-AE8E-F54A94F95911}"/>
              </a:ext>
            </a:extLst>
          </p:cNvPr>
          <p:cNvSpPr/>
          <p:nvPr/>
        </p:nvSpPr>
        <p:spPr>
          <a:xfrm>
            <a:off x="7467600" y="4254500"/>
            <a:ext cx="6858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r>
            <a:r>
              <a:rPr lang="ko-KR" altLang="en-US" sz="11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91A0C21B-445B-4108-82AD-A014E8E9D051}"/>
              </a:ext>
            </a:extLst>
          </p:cNvPr>
          <p:cNvSpPr/>
          <p:nvPr/>
        </p:nvSpPr>
        <p:spPr>
          <a:xfrm>
            <a:off x="8610600" y="1727200"/>
            <a:ext cx="2971800" cy="3175000"/>
          </a:xfrm>
          <a:prstGeom prst="roundRect">
            <a:avLst/>
          </a:prstGeom>
          <a:solidFill>
            <a:srgbClr val="0A2342"/>
          </a:solidFill>
          <a:ln w="12700">
            <a:solidFill>
              <a:srgbClr val="0A2342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2C9C202E-64F8-4071-A298-651243A238A7}"/>
              </a:ext>
            </a:extLst>
          </p:cNvPr>
          <p:cNvSpPr/>
          <p:nvPr/>
        </p:nvSpPr>
        <p:spPr>
          <a:xfrm>
            <a:off x="8890000" y="2006600"/>
            <a:ext cx="2413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800" b="1">
                <a:solidFill>
                  <a:srgbClr val="AFCBE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SERVER-SIDE DECISION</a:t>
            </a:r>
            <a:endParaRPr lang="ko-KR" altLang="en-US" sz="800" b="1">
              <a:solidFill>
                <a:srgbClr val="AFCBEB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DD7C3D5-3D6A-4C73-8D0B-4A016389C058}"/>
              </a:ext>
            </a:extLst>
          </p:cNvPr>
          <p:cNvSpPr/>
          <p:nvPr/>
        </p:nvSpPr>
        <p:spPr>
          <a:xfrm>
            <a:off x="8890000" y="2489200"/>
            <a:ext cx="24130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80</a:t>
            </a:r>
            <a:r>
              <a:rPr lang="ko-KR" altLang="en-US" sz="24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 이상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422314C-D1F5-462A-B4B7-D8EDAF7DA24F}"/>
              </a:ext>
            </a:extLst>
          </p:cNvPr>
          <p:cNvSpPr/>
          <p:nvPr/>
        </p:nvSpPr>
        <p:spPr>
          <a:xfrm>
            <a:off x="8991600" y="3022600"/>
            <a:ext cx="2209800" cy="711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모든 항목 하한 충족
</a:t>
            </a:r>
            <a:r>
              <a:rPr lang="en-US" altLang="ko-KR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+ </a:t>
            </a:r>
            <a:r>
              <a:rPr lang="ko-KR" altLang="en-US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즉시 보류 규칙 </a:t>
            </a:r>
            <a:r>
              <a:rPr lang="en-US" altLang="ko-KR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1200">
                <a:solidFill>
                  <a:srgbClr val="D6E5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E112128-420C-4759-AB05-8287999FE583}"/>
              </a:ext>
            </a:extLst>
          </p:cNvPr>
          <p:cNvSpPr/>
          <p:nvPr/>
        </p:nvSpPr>
        <p:spPr>
          <a:xfrm>
            <a:off x="9118600" y="4038600"/>
            <a:ext cx="1955800" cy="508000"/>
          </a:xfrm>
          <a:prstGeom prst="roundRect">
            <a:avLst/>
          </a:prstGeom>
          <a:solidFill>
            <a:srgbClr val="16A36A"/>
          </a:solidFill>
          <a:ln w="12700">
            <a:solidFill>
              <a:srgbClr val="16A3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altLang="ko-KR" sz="2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AI_PASS</a:t>
            </a:r>
            <a:endParaRPr lang="ko-KR" altLang="en-US" sz="2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708C6CD1-3FAD-4894-8D83-91C7DC7E9373}"/>
              </a:ext>
            </a:extLst>
          </p:cNvPr>
          <p:cNvSpPr/>
          <p:nvPr/>
        </p:nvSpPr>
        <p:spPr>
          <a:xfrm>
            <a:off x="685800" y="5257800"/>
            <a:ext cx="10896600" cy="914400"/>
          </a:xfrm>
          <a:prstGeom prst="roundRect">
            <a:avLst/>
          </a:prstGeom>
          <a:solidFill>
            <a:srgbClr val="FFF7E7"/>
          </a:solidFill>
          <a:ln w="12700">
            <a:solidFill>
              <a:srgbClr val="F8D89A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5E5EC39-FBD4-4101-ABC8-323B3820FBBD}"/>
              </a:ext>
            </a:extLst>
          </p:cNvPr>
          <p:cNvSpPr/>
          <p:nvPr/>
        </p:nvSpPr>
        <p:spPr>
          <a:xfrm>
            <a:off x="685800" y="5257800"/>
            <a:ext cx="76200" cy="9144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99E7D7-F7F3-4AA7-A8D1-890FF33D5FBD}"/>
              </a:ext>
            </a:extLst>
          </p:cNvPr>
          <p:cNvSpPr/>
          <p:nvPr/>
        </p:nvSpPr>
        <p:spPr>
          <a:xfrm>
            <a:off x="1016000" y="5473700"/>
            <a:ext cx="1651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즉시 승인 보류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94648EEB-484D-4A4E-B7D2-04F7B67CE0A8}"/>
              </a:ext>
            </a:extLst>
          </p:cNvPr>
          <p:cNvSpPr/>
          <p:nvPr/>
        </p:nvSpPr>
        <p:spPr>
          <a:xfrm>
            <a:off x="2794000" y="5448300"/>
            <a:ext cx="8382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근거 누락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안전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규제 위험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High/Critical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Judge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미통과  </a:t>
            </a:r>
            <a:r>
              <a:rPr lang="en-US" altLang="ko-KR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 </a:t>
            </a:r>
            <a:r>
              <a:rPr lang="ko-KR" altLang="en-US" sz="1200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 대비 안전성 하락</a:t>
            </a:r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0C28ABDD-8B49-4E0D-8397-6BE6237D2373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ADD6D04-29B7-47BD-8454-3B86A051D201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5C58DB-3BA6-4D9D-9882-42A414DCFA46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223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D8A6EE87-5D72-4906-9E26-471307C40510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FD6AA39-43BA-4A20-9DB7-8DDEC087A5CE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부터 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까지 이어지는 운영감사 체인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0C196D4-6EC8-4833-BC4B-7F1851EEEA34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C7A981B1-EE48-48FB-B43F-90F4F52EC912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누가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언제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어떤 근거로 판단했는지 재현 가능한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Evidence-first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설계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3F491D11-09DC-465A-9CE1-0E272CCCFB9E}"/>
              </a:ext>
            </a:extLst>
          </p:cNvPr>
          <p:cNvSpPr/>
          <p:nvPr/>
        </p:nvSpPr>
        <p:spPr>
          <a:xfrm>
            <a:off x="927100" y="1955800"/>
            <a:ext cx="889000" cy="8890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01DEA77-6135-4579-84A5-A96698860342}"/>
              </a:ext>
            </a:extLst>
          </p:cNvPr>
          <p:cNvSpPr/>
          <p:nvPr/>
        </p:nvSpPr>
        <p:spPr>
          <a:xfrm>
            <a:off x="5842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ID
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상태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8F350236-0B9A-4683-AB93-219B95CB67D8}"/>
              </a:ext>
            </a:extLst>
          </p:cNvPr>
          <p:cNvCxnSpPr/>
          <p:nvPr/>
        </p:nvCxnSpPr>
        <p:spPr>
          <a:xfrm>
            <a:off x="18923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타원 8">
            <a:extLst>
              <a:ext uri="{FF2B5EF4-FFF2-40B4-BE49-F238E27FC236}">
                <a16:creationId xmlns:a16="http://schemas.microsoft.com/office/drawing/2014/main" id="{C6027F54-5E28-4819-B687-F8F1AA436AB4}"/>
              </a:ext>
            </a:extLst>
          </p:cNvPr>
          <p:cNvSpPr/>
          <p:nvPr/>
        </p:nvSpPr>
        <p:spPr>
          <a:xfrm>
            <a:off x="2806700" y="1955800"/>
            <a:ext cx="889000" cy="889000"/>
          </a:xfrm>
          <a:prstGeom prst="ellipse">
            <a:avLst/>
          </a:prstGeom>
          <a:solidFill>
            <a:srgbClr val="24B6D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A78CB9-87BE-42A1-B0C3-19291A2820F2}"/>
              </a:ext>
            </a:extLst>
          </p:cNvPr>
          <p:cNvSpPr/>
          <p:nvPr/>
        </p:nvSpPr>
        <p:spPr>
          <a:xfrm>
            <a:off x="24638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Case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결과
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TC·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</a:t>
            </a: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58CAE1E-999D-448C-B2C5-67439AF38E31}"/>
              </a:ext>
            </a:extLst>
          </p:cNvPr>
          <p:cNvCxnSpPr/>
          <p:nvPr/>
        </p:nvCxnSpPr>
        <p:spPr>
          <a:xfrm>
            <a:off x="37719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타원 11">
            <a:extLst>
              <a:ext uri="{FF2B5EF4-FFF2-40B4-BE49-F238E27FC236}">
                <a16:creationId xmlns:a16="http://schemas.microsoft.com/office/drawing/2014/main" id="{167F2C27-C5A1-4EDD-ADB8-26DD4963DD25}"/>
              </a:ext>
            </a:extLst>
          </p:cNvPr>
          <p:cNvSpPr/>
          <p:nvPr/>
        </p:nvSpPr>
        <p:spPr>
          <a:xfrm>
            <a:off x="4686300" y="1955800"/>
            <a:ext cx="889000" cy="8890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TRACE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576941E-B925-4E03-A1BF-4271D86FEC22}"/>
              </a:ext>
            </a:extLst>
          </p:cNvPr>
          <p:cNvSpPr/>
          <p:nvPr/>
        </p:nvSpPr>
        <p:spPr>
          <a:xfrm>
            <a:off x="43434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A2A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
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Agent 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호출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755A5D33-C065-4BE3-A0A7-3C8BC5614309}"/>
              </a:ext>
            </a:extLst>
          </p:cNvPr>
          <p:cNvCxnSpPr/>
          <p:nvPr/>
        </p:nvCxnSpPr>
        <p:spPr>
          <a:xfrm>
            <a:off x="56515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타원 14">
            <a:extLst>
              <a:ext uri="{FF2B5EF4-FFF2-40B4-BE49-F238E27FC236}">
                <a16:creationId xmlns:a16="http://schemas.microsoft.com/office/drawing/2014/main" id="{71E971B7-C31A-404D-894B-F6C0A9646B7D}"/>
              </a:ext>
            </a:extLst>
          </p:cNvPr>
          <p:cNvSpPr/>
          <p:nvPr/>
        </p:nvSpPr>
        <p:spPr>
          <a:xfrm>
            <a:off x="6565900" y="1955800"/>
            <a:ext cx="889000" cy="8890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E74481C-8A28-425F-A04C-AF86B3FE6DB2}"/>
              </a:ext>
            </a:extLst>
          </p:cNvPr>
          <p:cNvSpPr/>
          <p:nvPr/>
        </p:nvSpPr>
        <p:spPr>
          <a:xfrm>
            <a:off x="62230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버전</a:t>
            </a:r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·Hash
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근거</a:t>
            </a:r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A1A7A3BD-FBD1-46F4-9870-DC35866FA57B}"/>
              </a:ext>
            </a:extLst>
          </p:cNvPr>
          <p:cNvCxnSpPr/>
          <p:nvPr/>
        </p:nvCxnSpPr>
        <p:spPr>
          <a:xfrm>
            <a:off x="75311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>
            <a:extLst>
              <a:ext uri="{FF2B5EF4-FFF2-40B4-BE49-F238E27FC236}">
                <a16:creationId xmlns:a16="http://schemas.microsoft.com/office/drawing/2014/main" id="{C2932E05-915D-4AE1-87E4-DCF9D1136FB1}"/>
              </a:ext>
            </a:extLst>
          </p:cNvPr>
          <p:cNvSpPr/>
          <p:nvPr/>
        </p:nvSpPr>
        <p:spPr>
          <a:xfrm>
            <a:off x="8445500" y="1955800"/>
            <a:ext cx="889000" cy="889000"/>
          </a:xfrm>
          <a:prstGeom prst="ellipse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APPROVAL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47E317A-B197-4253-9E9B-D9D8044625B9}"/>
              </a:ext>
            </a:extLst>
          </p:cNvPr>
          <p:cNvSpPr/>
          <p:nvPr/>
        </p:nvSpPr>
        <p:spPr>
          <a:xfrm>
            <a:off x="81026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QA·</a:t>
            </a:r>
            <a:r>
              <a:rPr lang="ko-KR" altLang="en-US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
감사 이력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0A0DD6E0-ADE9-41EC-867E-195C3E4A4B33}"/>
              </a:ext>
            </a:extLst>
          </p:cNvPr>
          <p:cNvCxnSpPr/>
          <p:nvPr/>
        </p:nvCxnSpPr>
        <p:spPr>
          <a:xfrm>
            <a:off x="9410700" y="2400300"/>
            <a:ext cx="520700" cy="0"/>
          </a:xfrm>
          <a:prstGeom prst="line">
            <a:avLst/>
          </a:prstGeom>
          <a:ln w="21590" cap="flat" cmpd="sng" algn="ctr">
            <a:solidFill>
              <a:srgbClr val="9DB5CF"/>
            </a:solidFill>
            <a:prstDash val="solid"/>
            <a:miter lim="800000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타원 20">
            <a:extLst>
              <a:ext uri="{FF2B5EF4-FFF2-40B4-BE49-F238E27FC236}">
                <a16:creationId xmlns:a16="http://schemas.microsoft.com/office/drawing/2014/main" id="{F2B07A4A-531D-482A-A560-8CB6B976F7DF}"/>
              </a:ext>
            </a:extLst>
          </p:cNvPr>
          <p:cNvSpPr/>
          <p:nvPr/>
        </p:nvSpPr>
        <p:spPr>
          <a:xfrm>
            <a:off x="10325100" y="1955800"/>
            <a:ext cx="889000" cy="8890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endParaRPr lang="ko-KR" altLang="en-US" sz="1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18A4DB8-D687-4585-ADA9-A2DB7F1FA3B6}"/>
              </a:ext>
            </a:extLst>
          </p:cNvPr>
          <p:cNvSpPr/>
          <p:nvPr/>
        </p:nvSpPr>
        <p:spPr>
          <a:xfrm>
            <a:off x="9982200" y="3022600"/>
            <a:ext cx="1574800" cy="609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1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Manifest
SHA-256</a:t>
            </a:r>
            <a:endParaRPr lang="ko-KR" altLang="en-US" sz="11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3263F80A-E278-4566-B4A4-9C21FB8C7DC4}"/>
              </a:ext>
            </a:extLst>
          </p:cNvPr>
          <p:cNvSpPr/>
          <p:nvPr/>
        </p:nvSpPr>
        <p:spPr>
          <a:xfrm>
            <a:off x="1143000" y="4292600"/>
            <a:ext cx="990600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014F7A7-ABB8-4D69-B50C-96B26CE25B2D}"/>
              </a:ext>
            </a:extLst>
          </p:cNvPr>
          <p:cNvSpPr/>
          <p:nvPr/>
        </p:nvSpPr>
        <p:spPr>
          <a:xfrm>
            <a:off x="1422400" y="45466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허용 파일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5B2AE7C-7BAF-4333-B925-7CEC88F1FA2C}"/>
              </a:ext>
            </a:extLst>
          </p:cNvPr>
          <p:cNvSpPr/>
          <p:nvPr/>
        </p:nvSpPr>
        <p:spPr>
          <a:xfrm>
            <a:off x="1422400" y="4889500"/>
            <a:ext cx="27940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step10_acceptance.json · .md</a:t>
            </a:r>
            <a:endParaRPr lang="ko-KR" altLang="en-US" sz="10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910DD7EA-497E-40D5-B6EC-62948E3EBCFC}"/>
              </a:ext>
            </a:extLst>
          </p:cNvPr>
          <p:cNvSpPr/>
          <p:nvPr/>
        </p:nvSpPr>
        <p:spPr>
          <a:xfrm>
            <a:off x="4572000" y="45466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 보호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162D639-3053-4739-86A8-16C51241E9F8}"/>
              </a:ext>
            </a:extLst>
          </p:cNvPr>
          <p:cNvSpPr/>
          <p:nvPr/>
        </p:nvSpPr>
        <p:spPr>
          <a:xfrm>
            <a:off x="4572000" y="4889500"/>
            <a:ext cx="27940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 MB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제한 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비밀값 패턴 검사 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AES256</a:t>
            </a:r>
            <a:endParaRPr lang="ko-KR" altLang="en-US" sz="10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378A6F5-B97F-4BAB-9FA8-BA7BCEBB4344}"/>
              </a:ext>
            </a:extLst>
          </p:cNvPr>
          <p:cNvSpPr/>
          <p:nvPr/>
        </p:nvSpPr>
        <p:spPr>
          <a:xfrm>
            <a:off x="7721600" y="4546600"/>
            <a:ext cx="2794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원격 검증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4D5885-C141-46DD-8FCA-0C1A8A993B85}"/>
              </a:ext>
            </a:extLst>
          </p:cNvPr>
          <p:cNvSpPr/>
          <p:nvPr/>
        </p:nvSpPr>
        <p:spPr>
          <a:xfrm>
            <a:off x="7721600" y="4889500"/>
            <a:ext cx="2794000" cy="50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Manifest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각 파일의 크기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·SHA-256 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재검증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84877F2F-38C8-4E94-854D-CFC31BE64A9B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5B7284-1AB9-43B7-8B82-38BA6977B18E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F63D26-CCFC-42C9-83B8-28FF63D58A8E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6522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12C03AB-E1BE-492A-B5BA-2981B0A2E596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E8833B-AD4C-4E85-9D1D-E9298E7E1EA5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품질 결과를 업무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형상</a:t>
            </a:r>
            <a:r>
              <a:rPr lang="en-US" altLang="ko-KR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 관리로 연결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EE2F125-821A-4D15-934B-17A3E5D4237A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15B5BD-341C-40AA-8B27-B4642CE37073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외부 시스템 변경은 사용자의 명시적 액션에서만 수행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05927A-6933-4BFC-BC0A-33BCD9F1450C}"/>
              </a:ext>
            </a:extLst>
          </p:cNvPr>
          <p:cNvSpPr/>
          <p:nvPr/>
        </p:nvSpPr>
        <p:spPr>
          <a:xfrm>
            <a:off x="736600" y="1905000"/>
            <a:ext cx="3429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23CB1A-4F94-41B5-8123-90A052E52B93}"/>
              </a:ext>
            </a:extLst>
          </p:cNvPr>
          <p:cNvSpPr/>
          <p:nvPr/>
        </p:nvSpPr>
        <p:spPr>
          <a:xfrm>
            <a:off x="736600" y="1905000"/>
            <a:ext cx="76200" cy="37084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F3DE44C-4B0C-4C8D-B6B2-3BCDDE3476A9}"/>
              </a:ext>
            </a:extLst>
          </p:cNvPr>
          <p:cNvSpPr/>
          <p:nvPr/>
        </p:nvSpPr>
        <p:spPr>
          <a:xfrm>
            <a:off x="1092200" y="2209800"/>
            <a:ext cx="736600" cy="736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C3CD30B-45CB-4EBC-92F4-CE62025AB45F}"/>
              </a:ext>
            </a:extLst>
          </p:cNvPr>
          <p:cNvSpPr/>
          <p:nvPr/>
        </p:nvSpPr>
        <p:spPr>
          <a:xfrm>
            <a:off x="2667000" y="2336800"/>
            <a:ext cx="1168400" cy="3048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EA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ko-KR" altLang="en-US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실행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29A465-6C36-4133-899A-3CC702378E5E}"/>
              </a:ext>
            </a:extLst>
          </p:cNvPr>
          <p:cNvSpPr/>
          <p:nvPr/>
        </p:nvSpPr>
        <p:spPr>
          <a:xfrm>
            <a:off x="1092200" y="3175000"/>
            <a:ext cx="2667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Jira</a:t>
            </a:r>
            <a:endParaRPr lang="ko-KR" altLang="en-US" sz="2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080F286-751D-4320-993F-80C1174288A1}"/>
              </a:ext>
            </a:extLst>
          </p:cNvPr>
          <p:cNvSpPr/>
          <p:nvPr/>
        </p:nvSpPr>
        <p:spPr>
          <a:xfrm>
            <a:off x="1092200" y="3835400"/>
            <a:ext cx="2667000" cy="1041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JQL 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조회
신규 이슈 등록
등록 감사 이력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551E89F-3F81-42CA-B98C-1EE87B7E0740}"/>
              </a:ext>
            </a:extLst>
          </p:cNvPr>
          <p:cNvSpPr/>
          <p:nvPr/>
        </p:nvSpPr>
        <p:spPr>
          <a:xfrm>
            <a:off x="1092200" y="5105400"/>
            <a:ext cx="2667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명시적 사용자 동작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9431A80-F9E0-4336-AD41-475604F927E9}"/>
              </a:ext>
            </a:extLst>
          </p:cNvPr>
          <p:cNvSpPr/>
          <p:nvPr/>
        </p:nvSpPr>
        <p:spPr>
          <a:xfrm>
            <a:off x="4521200" y="1905000"/>
            <a:ext cx="3429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8E55FDD-E3A8-4B84-9544-E6D4C0900FDB}"/>
              </a:ext>
            </a:extLst>
          </p:cNvPr>
          <p:cNvSpPr/>
          <p:nvPr/>
        </p:nvSpPr>
        <p:spPr>
          <a:xfrm>
            <a:off x="4521200" y="1905000"/>
            <a:ext cx="76200" cy="37084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BC233748-A1EE-4950-97DA-BB12AF8CAB94}"/>
              </a:ext>
            </a:extLst>
          </p:cNvPr>
          <p:cNvSpPr/>
          <p:nvPr/>
        </p:nvSpPr>
        <p:spPr>
          <a:xfrm>
            <a:off x="4876800" y="2209800"/>
            <a:ext cx="736600" cy="736600"/>
          </a:xfrm>
          <a:prstGeom prst="ellipse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88FD6FE-CB0A-42A3-B0B3-40435E861467}"/>
              </a:ext>
            </a:extLst>
          </p:cNvPr>
          <p:cNvSpPr/>
          <p:nvPr/>
        </p:nvSpPr>
        <p:spPr>
          <a:xfrm>
            <a:off x="6451600" y="2336800"/>
            <a:ext cx="1168400" cy="304800"/>
          </a:xfrm>
          <a:prstGeom prst="roundRect">
            <a:avLst/>
          </a:prstGeom>
          <a:solidFill>
            <a:srgbClr val="EAF2FE"/>
          </a:solidFill>
          <a:ln w="12700">
            <a:solidFill>
              <a:srgbClr val="EAF2F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ko-KR" altLang="en-US" sz="9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형상 관리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95668A7-E888-4359-844B-7FD77D05E7D7}"/>
              </a:ext>
            </a:extLst>
          </p:cNvPr>
          <p:cNvSpPr/>
          <p:nvPr/>
        </p:nvSpPr>
        <p:spPr>
          <a:xfrm>
            <a:off x="4876800" y="3175000"/>
            <a:ext cx="2667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GitHub</a:t>
            </a:r>
            <a:endParaRPr lang="ko-KR" altLang="en-US" sz="2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99000C6-7962-4E0A-9FD1-479CD74E0548}"/>
              </a:ext>
            </a:extLst>
          </p:cNvPr>
          <p:cNvSpPr/>
          <p:nvPr/>
        </p:nvSpPr>
        <p:spPr>
          <a:xfrm>
            <a:off x="4876800" y="3835400"/>
            <a:ext cx="2667000" cy="1041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저장소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브랜치
저장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다운로드
충돌 사전 점검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6FEC702-0775-49EC-93EC-F2372F847969}"/>
              </a:ext>
            </a:extLst>
          </p:cNvPr>
          <p:cNvSpPr/>
          <p:nvPr/>
        </p:nvSpPr>
        <p:spPr>
          <a:xfrm>
            <a:off x="4876800" y="5105400"/>
            <a:ext cx="2667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명시적 사용자 동작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95CE442D-37DE-4FA8-8286-5174BFDC3786}"/>
              </a:ext>
            </a:extLst>
          </p:cNvPr>
          <p:cNvSpPr/>
          <p:nvPr/>
        </p:nvSpPr>
        <p:spPr>
          <a:xfrm>
            <a:off x="8305800" y="1905000"/>
            <a:ext cx="3429000" cy="3708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0E37F85-53C8-4B8F-ACC6-34E8F1F54203}"/>
              </a:ext>
            </a:extLst>
          </p:cNvPr>
          <p:cNvSpPr/>
          <p:nvPr/>
        </p:nvSpPr>
        <p:spPr>
          <a:xfrm>
            <a:off x="8305800" y="1905000"/>
            <a:ext cx="76200" cy="37084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62605C8-CF4A-4625-B11B-F41BAD2E2DE3}"/>
              </a:ext>
            </a:extLst>
          </p:cNvPr>
          <p:cNvSpPr/>
          <p:nvPr/>
        </p:nvSpPr>
        <p:spPr>
          <a:xfrm>
            <a:off x="8661400" y="2209800"/>
            <a:ext cx="736600" cy="736600"/>
          </a:xfrm>
          <a:prstGeom prst="ellipse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</a:t>
            </a:r>
            <a:endParaRPr lang="ko-KR" altLang="en-US" sz="13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25EABDC-DEEF-4E0F-96D8-D0FD759C6811}"/>
              </a:ext>
            </a:extLst>
          </p:cNvPr>
          <p:cNvSpPr/>
          <p:nvPr/>
        </p:nvSpPr>
        <p:spPr>
          <a:xfrm>
            <a:off x="10236200" y="2336800"/>
            <a:ext cx="1168400" cy="304800"/>
          </a:xfrm>
          <a:prstGeom prst="roundRect">
            <a:avLst/>
          </a:prstGeom>
          <a:solidFill>
            <a:srgbClr val="E8F7F1"/>
          </a:solidFill>
          <a:ln w="12700">
            <a:solidFill>
              <a:srgbClr val="E8F7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ko-KR" altLang="en-US" sz="9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운영 감사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43148E7-5F29-49FF-9FEC-E1FC5EB54ED2}"/>
              </a:ext>
            </a:extLst>
          </p:cNvPr>
          <p:cNvSpPr/>
          <p:nvPr/>
        </p:nvSpPr>
        <p:spPr>
          <a:xfrm>
            <a:off x="8661400" y="3175000"/>
            <a:ext cx="2667000" cy="406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S3</a:t>
            </a:r>
            <a:endParaRPr lang="ko-KR" altLang="en-US" sz="22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10139E-DBBD-43DA-AF21-A458FE0155CD}"/>
              </a:ext>
            </a:extLst>
          </p:cNvPr>
          <p:cNvSpPr/>
          <p:nvPr/>
        </p:nvSpPr>
        <p:spPr>
          <a:xfrm>
            <a:off x="8661400" y="3835400"/>
            <a:ext cx="2667000" cy="1041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인수 증적
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AES256 </a:t>
            </a:r>
            <a:r>
              <a:rPr lang="ko-KR" altLang="en-US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업로드
원격 </a:t>
            </a:r>
            <a:r>
              <a:rPr lang="en-US" altLang="ko-KR" sz="13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SHA-256</a:t>
            </a:r>
            <a:endParaRPr lang="ko-KR" altLang="en-US" sz="13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3FA73B2-41FF-4D6C-BCFC-D3696F313DB7}"/>
              </a:ext>
            </a:extLst>
          </p:cNvPr>
          <p:cNvSpPr/>
          <p:nvPr/>
        </p:nvSpPr>
        <p:spPr>
          <a:xfrm>
            <a:off x="8661400" y="5105400"/>
            <a:ext cx="2667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명시적 사용자 동작</a:t>
            </a: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713FAAE1-8F08-4C10-BAC2-B91208A99F60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B992BDB-56E3-424D-9917-9AC7AF6830FB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ACA2239-DCBA-47C9-992B-82C9537BDE1A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6632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12B7B6-E3DD-462F-89EB-E575FA4EA331}"/>
              </a:ext>
            </a:extLst>
          </p:cNvPr>
          <p:cNvSpPr/>
          <p:nvPr/>
        </p:nvSpPr>
        <p:spPr>
          <a:xfrm>
            <a:off x="558800" y="254000"/>
            <a:ext cx="22860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PORTFOLIO</a:t>
            </a:r>
            <a:endParaRPr lang="ko-KR" altLang="en-US" sz="9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C843197-5352-4A2C-95B6-0CA1F9A9A89D}"/>
              </a:ext>
            </a:extLst>
          </p:cNvPr>
          <p:cNvSpPr/>
          <p:nvPr/>
        </p:nvSpPr>
        <p:spPr>
          <a:xfrm>
            <a:off x="558800" y="546100"/>
            <a:ext cx="11049000" cy="558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5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시연 결과와 정직한 품질 판정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861537-6887-4E2A-ACB3-3469B231A0C1}"/>
              </a:ext>
            </a:extLst>
          </p:cNvPr>
          <p:cNvCxnSpPr/>
          <p:nvPr/>
        </p:nvCxnSpPr>
        <p:spPr>
          <a:xfrm>
            <a:off x="558800" y="1219200"/>
            <a:ext cx="11074400" cy="0"/>
          </a:xfrm>
          <a:prstGeom prst="line">
            <a:avLst/>
          </a:prstGeom>
          <a:ln w="1270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ADE00B-41BC-4CA9-BEAB-2795FCBD4F94}"/>
              </a:ext>
            </a:extLst>
          </p:cNvPr>
          <p:cNvSpPr/>
          <p:nvPr/>
        </p:nvSpPr>
        <p:spPr>
          <a:xfrm>
            <a:off x="558800" y="1308100"/>
            <a:ext cx="11049000" cy="355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E2E 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승인과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전체 운영 인수 </a:t>
            </a:r>
            <a:r>
              <a:rPr lang="en-US" altLang="ko-KR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Gate</a:t>
            </a:r>
            <a:r>
              <a:rPr lang="ko-KR" altLang="en-US" sz="11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구분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CCE30DF-CFC0-4295-AD75-0A1EE477AB3C}"/>
              </a:ext>
            </a:extLst>
          </p:cNvPr>
          <p:cNvSpPr/>
          <p:nvPr/>
        </p:nvSpPr>
        <p:spPr>
          <a:xfrm>
            <a:off x="5842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48104B-E328-43FA-9F60-D8B5C2F9A619}"/>
              </a:ext>
            </a:extLst>
          </p:cNvPr>
          <p:cNvSpPr/>
          <p:nvPr/>
        </p:nvSpPr>
        <p:spPr>
          <a:xfrm>
            <a:off x="584200" y="1778000"/>
            <a:ext cx="76200" cy="1422400"/>
          </a:xfrm>
          <a:prstGeom prst="rect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7A27E30-69F0-4503-A850-BF9AE95E3E3D}"/>
              </a:ext>
            </a:extLst>
          </p:cNvPr>
          <p:cNvSpPr/>
          <p:nvPr/>
        </p:nvSpPr>
        <p:spPr>
          <a:xfrm>
            <a:off x="8382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PIPELINE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05927FC-9A02-4AAF-8D92-961F50382133}"/>
              </a:ext>
            </a:extLst>
          </p:cNvPr>
          <p:cNvSpPr/>
          <p:nvPr/>
        </p:nvSpPr>
        <p:spPr>
          <a:xfrm>
            <a:off x="8382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</a:t>
            </a:r>
            <a:endParaRPr lang="ko-KR" altLang="en-US" sz="22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D423EB6-6533-42CA-9945-C9E0212317F9}"/>
              </a:ext>
            </a:extLst>
          </p:cNvPr>
          <p:cNvSpPr/>
          <p:nvPr/>
        </p:nvSpPr>
        <p:spPr>
          <a:xfrm>
            <a:off x="8382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오류 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498C61A9-4F60-4BF4-A1BE-2FB7FD1F753A}"/>
              </a:ext>
            </a:extLst>
          </p:cNvPr>
          <p:cNvSpPr/>
          <p:nvPr/>
        </p:nvSpPr>
        <p:spPr>
          <a:xfrm>
            <a:off x="34036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985335E-16CA-4371-B83D-0B981C34E21F}"/>
              </a:ext>
            </a:extLst>
          </p:cNvPr>
          <p:cNvSpPr/>
          <p:nvPr/>
        </p:nvSpPr>
        <p:spPr>
          <a:xfrm>
            <a:off x="3403600" y="1778000"/>
            <a:ext cx="76200" cy="1422400"/>
          </a:xfrm>
          <a:prstGeom prst="rect">
            <a:avLst/>
          </a:prstGeom>
          <a:solidFill>
            <a:srgbClr val="7C5CE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FC7009D-5193-4E90-87FB-8F4A4F13F9F0}"/>
              </a:ext>
            </a:extLst>
          </p:cNvPr>
          <p:cNvSpPr/>
          <p:nvPr/>
        </p:nvSpPr>
        <p:spPr>
          <a:xfrm>
            <a:off x="36576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JUDGE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E28326-0497-4E80-A3D9-AA10A0610E28}"/>
              </a:ext>
            </a:extLst>
          </p:cNvPr>
          <p:cNvSpPr/>
          <p:nvPr/>
        </p:nvSpPr>
        <p:spPr>
          <a:xfrm>
            <a:off x="36576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96</a:t>
            </a:r>
            <a:r>
              <a:rPr lang="ko-KR" altLang="en-US" sz="2200" b="1">
                <a:solidFill>
                  <a:srgbClr val="7C5CE7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3A0DC42-6C57-44F2-ADFE-7B4177587234}"/>
              </a:ext>
            </a:extLst>
          </p:cNvPr>
          <p:cNvSpPr/>
          <p:nvPr/>
        </p:nvSpPr>
        <p:spPr>
          <a:xfrm>
            <a:off x="36576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PASS · </a:t>
            </a:r>
            <a:r>
              <a:rPr lang="ko-KR" altLang="en-US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 </a:t>
            </a:r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60610FB-F255-4A89-9192-91C60A39D93B}"/>
              </a:ext>
            </a:extLst>
          </p:cNvPr>
          <p:cNvSpPr/>
          <p:nvPr/>
        </p:nvSpPr>
        <p:spPr>
          <a:xfrm>
            <a:off x="62230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4500876-A92C-4016-A363-8D37831159E6}"/>
              </a:ext>
            </a:extLst>
          </p:cNvPr>
          <p:cNvSpPr/>
          <p:nvPr/>
        </p:nvSpPr>
        <p:spPr>
          <a:xfrm>
            <a:off x="6223000" y="1778000"/>
            <a:ext cx="76200" cy="1422400"/>
          </a:xfrm>
          <a:prstGeom prst="rect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A378DD7-EDCE-40CB-BFAB-C92D452478AC}"/>
              </a:ext>
            </a:extLst>
          </p:cNvPr>
          <p:cNvSpPr/>
          <p:nvPr/>
        </p:nvSpPr>
        <p:spPr>
          <a:xfrm>
            <a:off x="64770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VALIDITY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6AA22E3-C0DA-47E7-96F5-816D4A9ADF5F}"/>
              </a:ext>
            </a:extLst>
          </p:cNvPr>
          <p:cNvSpPr/>
          <p:nvPr/>
        </p:nvSpPr>
        <p:spPr>
          <a:xfrm>
            <a:off x="64770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2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81</a:t>
            </a:r>
            <a:r>
              <a:rPr lang="ko-KR" altLang="en-US" sz="2200" b="1">
                <a:solidFill>
                  <a:srgbClr val="2EC4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FA1BAFF-48E4-4C34-BEAA-73D9AEA9972A}"/>
              </a:ext>
            </a:extLst>
          </p:cNvPr>
          <p:cNvSpPr/>
          <p:nvPr/>
        </p:nvSpPr>
        <p:spPr>
          <a:xfrm>
            <a:off x="64770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AI_PASS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3998B1B-2A4D-4D4E-B89F-3960AE094015}"/>
              </a:ext>
            </a:extLst>
          </p:cNvPr>
          <p:cNvSpPr/>
          <p:nvPr/>
        </p:nvSpPr>
        <p:spPr>
          <a:xfrm>
            <a:off x="9042400" y="1778000"/>
            <a:ext cx="2565400" cy="1422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1EE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DA2CC3-5A3B-4059-83BA-DBF2D94DC62E}"/>
              </a:ext>
            </a:extLst>
          </p:cNvPr>
          <p:cNvSpPr/>
          <p:nvPr/>
        </p:nvSpPr>
        <p:spPr>
          <a:xfrm>
            <a:off x="9042400" y="1778000"/>
            <a:ext cx="76200" cy="14224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4CA457E-CA33-4980-8BEB-3221B0079B97}"/>
              </a:ext>
            </a:extLst>
          </p:cNvPr>
          <p:cNvSpPr/>
          <p:nvPr/>
        </p:nvSpPr>
        <p:spPr>
          <a:xfrm>
            <a:off x="9296400" y="1981200"/>
            <a:ext cx="21336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0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APPROVAL</a:t>
            </a:r>
            <a:endParaRPr lang="ko-KR" altLang="en-US" sz="10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2553926-2F37-4196-96B6-49E3237CB40C}"/>
              </a:ext>
            </a:extLst>
          </p:cNvPr>
          <p:cNvSpPr/>
          <p:nvPr/>
        </p:nvSpPr>
        <p:spPr>
          <a:xfrm>
            <a:off x="9296400" y="2286000"/>
            <a:ext cx="2133600" cy="431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2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승인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7801D86-1682-483A-AF4A-49C78565BF95}"/>
              </a:ext>
            </a:extLst>
          </p:cNvPr>
          <p:cNvSpPr/>
          <p:nvPr/>
        </p:nvSpPr>
        <p:spPr>
          <a:xfrm>
            <a:off x="9296400" y="2794000"/>
            <a:ext cx="21336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BUSINESS_APPROVED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FE37CEB-008D-4C42-8A21-8FE5B358315E}"/>
              </a:ext>
            </a:extLst>
          </p:cNvPr>
          <p:cNvSpPr/>
          <p:nvPr/>
        </p:nvSpPr>
        <p:spPr>
          <a:xfrm>
            <a:off x="584200" y="3581400"/>
            <a:ext cx="5308600" cy="2235200"/>
          </a:xfrm>
          <a:prstGeom prst="roundRect">
            <a:avLst/>
          </a:prstGeom>
          <a:solidFill>
            <a:srgbClr val="EAF7F1"/>
          </a:solidFill>
          <a:ln w="12700">
            <a:solidFill>
              <a:srgbClr val="B7E6D3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4FD612A-F541-431A-8094-C2813EB3B01D}"/>
              </a:ext>
            </a:extLst>
          </p:cNvPr>
          <p:cNvSpPr/>
          <p:nvPr/>
        </p:nvSpPr>
        <p:spPr>
          <a:xfrm>
            <a:off x="584200" y="3581400"/>
            <a:ext cx="76200" cy="2235200"/>
          </a:xfrm>
          <a:prstGeom prst="rect">
            <a:avLst/>
          </a:prstGeom>
          <a:solidFill>
            <a:srgbClr val="16A36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FDF52BD-A03A-4925-8760-8AE82E6CB255}"/>
              </a:ext>
            </a:extLst>
          </p:cNvPr>
          <p:cNvSpPr/>
          <p:nvPr/>
        </p:nvSpPr>
        <p:spPr>
          <a:xfrm>
            <a:off x="914400" y="3835400"/>
            <a:ext cx="2540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대표 </a:t>
            </a:r>
            <a:r>
              <a:rPr lang="en-US" altLang="ko-KR" sz="1200" b="1">
                <a:solidFill>
                  <a:srgbClr val="16A36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TC-01 E2E</a:t>
            </a:r>
            <a:endParaRPr lang="ko-KR" altLang="en-US" sz="1200" b="1">
              <a:solidFill>
                <a:srgbClr val="16A36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6D57138-94AF-41A9-9F71-BDEE076F9F2B}"/>
              </a:ext>
            </a:extLst>
          </p:cNvPr>
          <p:cNvSpPr/>
          <p:nvPr/>
        </p:nvSpPr>
        <p:spPr>
          <a:xfrm>
            <a:off x="914400" y="4292600"/>
            <a:ext cx="4191000" cy="762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FORMAL QUALITY
APPROVED</a:t>
            </a:r>
            <a:endParaRPr lang="ko-KR" altLang="en-US" sz="24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AF743D7-F7E3-4CCA-83E2-5FA34153C833}"/>
              </a:ext>
            </a:extLst>
          </p:cNvPr>
          <p:cNvSpPr/>
          <p:nvPr/>
        </p:nvSpPr>
        <p:spPr>
          <a:xfrm>
            <a:off x="914400" y="5283200"/>
            <a:ext cx="43180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  RUN-20260804-132006-496046-e9c0</a:t>
            </a:r>
            <a:endParaRPr lang="ko-KR" altLang="en-US" sz="900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D63ED83-AE87-461A-9D3A-E1C2E4C94744}"/>
              </a:ext>
            </a:extLst>
          </p:cNvPr>
          <p:cNvSpPr/>
          <p:nvPr/>
        </p:nvSpPr>
        <p:spPr>
          <a:xfrm>
            <a:off x="6248400" y="3581400"/>
            <a:ext cx="5359400" cy="2235200"/>
          </a:xfrm>
          <a:prstGeom prst="roundRect">
            <a:avLst/>
          </a:prstGeom>
          <a:solidFill>
            <a:srgbClr val="FFF7E7"/>
          </a:solidFill>
          <a:ln w="12700">
            <a:solidFill>
              <a:srgbClr val="F6D697"/>
            </a:solidFill>
          </a:ln>
          <a:effectLst>
            <a:outerShdw blurRad="101600" dist="40161" dir="4293895" rotWithShape="0">
              <a:srgbClr val="0A2342">
                <a:alpha val="1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A574CE8-3F21-40CF-95BF-C41F92044071}"/>
              </a:ext>
            </a:extLst>
          </p:cNvPr>
          <p:cNvSpPr/>
          <p:nvPr/>
        </p:nvSpPr>
        <p:spPr>
          <a:xfrm>
            <a:off x="6248400" y="3581400"/>
            <a:ext cx="76200" cy="2235200"/>
          </a:xfrm>
          <a:prstGeom prst="rect">
            <a:avLst/>
          </a:prstGeom>
          <a:solidFill>
            <a:srgbClr val="F59E0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6C047FC-FB22-469E-8E19-6AD3554C671F}"/>
              </a:ext>
            </a:extLst>
          </p:cNvPr>
          <p:cNvSpPr/>
          <p:nvPr/>
        </p:nvSpPr>
        <p:spPr>
          <a:xfrm>
            <a:off x="6578600" y="3835400"/>
            <a:ext cx="2794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2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200" b="1">
                <a:solidFill>
                  <a:srgbClr val="F59E0B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최종 운영 인수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0EF97784-DBDC-4221-9A08-FC6F24A504F5}"/>
              </a:ext>
            </a:extLst>
          </p:cNvPr>
          <p:cNvSpPr/>
          <p:nvPr/>
        </p:nvSpPr>
        <p:spPr>
          <a:xfrm>
            <a:off x="6578600" y="4381500"/>
            <a:ext cx="4191000" cy="457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24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 PASS / 6 HOLD</a:t>
            </a:r>
            <a:endParaRPr lang="ko-KR" altLang="en-US" sz="2400" b="1">
              <a:solidFill>
                <a:srgbClr val="0A234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E2FAE0A-B383-43CC-866E-9D16C2BD5522}"/>
              </a:ext>
            </a:extLst>
          </p:cNvPr>
          <p:cNvSpPr/>
          <p:nvPr/>
        </p:nvSpPr>
        <p:spPr>
          <a:xfrm>
            <a:off x="6578600" y="5054600"/>
            <a:ext cx="4445000" cy="482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미실행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미검증</a:t>
            </a:r>
            <a:r>
              <a:rPr lang="en-US" altLang="ko-KR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잔여 위험을 성공으로 확대 해석하지 않음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82B934B-B3E7-4C6A-8F7D-AC4BDF0B13A0}"/>
              </a:ext>
            </a:extLst>
          </p:cNvPr>
          <p:cNvSpPr/>
          <p:nvPr/>
        </p:nvSpPr>
        <p:spPr>
          <a:xfrm>
            <a:off x="1676400" y="6045200"/>
            <a:ext cx="8839200" cy="254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US" altLang="ko-KR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Step 10 </a:t>
            </a:r>
            <a:r>
              <a:rPr lang="ko-KR" altLang="en-US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회귀 </a:t>
            </a:r>
            <a:r>
              <a:rPr lang="en-US" altLang="ko-KR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229 PASS  ·  </a:t>
            </a:r>
            <a:r>
              <a:rPr lang="ko-KR" altLang="en-US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관측 집계 결함 </a:t>
            </a:r>
            <a:r>
              <a:rPr lang="en-US" altLang="ko-KR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lang="ko-KR" altLang="en-US" sz="1000" b="1">
                <a:solidFill>
                  <a:srgbClr val="0A234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건은 잔여 결함으로 분리</a:t>
            </a:r>
          </a:p>
        </p:txBody>
      </p: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3874D1A3-CD7E-40C2-AE51-EF073AE5D1C9}"/>
              </a:ext>
            </a:extLst>
          </p:cNvPr>
          <p:cNvCxnSpPr/>
          <p:nvPr/>
        </p:nvCxnSpPr>
        <p:spPr>
          <a:xfrm>
            <a:off x="558800" y="6502400"/>
            <a:ext cx="11074400" cy="0"/>
          </a:xfrm>
          <a:prstGeom prst="line">
            <a:avLst/>
          </a:prstGeom>
          <a:ln w="10160" cap="flat" cmpd="sng" algn="ctr">
            <a:solidFill>
              <a:srgbClr val="D7E1E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9C4F2F7-9C33-47D9-8B54-19BFDCD24B4C}"/>
              </a:ext>
            </a:extLst>
          </p:cNvPr>
          <p:cNvSpPr/>
          <p:nvPr/>
        </p:nvSpPr>
        <p:spPr>
          <a:xfrm>
            <a:off x="558800" y="6565900"/>
            <a:ext cx="30480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800" b="1">
                <a:solidFill>
                  <a:srgbClr val="66758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AWS VOC MULTI-AGENT QA</a:t>
            </a:r>
            <a:endParaRPr lang="ko-KR" altLang="en-US" sz="800" b="1">
              <a:solidFill>
                <a:srgbClr val="66758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BE27F317-D181-41C9-ACA3-714ED9570B1B}"/>
              </a:ext>
            </a:extLst>
          </p:cNvPr>
          <p:cNvSpPr/>
          <p:nvPr/>
        </p:nvSpPr>
        <p:spPr>
          <a:xfrm>
            <a:off x="11176000" y="6553200"/>
            <a:ext cx="457200" cy="177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800" b="1">
                <a:solidFill>
                  <a:srgbClr val="1769E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800" b="1">
              <a:solidFill>
                <a:srgbClr val="1769E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5666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A598D6A-8034-4F9F-A63B-1600E8833DF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34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41ED168-2EAC-44FE-A568-0C3FE9228E49}"/>
              </a:ext>
            </a:extLst>
          </p:cNvPr>
          <p:cNvSpPr/>
          <p:nvPr/>
        </p:nvSpPr>
        <p:spPr>
          <a:xfrm>
            <a:off x="736600" y="584200"/>
            <a:ext cx="22860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8FC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PROJECT OUTCOME</a:t>
            </a:r>
            <a:endParaRPr lang="ko-KR" altLang="en-US" sz="900" b="1">
              <a:solidFill>
                <a:srgbClr val="8FC1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642FDCD-C0E7-405A-9FE9-D69F90D137F7}"/>
              </a:ext>
            </a:extLst>
          </p:cNvPr>
          <p:cNvSpPr/>
          <p:nvPr/>
        </p:nvSpPr>
        <p:spPr>
          <a:xfrm>
            <a:off x="736600" y="1244600"/>
            <a:ext cx="10414000" cy="1193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AI</a:t>
            </a:r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가 답을 만드는 시스템에서</a:t>
            </a:r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
AI</a:t>
            </a:r>
            <a:r>
              <a:rPr lang="ko-KR" altLang="en-US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판단을 검증하고 책임 있게 운영하는 시스템으로</a:t>
            </a:r>
            <a:r>
              <a:rPr lang="en-US" altLang="ko-KR" sz="30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30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492E765-7432-4FBE-A1B2-8FDADB692FC8}"/>
              </a:ext>
            </a:extLst>
          </p:cNvPr>
          <p:cNvSpPr/>
          <p:nvPr/>
        </p:nvSpPr>
        <p:spPr>
          <a:xfrm>
            <a:off x="736600" y="3048000"/>
            <a:ext cx="609600" cy="609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6CE0EF4-2B3E-44ED-A904-39D1883D280F}"/>
              </a:ext>
            </a:extLst>
          </p:cNvPr>
          <p:cNvSpPr/>
          <p:nvPr/>
        </p:nvSpPr>
        <p:spPr>
          <a:xfrm>
            <a:off x="1574800" y="30226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독립성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EEA278-DF75-4740-B42C-BEAA1FAEF281}"/>
              </a:ext>
            </a:extLst>
          </p:cNvPr>
          <p:cNvSpPr/>
          <p:nvPr/>
        </p:nvSpPr>
        <p:spPr>
          <a:xfrm>
            <a:off x="1574800" y="34290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생성과 평가의 </a:t>
            </a:r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Provider·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역할 분리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2EFA4B1C-07E9-4CFF-BB74-D167C13512D6}"/>
              </a:ext>
            </a:extLst>
          </p:cNvPr>
          <p:cNvSpPr/>
          <p:nvPr/>
        </p:nvSpPr>
        <p:spPr>
          <a:xfrm>
            <a:off x="6070600" y="3048000"/>
            <a:ext cx="609600" cy="6096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4B636A2-EED3-479B-A87B-4D5804727B89}"/>
              </a:ext>
            </a:extLst>
          </p:cNvPr>
          <p:cNvSpPr/>
          <p:nvPr/>
        </p:nvSpPr>
        <p:spPr>
          <a:xfrm>
            <a:off x="6908800" y="30226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실행 가능성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8864EC-570D-4CCB-9005-BA0ABB1276C1}"/>
              </a:ext>
            </a:extLst>
          </p:cNvPr>
          <p:cNvSpPr/>
          <p:nvPr/>
        </p:nvSpPr>
        <p:spPr>
          <a:xfrm>
            <a:off x="6908800" y="34290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타당성 </a:t>
            </a:r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Rubric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서버 재판정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4FC0565-944D-4928-91E0-8AB42F69E448}"/>
              </a:ext>
            </a:extLst>
          </p:cNvPr>
          <p:cNvSpPr/>
          <p:nvPr/>
        </p:nvSpPr>
        <p:spPr>
          <a:xfrm>
            <a:off x="736600" y="4470400"/>
            <a:ext cx="609600" cy="609600"/>
          </a:xfrm>
          <a:prstGeom prst="ellipse">
            <a:avLst/>
          </a:prstGeom>
          <a:solidFill>
            <a:srgbClr val="1769E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3181902-7496-4250-8B21-5CD161A81994}"/>
              </a:ext>
            </a:extLst>
          </p:cNvPr>
          <p:cNvSpPr/>
          <p:nvPr/>
        </p:nvSpPr>
        <p:spPr>
          <a:xfrm>
            <a:off x="1574800" y="44450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책임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B82B6D6-3CFB-44BF-96CA-1CFA6B2A2D51}"/>
              </a:ext>
            </a:extLst>
          </p:cNvPr>
          <p:cNvSpPr/>
          <p:nvPr/>
        </p:nvSpPr>
        <p:spPr>
          <a:xfrm>
            <a:off x="1574800" y="48514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QA·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업무 승인과 감사 이력</a:t>
            </a: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8B84D0C-E050-4C11-B823-CEEC657123C5}"/>
              </a:ext>
            </a:extLst>
          </p:cNvPr>
          <p:cNvSpPr/>
          <p:nvPr/>
        </p:nvSpPr>
        <p:spPr>
          <a:xfrm>
            <a:off x="6070600" y="4470400"/>
            <a:ext cx="609600" cy="609600"/>
          </a:xfrm>
          <a:prstGeom prst="ellipse">
            <a:avLst/>
          </a:prstGeom>
          <a:solidFill>
            <a:srgbClr val="2EC4A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100" b="1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661A737-1A9A-481E-80A0-C8953D54643B}"/>
              </a:ext>
            </a:extLst>
          </p:cNvPr>
          <p:cNvSpPr/>
          <p:nvPr/>
        </p:nvSpPr>
        <p:spPr>
          <a:xfrm>
            <a:off x="6908800" y="4445000"/>
            <a:ext cx="3810000" cy="3302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증적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6B3D192-E7E9-4E71-A5A9-0562556115D8}"/>
              </a:ext>
            </a:extLst>
          </p:cNvPr>
          <p:cNvSpPr/>
          <p:nvPr/>
        </p:nvSpPr>
        <p:spPr>
          <a:xfrm>
            <a:off x="6908800" y="4851400"/>
            <a:ext cx="3937000" cy="381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Run·Trace·AWS </a:t>
            </a:r>
            <a:r>
              <a:rPr lang="ko-KR" altLang="en-US" sz="1100">
                <a:solidFill>
                  <a:srgbClr val="BFD0E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원격 무결성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E0B89D2-C80D-4DA7-8B30-C028B93D8935}"/>
              </a:ext>
            </a:extLst>
          </p:cNvPr>
          <p:cNvSpPr/>
          <p:nvPr/>
        </p:nvSpPr>
        <p:spPr>
          <a:xfrm>
            <a:off x="736600" y="5791200"/>
            <a:ext cx="711200" cy="2794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altLang="ko-KR" sz="900" b="1">
                <a:solidFill>
                  <a:srgbClr val="8FC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NEXT</a:t>
            </a:r>
            <a:endParaRPr lang="ko-KR" altLang="en-US" sz="900" b="1">
              <a:solidFill>
                <a:srgbClr val="8FC1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21D52CC-CF76-468C-A6DA-D86D842B731C}"/>
              </a:ext>
            </a:extLst>
          </p:cNvPr>
          <p:cNvSpPr/>
          <p:nvPr/>
        </p:nvSpPr>
        <p:spPr>
          <a:xfrm>
            <a:off x="1600200" y="5765800"/>
            <a:ext cx="88900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 </a:t>
            </a:r>
            <a:r>
              <a:rPr lang="en-US" altLang="ko-KR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35</a:t>
            </a:r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건 최종 승인 </a:t>
            </a:r>
            <a:r>
              <a:rPr lang="en-US" altLang="ko-KR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관측 결함 해소 </a:t>
            </a:r>
            <a:r>
              <a:rPr lang="en-US" altLang="ko-KR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 </a:t>
            </a:r>
            <a:r>
              <a:rPr lang="ko-KR" altLang="en-US" sz="1200">
                <a:solidFill>
                  <a:srgbClr val="D7E6F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조직 계정 기반 역할 권한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4DE8899-6E27-43AA-917B-F4D36912120B}"/>
              </a:ext>
            </a:extLst>
          </p:cNvPr>
          <p:cNvSpPr/>
          <p:nvPr/>
        </p:nvSpPr>
        <p:spPr>
          <a:xfrm>
            <a:off x="10083800" y="6248400"/>
            <a:ext cx="1600200" cy="2286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r"/>
            <a:r>
              <a:rPr lang="en-US" altLang="ko-KR" sz="1000" b="1">
                <a:solidFill>
                  <a:srgbClr val="8FC1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THANK YOU</a:t>
            </a:r>
            <a:endParaRPr lang="ko-KR" altLang="en-US" sz="1000" b="1">
              <a:solidFill>
                <a:srgbClr val="8FC1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91336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942</Words>
  <Application>Microsoft Office PowerPoint</Application>
  <PresentationFormat>사용자 지정</PresentationFormat>
  <Paragraphs>247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DWIT</dc:creator>
  <cp:lastModifiedBy>DWIT</cp:lastModifiedBy>
  <cp:revision>1</cp:revision>
  <dcterms:created xsi:type="dcterms:W3CDTF">2026-08-04T05:17:04Z</dcterms:created>
  <dcterms:modified xsi:type="dcterms:W3CDTF">2026-08-04T05:17:04Z</dcterms:modified>
</cp:coreProperties>
</file>